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andards.ieee.org/ieee/802.1Q/10323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ver Background" descr="cover-background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572768"/>
            <a:ext cx="7360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42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VLAN基礎研修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834639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body"/>
              </a:ext>
            </a:extLst>
          </a:bodyPr>
          <a:lstStyle/>
          <a:p>
            <a:pPr algn="l">
              <a:lnSpc>
                <a:spcPct val="120000"/>
              </a:lnSpc>
            </a:pPr>
            <a:r>
              <a:rPr sz="17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物理的な配線と、論理的な通信範囲を分けて理解する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1536192"/>
            <a:ext cx="10972" cy="3054096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79408" y="1664208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1975104"/>
            <a:ext cx="2148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2026年8月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8" y="2752344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3063239"/>
            <a:ext cx="2148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7:textLayout xmlns:ns27="urn:pptxdsl:text-layout:v1" role="natural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IT基盤部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840479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2:textLayout xmlns:ns3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151375"/>
            <a:ext cx="2148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ネットワーク研修担当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学習目標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研修の目的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一般的な企業LANの静的なAccess・Trunk構成を対象に、構成図からVLAN境界と通信経路を説明できる状態を目指します。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133735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084324"/>
            <a:ext cx="8823960" cy="344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VLANとブロードキャストドメインを、自分の言葉で説明できる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" y="2715776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666365"/>
            <a:ext cx="8823960" cy="344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同じVLANと異なるVLANで、フレームの届き方がどう変わるか説明できる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" y="3297817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248406"/>
            <a:ext cx="8823960" cy="344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IEEE 802.1Qの役割と、タグ付き・タグなし、Access・Trunkの関係を説明できる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" y="3879858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830447"/>
            <a:ext cx="8823960" cy="615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製品初期VLAN、ネイティブVLAN、VLAN 0、デフォルトゲートウェイを区別できる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" y="4733044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683633"/>
            <a:ext cx="8823960" cy="344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MACアドレス表とルーティングテーブルの役割を区別できる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5315085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5265674"/>
            <a:ext cx="8823960" cy="615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SVI・RP・ルーターサブインターフェースの役割を、Cisco設定とshow出力から確認できる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52:textLayout xmlns:ns5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前提知識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通信単位と識別子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0979"/>
          <a:ext cx="11185855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2499"/>
                <a:gridCol w="8233356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950976"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Ethernetフレーム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Ethernetで送受信するデータ単位。送信元・宛先MACアドレス、上位プロトコルの識別値、データなどで構成する。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950976"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MACアドレス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Ethernetフレームの送信元・宛先を示す識別子。通常はネットワークインターフェースに割り当てる48ビットの値。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950976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IPパケット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IPで送受信するデータ単位。送信元・宛先IPアドレスなどを持ち、異なるIPネットワーク間でも転送できる。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2:textLayout xmlns:ns5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前提知識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通信範囲と転送階層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4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2537"/>
                <a:gridCol w="7763317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IPサブネット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同じネットワークプレフィックスを共有するIPアドレスの範囲。端末はサブネットマスクまたはプレフィックス長で判定する。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ARP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IPv4アドレスに対応する、同一リンク上のMACアドレスを解決するプロトコル。ARP要求はブロードキャストで送信する。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L2（データリンク層）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同一リンク内でフレームを転送する階層。EthernetではMACアドレスを転送判断に使用する。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L3（ネットワーク層）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異なるIPネットワーク間でパケットを転送する階層。IPアドレスとルーティング情報を転送判断に使用する。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Voice VLAN、Private VLAN、Q-in-Q、VLAN自動配布などは発展事項として本研修の対象外。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72:textLayout xmlns:ns7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前提となる言葉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ブロードキャストドメイン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VLANによる分割を理解するため、最初にL2でブロードキャストが届く範囲を確認します。</a:t>
            </a:r>
          </a:p>
        </p:txBody>
      </p:sp>
      <p:pic>
        <p:nvPicPr>
          <p:cNvPr id="6" name="Picture 5" descr="eth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03196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" y="2148332"/>
            <a:ext cx="41239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2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ブロードキャストドメイン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3026156"/>
            <a:ext cx="4892040" cy="2410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ブロードキャストフレームが届くL2の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範囲です。同じ範囲にいる端末は、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ARPなどの一斉送信を受け取ります。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7296" y="2148332"/>
            <a:ext cx="9144" cy="328828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2175764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1:textLayout xmlns:ns31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ブロードキャスト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454656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6:textLayout xmlns:ns36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同じ通信範囲にいる全端末へ届けるフレームです。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3226138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3271858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1:textLayout xmlns:ns41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L2スイッチの動作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550750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6:textLayout xmlns:ns46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受信したブロードキャストを、同じLANに属する他の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ポートへ複製します。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4322233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4367953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3:textLayout xmlns:ns53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境界が必要な理由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4646845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8:textLayout xmlns:ns58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範囲が大きいほど不要な一斉送信が増え、用途や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管理単位も分けにくくなります。</a:t>
            </a:r>
          </a:p>
        </p:txBody>
      </p:sp>
      <p:sp>
        <p:nvSpPr>
          <p:cNvPr id="18" name="slide-footnote:rule"/>
          <p:cNvSpPr/>
          <p:nvPr/>
        </p:nvSpPr>
        <p:spPr>
          <a:xfrm>
            <a:off x="502920" y="5637784"/>
            <a:ext cx="11185855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-footnote:label"/>
          <p:cNvSpPr txBox="1"/>
          <p:nvPr/>
        </p:nvSpPr>
        <p:spPr>
          <a:xfrm>
            <a:off x="502920" y="5747512"/>
            <a:ext cx="1271016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5:textLayout xmlns:ns65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1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誤解しやすい点</a:t>
            </a:r>
          </a:p>
        </p:txBody>
      </p:sp>
      <p:sp>
        <p:nvSpPr>
          <p:cNvPr id="20" name="slide-footnote:text"/>
          <p:cNvSpPr txBox="1"/>
          <p:nvPr/>
        </p:nvSpPr>
        <p:spPr>
          <a:xfrm>
            <a:off x="1920240" y="5747512"/>
            <a:ext cx="9768535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0:textLayout xmlns:ns70="urn:pptxdsl:text-layout:v1" role="body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ブロードキャストは同じ通信範囲の全端末へ、ユニキャストは特定の宛先へ転送されます。ここでは一斉送信の範囲に</a:t>
            </a:r>
          </a:p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注目します。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77:textLayout xmlns:ns7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82:textLayout xmlns:ns8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分割していないLAN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フラットLAN内のARP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 AはPC BのMACアドレスを知るため、ARP要求をブロードキャストで送ります。L2スイッチは受信ポート以外へ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複製し、PC Bだけが自分宛てと判断します。応答はユニキャストのため省略しています。</a:t>
            </a:r>
          </a:p>
        </p:txBody>
      </p:sp>
      <p:sp>
        <p:nvSpPr>
          <p:cNvPr id="6" name="layout-background:network-lane:flat"/>
          <p:cNvSpPr/>
          <p:nvPr/>
        </p:nvSpPr>
        <p:spPr>
          <a:xfrm>
            <a:off x="502920" y="2706095"/>
            <a:ext cx="11185855" cy="148132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852399"/>
            <a:ext cx="16459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9:textLayout xmlns:ns1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同一LAN</a:t>
            </a:r>
          </a:p>
        </p:txBody>
      </p:sp>
      <p:sp>
        <p:nvSpPr>
          <p:cNvPr id="8" name="network-lane:sub:flat"/>
          <p:cNvSpPr txBox="1"/>
          <p:nvPr/>
        </p:nvSpPr>
        <p:spPr>
          <a:xfrm>
            <a:off x="649224" y="3154151"/>
            <a:ext cx="1645920" cy="9601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4:textLayout xmlns:ns2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1つのブロードキャストドメイン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2404343"/>
            <a:ext cx="22889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9:textLayout xmlns:ns2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送信元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5555" y="2404343"/>
            <a:ext cx="22889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4:textLayout xmlns:ns3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527" y="2404343"/>
            <a:ext cx="22889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9:textLayout xmlns:ns3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499" y="2404343"/>
            <a:ext cx="22889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4:textLayout xmlns:ns4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同じLAN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167513" y="3002361"/>
            <a:ext cx="0" cy="444398"/>
          </a:xfrm>
          <a:prstGeom prst="line">
            <a:avLst/>
          </a:prstGeom>
          <a:ln w="2794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67513" y="3002361"/>
            <a:ext cx="3883000" cy="0"/>
          </a:xfrm>
          <a:prstGeom prst="line">
            <a:avLst/>
          </a:prstGeom>
          <a:ln w="2794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61541" y="3002361"/>
            <a:ext cx="0" cy="444398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0513" y="3002361"/>
            <a:ext cx="0" cy="444398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95235" y="2778396"/>
            <a:ext cx="1027557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1:textLayout xmlns:ns51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② 他ポートへ複製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78541" y="3446759"/>
            <a:ext cx="1594028" cy="0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36656" y="3222795"/>
            <a:ext cx="677799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7:textLayout xmlns:ns57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ARP要求</a:t>
            </a:r>
          </a:p>
        </p:txBody>
      </p:sp>
      <p:sp>
        <p:nvSpPr>
          <p:cNvPr id="20" name="Oval 19"/>
          <p:cNvSpPr/>
          <p:nvPr/>
        </p:nvSpPr>
        <p:spPr>
          <a:xfrm>
            <a:off x="3192741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05" y="3163295"/>
            <a:ext cx="566928" cy="566928"/>
          </a:xfrm>
          <a:prstGeom prst="rect">
            <a:avLst/>
          </a:prstGeom>
        </p:spPr>
      </p:pic>
      <p:sp>
        <p:nvSpPr>
          <p:cNvPr id="22" name="network-node:label"/>
          <p:cNvSpPr txBox="1"/>
          <p:nvPr/>
        </p:nvSpPr>
        <p:spPr>
          <a:xfrm>
            <a:off x="3319614" y="3803375"/>
            <a:ext cx="422910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62:textLayout xmlns:ns62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PC A</a:t>
            </a:r>
          </a:p>
        </p:txBody>
      </p:sp>
      <p:sp>
        <p:nvSpPr>
          <p:cNvPr id="23" name="network-node:sub"/>
          <p:cNvSpPr txBox="1"/>
          <p:nvPr/>
        </p:nvSpPr>
        <p:spPr>
          <a:xfrm>
            <a:off x="2784690" y="3970825"/>
            <a:ext cx="1492758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67:textLayout xmlns:ns6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 BのMACを問い合わせ</a:t>
            </a:r>
          </a:p>
        </p:txBody>
      </p:sp>
      <p:sp>
        <p:nvSpPr>
          <p:cNvPr id="24" name="Oval 23"/>
          <p:cNvSpPr/>
          <p:nvPr/>
        </p:nvSpPr>
        <p:spPr>
          <a:xfrm>
            <a:off x="5481713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577" y="3163295"/>
            <a:ext cx="566928" cy="566928"/>
          </a:xfrm>
          <a:prstGeom prst="rect">
            <a:avLst/>
          </a:prstGeom>
        </p:spPr>
      </p:pic>
      <p:sp>
        <p:nvSpPr>
          <p:cNvPr id="26" name="network-node:label"/>
          <p:cNvSpPr txBox="1"/>
          <p:nvPr/>
        </p:nvSpPr>
        <p:spPr>
          <a:xfrm>
            <a:off x="5407990" y="3803375"/>
            <a:ext cx="824103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2:textLayout xmlns:ns72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27" name="network-node:sub"/>
          <p:cNvSpPr txBox="1"/>
          <p:nvPr/>
        </p:nvSpPr>
        <p:spPr>
          <a:xfrm>
            <a:off x="5166245" y="3970825"/>
            <a:ext cx="1307592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7:textLayout xmlns:ns7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受信ポート以外へ複製</a:t>
            </a:r>
          </a:p>
        </p:txBody>
      </p:sp>
      <p:sp>
        <p:nvSpPr>
          <p:cNvPr id="28" name="Oval 27"/>
          <p:cNvSpPr/>
          <p:nvPr/>
        </p:nvSpPr>
        <p:spPr>
          <a:xfrm>
            <a:off x="7770685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549" y="3163295"/>
            <a:ext cx="566928" cy="566928"/>
          </a:xfrm>
          <a:prstGeom prst="rect">
            <a:avLst/>
          </a:prstGeom>
        </p:spPr>
      </p:pic>
      <p:sp>
        <p:nvSpPr>
          <p:cNvPr id="30" name="network-node:label"/>
          <p:cNvSpPr txBox="1"/>
          <p:nvPr/>
        </p:nvSpPr>
        <p:spPr>
          <a:xfrm>
            <a:off x="7897558" y="3803375"/>
            <a:ext cx="422910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82:textLayout xmlns:ns82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PC B</a:t>
            </a:r>
          </a:p>
        </p:txBody>
      </p:sp>
      <p:sp>
        <p:nvSpPr>
          <p:cNvPr id="31" name="network-node:sub"/>
          <p:cNvSpPr txBox="1"/>
          <p:nvPr/>
        </p:nvSpPr>
        <p:spPr>
          <a:xfrm>
            <a:off x="7640383" y="3970825"/>
            <a:ext cx="937260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87:textLayout xmlns:ns8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自分宛てと判断</a:t>
            </a:r>
          </a:p>
        </p:txBody>
      </p:sp>
      <p:sp>
        <p:nvSpPr>
          <p:cNvPr id="32" name="Oval 31"/>
          <p:cNvSpPr/>
          <p:nvPr/>
        </p:nvSpPr>
        <p:spPr>
          <a:xfrm>
            <a:off x="10059657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ri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4521" y="3163295"/>
            <a:ext cx="566928" cy="566928"/>
          </a:xfrm>
          <a:prstGeom prst="rect">
            <a:avLst/>
          </a:prstGeom>
        </p:spPr>
      </p:pic>
      <p:sp>
        <p:nvSpPr>
          <p:cNvPr id="34" name="network-node:label"/>
          <p:cNvSpPr txBox="1"/>
          <p:nvPr/>
        </p:nvSpPr>
        <p:spPr>
          <a:xfrm>
            <a:off x="10073373" y="3803375"/>
            <a:ext cx="649224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2:textLayout xmlns:ns92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プリンタ</a:t>
            </a:r>
          </a:p>
        </p:txBody>
      </p:sp>
      <p:sp>
        <p:nvSpPr>
          <p:cNvPr id="35" name="network-node:sub"/>
          <p:cNvSpPr txBox="1"/>
          <p:nvPr/>
        </p:nvSpPr>
        <p:spPr>
          <a:xfrm>
            <a:off x="9682467" y="3970825"/>
            <a:ext cx="1431036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7:textLayout xmlns:ns9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自分宛てでないため破棄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6072" y="6126479"/>
            <a:ext cx="256032" cy="0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network-legend:broadcast"/>
          <p:cNvSpPr txBox="1"/>
          <p:nvPr/>
        </p:nvSpPr>
        <p:spPr>
          <a:xfrm>
            <a:off x="905256" y="6044183"/>
            <a:ext cx="1216152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03:textLayout xmlns:ns103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ブロードキャスト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8:textLayout xmlns:ns108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13:textLayout xmlns:ns113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言葉の定義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VLANとは</a:t>
            </a:r>
          </a:p>
        </p:txBody>
      </p:sp>
      <p:pic>
        <p:nvPicPr>
          <p:cNvPr id="5" name="Picture 4" descr="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10512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7592" y="1755648"/>
            <a:ext cx="41239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33472"/>
            <a:ext cx="4892040" cy="2803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VLANはVirtual LANの略で、スイッチ上の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通信範囲を論理的に分けます。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VLANごとにブロードキャストドメインが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分かれます。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7296" y="1755648"/>
            <a:ext cx="9144" cy="3680968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783080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8:textLayout xmlns:ns28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物理構成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061972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3:textLayout xmlns:ns33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同じスイッチや同じ配線を共有したまま、通信範囲を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分けられます。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964349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3010069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0:textLayout xmlns:ns40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識別方法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288961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5:textLayout xmlns:ns45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各論理LANをVLAN IDで識別します。例: VLAN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10、VLAN20。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4191338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4237058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起きる変化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515950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ブロードキャストは同じVLAN内だけに届き、別の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VLANには広がりません。</a:t>
            </a:r>
          </a:p>
        </p:txBody>
      </p:sp>
      <p:sp>
        <p:nvSpPr>
          <p:cNvPr id="17" name="slide-footnote:rule"/>
          <p:cNvSpPr/>
          <p:nvPr/>
        </p:nvSpPr>
        <p:spPr>
          <a:xfrm>
            <a:off x="502920" y="5637784"/>
            <a:ext cx="11185855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-footnote:label"/>
          <p:cNvSpPr txBox="1"/>
          <p:nvPr/>
        </p:nvSpPr>
        <p:spPr>
          <a:xfrm>
            <a:off x="502920" y="5747512"/>
            <a:ext cx="1271016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4:textLayout xmlns:ns64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1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誤解しやすい点</a:t>
            </a:r>
          </a:p>
        </p:txBody>
      </p:sp>
      <p:sp>
        <p:nvSpPr>
          <p:cNvPr id="19" name="slide-footnote:text"/>
          <p:cNvSpPr txBox="1"/>
          <p:nvPr/>
        </p:nvSpPr>
        <p:spPr>
          <a:xfrm>
            <a:off x="1920240" y="5747512"/>
            <a:ext cx="9768535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9:textLayout xmlns:ns69="urn:pptxdsl:text-layout:v1" role="body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VLANはL2の通信範囲を論理的に分割します。暗号化、通信制御、IPアドレス設計は、それぞれ別の機能として組み</a:t>
            </a:r>
          </a:p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合わせます。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76:textLayout xmlns:ns76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81:textLayout xmlns:ns81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論理分割の効果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VLAN内のブロードキャスト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営業PC AのARP要求を追います。同じ物理スイッチ上でも、ブロードキャストはVLAN 10内だけへ複製され、VLAN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20の端末には届きません。</a:t>
            </a:r>
          </a:p>
        </p:txBody>
      </p:sp>
      <p:sp>
        <p:nvSpPr>
          <p:cNvPr id="6" name="layout-background:network-lane:v10"/>
          <p:cNvSpPr/>
          <p:nvPr/>
        </p:nvSpPr>
        <p:spPr>
          <a:xfrm>
            <a:off x="502920" y="2561254"/>
            <a:ext cx="11185855" cy="129844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707558"/>
            <a:ext cx="10972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9:textLayout xmlns:ns1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8" name="network-lane:sub:v10"/>
          <p:cNvSpPr txBox="1"/>
          <p:nvPr/>
        </p:nvSpPr>
        <p:spPr>
          <a:xfrm>
            <a:off x="649224" y="3009310"/>
            <a:ext cx="1097280" cy="7772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4:textLayout xmlns:ns2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営業</a:t>
            </a:r>
          </a:p>
        </p:txBody>
      </p:sp>
      <p:sp>
        <p:nvSpPr>
          <p:cNvPr id="9" name="layout-background:network-lane:v20"/>
          <p:cNvSpPr/>
          <p:nvPr/>
        </p:nvSpPr>
        <p:spPr>
          <a:xfrm>
            <a:off x="502920" y="3951142"/>
            <a:ext cx="11185855" cy="1298448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097446"/>
            <a:ext cx="10972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29:textLayout xmlns:ns2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11" name="network-lane:sub:v20"/>
          <p:cNvSpPr txBox="1"/>
          <p:nvPr/>
        </p:nvSpPr>
        <p:spPr>
          <a:xfrm>
            <a:off x="649224" y="4399198"/>
            <a:ext cx="1097280" cy="7772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4:textLayout xmlns:ns3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3" y="2259502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9:textLayout xmlns:ns3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送信側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2786" y="2259502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4:textLayout xmlns:ns4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同じ物理スイッチ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628" y="2259502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9:textLayout xmlns:ns4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受信側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90207" y="3210478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90207" y="4243750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49059" y="3169330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9059" y="4559218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775405" y="3210478"/>
            <a:ext cx="2914802" cy="0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1014" y="2986514"/>
            <a:ext cx="1243584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5:textLayout xmlns:ns55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VLAN 10のARP要求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90207" y="3210478"/>
            <a:ext cx="2914803" cy="0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90207" y="3210478"/>
            <a:ext cx="1457401" cy="0"/>
          </a:xfrm>
          <a:prstGeom prst="line">
            <a:avLst/>
          </a:prstGeom>
          <a:ln w="22860">
            <a:prstDash val="dash"/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47608" y="3210478"/>
            <a:ext cx="0" cy="621792"/>
          </a:xfrm>
          <a:prstGeom prst="line">
            <a:avLst/>
          </a:prstGeom>
          <a:ln w="22860">
            <a:prstDash val="dash"/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73872" y="3749974"/>
            <a:ext cx="3474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3:textLayout xmlns:ns63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80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5" name="Oval 24"/>
          <p:cNvSpPr/>
          <p:nvPr/>
        </p:nvSpPr>
        <p:spPr>
          <a:xfrm>
            <a:off x="3144469" y="2899582"/>
            <a:ext cx="621792" cy="621792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333" y="2954446"/>
            <a:ext cx="512064" cy="512064"/>
          </a:xfrm>
          <a:prstGeom prst="rect">
            <a:avLst/>
          </a:prstGeom>
        </p:spPr>
      </p:pic>
      <p:sp>
        <p:nvSpPr>
          <p:cNvPr id="27" name="network-node:label"/>
          <p:cNvSpPr txBox="1"/>
          <p:nvPr/>
        </p:nvSpPr>
        <p:spPr>
          <a:xfrm>
            <a:off x="3099892" y="3539662"/>
            <a:ext cx="710946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68:textLayout xmlns:ns68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A</a:t>
            </a:r>
          </a:p>
        </p:txBody>
      </p:sp>
      <p:sp>
        <p:nvSpPr>
          <p:cNvPr id="28" name="network-node:sub"/>
          <p:cNvSpPr txBox="1"/>
          <p:nvPr/>
        </p:nvSpPr>
        <p:spPr>
          <a:xfrm>
            <a:off x="2858147" y="3707112"/>
            <a:ext cx="1194435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3:textLayout xmlns:ns7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10でARP要求</a:t>
            </a:r>
          </a:p>
        </p:txBody>
      </p:sp>
      <p:sp>
        <p:nvSpPr>
          <p:cNvPr id="29" name="Oval 28"/>
          <p:cNvSpPr/>
          <p:nvPr/>
        </p:nvSpPr>
        <p:spPr>
          <a:xfrm>
            <a:off x="3144469" y="4289470"/>
            <a:ext cx="621792" cy="621792"/>
          </a:xfrm>
          <a:prstGeom prst="ellipse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333" y="4344334"/>
            <a:ext cx="512064" cy="512064"/>
          </a:xfrm>
          <a:prstGeom prst="rect">
            <a:avLst/>
          </a:prstGeom>
        </p:spPr>
      </p:pic>
      <p:sp>
        <p:nvSpPr>
          <p:cNvPr id="31" name="network-node:label"/>
          <p:cNvSpPr txBox="1"/>
          <p:nvPr/>
        </p:nvSpPr>
        <p:spPr>
          <a:xfrm>
            <a:off x="3099892" y="4929550"/>
            <a:ext cx="710946" cy="158305"/>
          </a:xfrm>
          <a:prstGeom prst="rect">
            <a:avLst/>
          </a:prstGeom>
          <a:solidFill>
            <a:srgbClr val="E4E9EE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8:textLayout xmlns:ns78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 A</a:t>
            </a:r>
          </a:p>
        </p:txBody>
      </p:sp>
      <p:sp>
        <p:nvSpPr>
          <p:cNvPr id="32" name="Oval 31"/>
          <p:cNvSpPr/>
          <p:nvPr/>
        </p:nvSpPr>
        <p:spPr>
          <a:xfrm>
            <a:off x="6379311" y="3594526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175" y="3649390"/>
            <a:ext cx="512064" cy="512064"/>
          </a:xfrm>
          <a:prstGeom prst="rect">
            <a:avLst/>
          </a:prstGeom>
        </p:spPr>
      </p:pic>
      <p:sp>
        <p:nvSpPr>
          <p:cNvPr id="34" name="network-node:label"/>
          <p:cNvSpPr txBox="1"/>
          <p:nvPr/>
        </p:nvSpPr>
        <p:spPr>
          <a:xfrm>
            <a:off x="6278156" y="4234606"/>
            <a:ext cx="824103" cy="158305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83:textLayout xmlns:ns83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35" name="network-node:sub"/>
          <p:cNvSpPr txBox="1"/>
          <p:nvPr/>
        </p:nvSpPr>
        <p:spPr>
          <a:xfrm>
            <a:off x="6180429" y="4402056"/>
            <a:ext cx="1019556" cy="12344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88:textLayout xmlns:ns8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VLAN単位で分離</a:t>
            </a:r>
          </a:p>
        </p:txBody>
      </p:sp>
      <p:sp>
        <p:nvSpPr>
          <p:cNvPr id="36" name="Oval 35"/>
          <p:cNvSpPr/>
          <p:nvPr/>
        </p:nvSpPr>
        <p:spPr>
          <a:xfrm>
            <a:off x="9614154" y="2899582"/>
            <a:ext cx="621792" cy="621792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018" y="2954446"/>
            <a:ext cx="512064" cy="512064"/>
          </a:xfrm>
          <a:prstGeom prst="rect">
            <a:avLst/>
          </a:prstGeom>
        </p:spPr>
      </p:pic>
      <p:sp>
        <p:nvSpPr>
          <p:cNvPr id="38" name="network-node:label"/>
          <p:cNvSpPr txBox="1"/>
          <p:nvPr/>
        </p:nvSpPr>
        <p:spPr>
          <a:xfrm>
            <a:off x="9569577" y="3539662"/>
            <a:ext cx="710946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3:textLayout xmlns:ns93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B</a:t>
            </a:r>
          </a:p>
        </p:txBody>
      </p:sp>
      <p:sp>
        <p:nvSpPr>
          <p:cNvPr id="39" name="network-node:sub"/>
          <p:cNvSpPr txBox="1"/>
          <p:nvPr/>
        </p:nvSpPr>
        <p:spPr>
          <a:xfrm>
            <a:off x="9291828" y="3707112"/>
            <a:ext cx="1266444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8:textLayout xmlns:ns9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同じVLANなので受信</a:t>
            </a:r>
          </a:p>
        </p:txBody>
      </p:sp>
      <p:sp>
        <p:nvSpPr>
          <p:cNvPr id="40" name="Oval 39"/>
          <p:cNvSpPr/>
          <p:nvPr/>
        </p:nvSpPr>
        <p:spPr>
          <a:xfrm>
            <a:off x="9614154" y="4289470"/>
            <a:ext cx="621792" cy="621792"/>
          </a:xfrm>
          <a:prstGeom prst="ellipse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018" y="4344334"/>
            <a:ext cx="512064" cy="512064"/>
          </a:xfrm>
          <a:prstGeom prst="rect">
            <a:avLst/>
          </a:prstGeom>
        </p:spPr>
      </p:pic>
      <p:sp>
        <p:nvSpPr>
          <p:cNvPr id="42" name="network-node:label"/>
          <p:cNvSpPr txBox="1"/>
          <p:nvPr/>
        </p:nvSpPr>
        <p:spPr>
          <a:xfrm>
            <a:off x="9569577" y="4929550"/>
            <a:ext cx="710946" cy="158305"/>
          </a:xfrm>
          <a:prstGeom prst="rect">
            <a:avLst/>
          </a:prstGeom>
          <a:solidFill>
            <a:srgbClr val="E4E9EE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03:textLayout xmlns:ns103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 B</a:t>
            </a:r>
          </a:p>
        </p:txBody>
      </p:sp>
      <p:sp>
        <p:nvSpPr>
          <p:cNvPr id="43" name="network-node:sub"/>
          <p:cNvSpPr txBox="1"/>
          <p:nvPr/>
        </p:nvSpPr>
        <p:spPr>
          <a:xfrm>
            <a:off x="9168384" y="5097000"/>
            <a:ext cx="1513332" cy="123444"/>
          </a:xfrm>
          <a:prstGeom prst="rect">
            <a:avLst/>
          </a:prstGeom>
          <a:solidFill>
            <a:srgbClr val="E4E9EE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08:textLayout xmlns:ns10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別VLANなので受信しない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6072" y="6126479"/>
            <a:ext cx="256032" cy="0"/>
          </a:xfrm>
          <a:prstGeom prst="line">
            <a:avLst/>
          </a:prstGeom>
          <a:ln w="27940">
            <a:solidFill>
              <a:srgbClr val="C758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network-legend:broadcast"/>
          <p:cNvSpPr txBox="1"/>
          <p:nvPr/>
        </p:nvSpPr>
        <p:spPr>
          <a:xfrm>
            <a:off x="905256" y="6044183"/>
            <a:ext cx="1216152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14:textLayout xmlns:ns11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ブロードキャスト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340864" y="6126479"/>
            <a:ext cx="256032" cy="0"/>
          </a:xfrm>
          <a:prstGeom prst="line">
            <a:avLst/>
          </a:prstGeom>
          <a:ln w="19050">
            <a:prstDash val="dash"/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network-legend:blocked"/>
          <p:cNvSpPr txBox="1"/>
          <p:nvPr/>
        </p:nvSpPr>
        <p:spPr>
          <a:xfrm>
            <a:off x="2670048" y="6044183"/>
            <a:ext cx="814959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20:textLayout xmlns:ns120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境界で停止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5:textLayout xmlns:ns125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30:textLayout xmlns:ns130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通信できる範囲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デフォルトゲートウェイ</a:t>
            </a:r>
          </a:p>
        </p:txBody>
      </p:sp>
      <p:pic>
        <p:nvPicPr>
          <p:cNvPr id="5" name="Picture 4" descr="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10512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7592" y="1755648"/>
            <a:ext cx="41239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デフォルトゲートウェイ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33472"/>
            <a:ext cx="4892040" cy="2803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端末が異なるIPサブネットへ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通信するとき、最初にIPパケットを渡す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L3機器のIPアドレスです。VLANごとに、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到達可能なゲートウェイを設定します。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7296" y="1755648"/>
            <a:ext cx="9144" cy="3680968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783080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8:textLayout xmlns:ns28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同じIPサブネット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061972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3:textLayout xmlns:ns33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端末は宛先端末のMACアドレスを調べ、宛先へ直接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フレームを送ります。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964349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3010069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0:textLayout xmlns:ns40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異なるIPサブネット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288961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5:textLayout xmlns:ns45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端末はゲートウェイのMACアドレスを調べ、IPパケットを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L3機器へ渡します。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4191338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4237058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VLAN境界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515950"/>
            <a:ext cx="5544007" cy="847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L2スイッチだけでは越えられないため、ルータまたはL3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スイッチが中継します。</a:t>
            </a:r>
          </a:p>
        </p:txBody>
      </p:sp>
      <p:sp>
        <p:nvSpPr>
          <p:cNvPr id="17" name="slide-footnote:rule"/>
          <p:cNvSpPr/>
          <p:nvPr/>
        </p:nvSpPr>
        <p:spPr>
          <a:xfrm>
            <a:off x="502920" y="5637784"/>
            <a:ext cx="11185855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-footnote:label"/>
          <p:cNvSpPr txBox="1"/>
          <p:nvPr/>
        </p:nvSpPr>
        <p:spPr>
          <a:xfrm>
            <a:off x="502920" y="5747512"/>
            <a:ext cx="1271016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4:textLayout xmlns:ns64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1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誤解しやすい点</a:t>
            </a:r>
          </a:p>
        </p:txBody>
      </p:sp>
      <p:sp>
        <p:nvSpPr>
          <p:cNvPr id="19" name="slide-footnote:text"/>
          <p:cNvSpPr txBox="1"/>
          <p:nvPr/>
        </p:nvSpPr>
        <p:spPr>
          <a:xfrm>
            <a:off x="1920240" y="5747512"/>
            <a:ext cx="9768535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9:textLayout xmlns:ns69="urn:pptxdsl:text-layout:v1" role="body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デフォルトゲートウェイはL3の次ホップです。初期VLANはポートの初期所属、ネイティブVLANはTrunk上のタグなし</a:t>
            </a:r>
          </a:p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転送を扱います。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76:textLayout xmlns:ns76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81:textLayout xmlns:ns81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VLAN識別の標準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IEEE 802.1Q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複数のVLANを同じEthernetリンクで運ぶために、フレームの所属VLANを識別する仕組みを確認します。</a:t>
            </a:r>
          </a:p>
        </p:txBody>
      </p:sp>
      <p:pic>
        <p:nvPicPr>
          <p:cNvPr id="6" name="Picture 5" descr="eth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03196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" y="2148332"/>
            <a:ext cx="41239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IEEE 802.1Q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3026156"/>
            <a:ext cx="4892040" cy="2410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MACブリッジとVLANブリッジを含む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ブリッジネットワークの動作、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プロトコル、管理などを定めるIEEE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規格です。VLANを識別する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仕組みとして、Ethernetフレームへ4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バイトのVLANタグを挿入します。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7296" y="2148332"/>
            <a:ext cx="9144" cy="328828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2175764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VLANタグ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454656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送信元MACアドレスの後ろへ4バイトを挿入し、優先度や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IDなどを格納します。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3226138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3271858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9:textLayout xmlns:ns49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550750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4:textLayout xmlns:ns54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タグ内の12ビットの値で、フレームが属するVLANを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識別します。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4322233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4367953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1:textLayout xmlns:ns61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使われる区間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4646845"/>
            <a:ext cx="5544007" cy="716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6:textLayout xmlns:ns66="urn:pptxdsl:text-layout:v1" role="body"/>
              </a:ext>
            </a:extLst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複数VLANを運ぶスイッチ間リンクなどでタグを使い、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端末接続区間では通常タグを外して送受信します。</a:t>
            </a:r>
          </a:p>
        </p:txBody>
      </p:sp>
      <p:sp>
        <p:nvSpPr>
          <p:cNvPr id="18" name="slide-footnote:rule"/>
          <p:cNvSpPr/>
          <p:nvPr/>
        </p:nvSpPr>
        <p:spPr>
          <a:xfrm>
            <a:off x="502920" y="5637784"/>
            <a:ext cx="11185855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-footnote:label"/>
          <p:cNvSpPr txBox="1"/>
          <p:nvPr/>
        </p:nvSpPr>
        <p:spPr>
          <a:xfrm>
            <a:off x="502920" y="5747512"/>
            <a:ext cx="1271016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3:textLayout xmlns:ns73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1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誤解しやすい点</a:t>
            </a:r>
          </a:p>
        </p:txBody>
      </p:sp>
      <p:sp>
        <p:nvSpPr>
          <p:cNvPr id="20" name="slide-footnote:text"/>
          <p:cNvSpPr txBox="1"/>
          <p:nvPr/>
        </p:nvSpPr>
        <p:spPr>
          <a:xfrm>
            <a:off x="1920240" y="5747512"/>
            <a:ext cx="9768535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8:textLayout xmlns:ns78="urn:pptxdsl:text-layout:v1" role="body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802.1QはブリッジネットワークとVLAN識別の標準です。Access、Trunk、ネイティブVLANは製品設定で使われる</a:t>
            </a:r>
          </a:p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名称です。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5:textLayout xmlns:ns85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0:textLayout xmlns:ns90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フレーム形式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802.1Qタグの構造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同じデータ長なら802.1Qタグ付きフレームは4 byte長くなる（FCSを含め1518 byteから1522 byte）。</a:t>
            </a:r>
          </a:p>
        </p:txBody>
      </p:sp>
      <p:sp>
        <p:nvSpPr>
          <p:cNvPr id="6" name="protocol-anatomy:scale-note"/>
          <p:cNvSpPr txBox="1"/>
          <p:nvPr/>
        </p:nvSpPr>
        <p:spPr>
          <a:xfrm>
            <a:off x="502920" y="1855724"/>
            <a:ext cx="1118585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7:textLayout xmlns:ns1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幅はbit数に比例しない概念図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294636"/>
            <a:ext cx="9784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2:textLayout xmlns:ns2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11756"/>
            <a:ext cx="10558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221484"/>
            <a:ext cx="9643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7:textLayout xmlns:ns2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宛先MAC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724404"/>
            <a:ext cx="9826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48 bit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1748" y="2111756"/>
            <a:ext cx="10558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7468" y="2221484"/>
            <a:ext cx="9643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7:textLayout xmlns:ns3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送信元MAC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8324" y="2724404"/>
            <a:ext cx="9826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48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7577" y="2111756"/>
            <a:ext cx="7955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297" y="2221484"/>
            <a:ext cx="7040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上位種別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153" y="2724404"/>
            <a:ext cx="7223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105" y="2111756"/>
            <a:ext cx="2923456" cy="841248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8825" y="2221484"/>
            <a:ext cx="283201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7:textLayout xmlns:ns5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9681" y="2724404"/>
            <a:ext cx="2850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可変長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6561" y="2111756"/>
            <a:ext cx="862080" cy="841248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2281" y="2221484"/>
            <a:ext cx="770640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7:textLayout xmlns:ns6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誤り検査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3137" y="2724404"/>
            <a:ext cx="788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2:textLayout xmlns:ns7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32 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1794" y="2413508"/>
            <a:ext cx="6217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77:textLayout xmlns:ns7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基準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3391916"/>
            <a:ext cx="9784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2:textLayout xmlns:ns8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802.1Q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209036"/>
            <a:ext cx="10558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3318764"/>
            <a:ext cx="9643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7:textLayout xmlns:ns8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宛先MAC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6" y="3821684"/>
            <a:ext cx="9826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2:textLayout xmlns:ns9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48 bit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01748" y="3209036"/>
            <a:ext cx="10558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7468" y="3318764"/>
            <a:ext cx="9643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7:textLayout xmlns:ns9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送信元MAC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8324" y="3821684"/>
            <a:ext cx="9826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2:textLayout xmlns:ns10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48 bit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7577" y="3209036"/>
            <a:ext cx="795528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03297" y="3318764"/>
            <a:ext cx="7040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7:textLayout xmlns:ns10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TPID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153" y="3821684"/>
            <a:ext cx="7223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12:textLayout xmlns:ns11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3105" y="3209036"/>
            <a:ext cx="528066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8825" y="3318764"/>
            <a:ext cx="43662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17:textLayout xmlns:ns11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PCP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9681" y="3821684"/>
            <a:ext cx="45491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2:textLayout xmlns:ns12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 bit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1171" y="3209036"/>
            <a:ext cx="476631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6891" y="3318764"/>
            <a:ext cx="385191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7:textLayout xmlns:ns12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DEI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7747" y="3821684"/>
            <a:ext cx="40347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32:textLayout xmlns:ns13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 bit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57802" y="3209036"/>
            <a:ext cx="836676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3522" y="3318764"/>
            <a:ext cx="74523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37:textLayout xmlns:ns13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4378" y="3821684"/>
            <a:ext cx="7635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42:textLayout xmlns:ns14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12 bit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94478" y="3209036"/>
            <a:ext cx="795528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0198" y="3318764"/>
            <a:ext cx="70408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47:textLayout xmlns:ns14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上位種別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1054" y="3821684"/>
            <a:ext cx="7223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52:textLayout xmlns:ns15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0006" y="3209036"/>
            <a:ext cx="2923456" cy="841248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5726" y="3318764"/>
            <a:ext cx="283201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57:textLayout xmlns:ns15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6582" y="3821684"/>
            <a:ext cx="2850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62:textLayout xmlns:ns16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可変長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13462" y="3209036"/>
            <a:ext cx="862080" cy="841248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59182" y="3318764"/>
            <a:ext cx="770640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67:textLayout xmlns:ns16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誤り検査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50038" y="3821684"/>
            <a:ext cx="788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2:textLayout xmlns:ns172="urn:pptxdsl:text-layout:v1" role="body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32 bit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8695" y="3510788"/>
            <a:ext cx="6217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77:textLayout xmlns:ns17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+4 byte</a:t>
            </a:r>
          </a:p>
        </p:txBody>
      </p:sp>
      <p:cxnSp>
        <p:nvCxnSpPr>
          <p:cNvPr id="53" name="protocol-anatomy:annotation:1:tpid"/>
          <p:cNvCxnSpPr/>
          <p:nvPr/>
        </p:nvCxnSpPr>
        <p:spPr>
          <a:xfrm flipH="1">
            <a:off x="685800" y="4068572"/>
            <a:ext cx="3469541" cy="54864"/>
          </a:xfrm>
          <a:prstGeom prst="line">
            <a:avLst/>
          </a:prstGeom>
          <a:ln w="1397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4178300"/>
            <a:ext cx="384048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82:textLayout xmlns:ns182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TPID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78300"/>
            <a:ext cx="2206675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87:textLayout xmlns:ns187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タグ付きフレームを識別。</a:t>
            </a:r>
          </a:p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代表値は0x8100。</a:t>
            </a:r>
          </a:p>
        </p:txBody>
      </p:sp>
      <p:cxnSp>
        <p:nvCxnSpPr>
          <p:cNvPr id="56" name="protocol-anatomy:annotation:1:pcp"/>
          <p:cNvCxnSpPr/>
          <p:nvPr/>
        </p:nvCxnSpPr>
        <p:spPr>
          <a:xfrm flipH="1">
            <a:off x="3532555" y="4068572"/>
            <a:ext cx="1284583" cy="54864"/>
          </a:xfrm>
          <a:prstGeom prst="line">
            <a:avLst/>
          </a:prstGeom>
          <a:ln w="1397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349675" y="4178300"/>
            <a:ext cx="384048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94:textLayout xmlns:ns194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PCP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8587" y="4178300"/>
            <a:ext cx="2206675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99:textLayout xmlns:ns199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通信の優先度を示す3 bit。</a:t>
            </a:r>
          </a:p>
        </p:txBody>
      </p:sp>
      <p:cxnSp>
        <p:nvCxnSpPr>
          <p:cNvPr id="59" name="protocol-anatomy:annotation:1:dei"/>
          <p:cNvCxnSpPr/>
          <p:nvPr/>
        </p:nvCxnSpPr>
        <p:spPr>
          <a:xfrm>
            <a:off x="5319486" y="4068572"/>
            <a:ext cx="1059825" cy="54864"/>
          </a:xfrm>
          <a:prstGeom prst="line">
            <a:avLst/>
          </a:prstGeom>
          <a:ln w="1397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196431" y="4178300"/>
            <a:ext cx="384048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04:textLayout xmlns:ns204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DEI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5343" y="4178300"/>
            <a:ext cx="2206675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09:textLayout xmlns:ns209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輻輳時の破棄可否を示す1 bit。</a:t>
            </a:r>
          </a:p>
        </p:txBody>
      </p:sp>
      <p:cxnSp>
        <p:nvCxnSpPr>
          <p:cNvPr id="62" name="protocol-anatomy:annotation:1:vid"/>
          <p:cNvCxnSpPr/>
          <p:nvPr/>
        </p:nvCxnSpPr>
        <p:spPr>
          <a:xfrm>
            <a:off x="5976140" y="4068572"/>
            <a:ext cx="3249927" cy="54864"/>
          </a:xfrm>
          <a:prstGeom prst="line">
            <a:avLst/>
          </a:prstGeom>
          <a:ln w="1397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043187" y="4178300"/>
            <a:ext cx="556641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14:textLayout xmlns:ns214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54692" y="4178300"/>
            <a:ext cx="2034082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19:textLayout xmlns:ns219="urn:pptxdsl:text-layout:v1" role="compact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所属VLANを識別する12 bit。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24:textLayout xmlns:ns224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229:textLayout xmlns:ns229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フレームの分類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タグ付きフレーム・タグなしフレーム・PVID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3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027"/>
                <a:gridCol w="4395413"/>
                <a:gridCol w="4395413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受信時の扱い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タグ付きフレーム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802.1Qタグを持つEthernetフレーム。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タグ内のVLAN IDを使って所属VLANを判断する。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タグなしフレーム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802.1Qタグを持たないEthernetフレーム。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受信ポートのPVIDなど、ポート設定から所属VLANを判断する。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PVID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2:textLayout xmlns:ns6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Port VLAN Identifier。タグなし受信などを分類するVLAN ID。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7:textLayout xmlns:ns6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端末接続ポートでは、設定した所属VLANが通常この役割を持つ。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72:textLayout xmlns:ns7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タグなしフレームの所属判定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77:textLayout xmlns:ns7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フレーム自体にはVLAN IDがない。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2:textLayout xmlns:ns8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受信ポートのPVIDなど、ポート設定によって所属VLANを決定する。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7:textLayout xmlns:ns8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※ IEEE 802.1Qは、MACブリッジとVLANブリッジの動作などを定める規格。詳細:</a:t>
            </a:r>
            <a:r>
              <a:rPr sz="850" b="0" lang="ja-JP" u="sng">
                <a:solidFill>
                  <a:srgbClr val="0D7870"/>
                </a:solidFill>
                <a:latin typeface="Yu Gothic"/>
                <a:ea typeface="Yu Gothic"/>
                <a:cs typeface="Yu Gothic"/>
                <a:hlinkClick r:id="rId2"/>
              </a:rPr>
              <a:t> IEEE 802.1Q-2022（IEEE公式）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4:textLayout xmlns:ns94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9:textLayout xmlns:ns99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端末を収容するポート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Accessポート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左から右へ追います。①端末はタグなしフレームを送り、②スイッチは受信したAccessポートの設定からVLAN 10へ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分類し、③送信側のAccessポートからタグなしで出します。</a:t>
            </a:r>
          </a:p>
        </p:txBody>
      </p:sp>
      <p:sp>
        <p:nvSpPr>
          <p:cNvPr id="6" name="layout-background:network-lane:v10"/>
          <p:cNvSpPr/>
          <p:nvPr/>
        </p:nvSpPr>
        <p:spPr>
          <a:xfrm>
            <a:off x="502920" y="2706095"/>
            <a:ext cx="11185855" cy="148132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852399"/>
            <a:ext cx="10972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9:textLayout xmlns:ns1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8" name="network-lane:sub:v10"/>
          <p:cNvSpPr txBox="1"/>
          <p:nvPr/>
        </p:nvSpPr>
        <p:spPr>
          <a:xfrm>
            <a:off x="649224" y="3154151"/>
            <a:ext cx="1097280" cy="9601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4:textLayout xmlns:ns2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営業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7943" y="2404343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9:textLayout xmlns:ns2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端末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786" y="2404343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4:textLayout xmlns:ns3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Accessポート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7628" y="2404343"/>
            <a:ext cx="32348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9:textLayout xmlns:ns3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同じVLAN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02837" y="3446759"/>
            <a:ext cx="2539898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59007" y="3222795"/>
            <a:ext cx="1027557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5:textLayout xmlns:ns45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タグなしで受信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37679" y="3446759"/>
            <a:ext cx="2539899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93850" y="3222795"/>
            <a:ext cx="1027557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1:textLayout xmlns:ns51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③ タグなしで送信</a:t>
            </a:r>
          </a:p>
        </p:txBody>
      </p:sp>
      <p:sp>
        <p:nvSpPr>
          <p:cNvPr id="16" name="Oval 15"/>
          <p:cNvSpPr/>
          <p:nvPr/>
        </p:nvSpPr>
        <p:spPr>
          <a:xfrm>
            <a:off x="3117037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901" y="3163295"/>
            <a:ext cx="566928" cy="566928"/>
          </a:xfrm>
          <a:prstGeom prst="rect">
            <a:avLst/>
          </a:prstGeom>
        </p:spPr>
      </p:pic>
      <p:sp>
        <p:nvSpPr>
          <p:cNvPr id="18" name="network-node:label"/>
          <p:cNvSpPr txBox="1"/>
          <p:nvPr/>
        </p:nvSpPr>
        <p:spPr>
          <a:xfrm>
            <a:off x="3171901" y="3803375"/>
            <a:ext cx="566928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56:textLayout xmlns:ns56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</a:t>
            </a:r>
          </a:p>
        </p:txBody>
      </p:sp>
      <p:sp>
        <p:nvSpPr>
          <p:cNvPr id="19" name="network-node:sub"/>
          <p:cNvSpPr txBox="1"/>
          <p:nvPr/>
        </p:nvSpPr>
        <p:spPr>
          <a:xfrm>
            <a:off x="3171901" y="3970825"/>
            <a:ext cx="566928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61:textLayout xmlns:ns6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20" name="Oval 19"/>
          <p:cNvSpPr/>
          <p:nvPr/>
        </p:nvSpPr>
        <p:spPr>
          <a:xfrm>
            <a:off x="6351879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3" y="3163295"/>
            <a:ext cx="566928" cy="566928"/>
          </a:xfrm>
          <a:prstGeom prst="rect">
            <a:avLst/>
          </a:prstGeom>
        </p:spPr>
      </p:pic>
      <p:sp>
        <p:nvSpPr>
          <p:cNvPr id="22" name="network-node:label"/>
          <p:cNvSpPr txBox="1"/>
          <p:nvPr/>
        </p:nvSpPr>
        <p:spPr>
          <a:xfrm>
            <a:off x="6278156" y="3803375"/>
            <a:ext cx="824103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66:textLayout xmlns:ns66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23" name="network-node:sub"/>
          <p:cNvSpPr txBox="1"/>
          <p:nvPr/>
        </p:nvSpPr>
        <p:spPr>
          <a:xfrm>
            <a:off x="6139281" y="3970825"/>
            <a:ext cx="1101852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1:textLayout xmlns:ns7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② VLAN 10へ分類</a:t>
            </a:r>
          </a:p>
        </p:txBody>
      </p:sp>
      <p:sp>
        <p:nvSpPr>
          <p:cNvPr id="24" name="Oval 23"/>
          <p:cNvSpPr/>
          <p:nvPr/>
        </p:nvSpPr>
        <p:spPr>
          <a:xfrm>
            <a:off x="9586722" y="3108431"/>
            <a:ext cx="676656" cy="676656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r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586" y="3163295"/>
            <a:ext cx="566928" cy="566928"/>
          </a:xfrm>
          <a:prstGeom prst="rect">
            <a:avLst/>
          </a:prstGeom>
        </p:spPr>
      </p:pic>
      <p:sp>
        <p:nvSpPr>
          <p:cNvPr id="26" name="network-node:label"/>
          <p:cNvSpPr txBox="1"/>
          <p:nvPr/>
        </p:nvSpPr>
        <p:spPr>
          <a:xfrm>
            <a:off x="9456420" y="3803375"/>
            <a:ext cx="937260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6:textLayout xmlns:ns76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営業プリンタ</a:t>
            </a:r>
          </a:p>
        </p:txBody>
      </p:sp>
      <p:sp>
        <p:nvSpPr>
          <p:cNvPr id="27" name="network-node:sub"/>
          <p:cNvSpPr txBox="1"/>
          <p:nvPr/>
        </p:nvSpPr>
        <p:spPr>
          <a:xfrm>
            <a:off x="9641586" y="3970825"/>
            <a:ext cx="566928" cy="123444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81:textLayout xmlns:ns8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6072" y="6126479"/>
            <a:ext cx="256032" cy="0"/>
          </a:xfrm>
          <a:prstGeom prst="line">
            <a:avLst/>
          </a:prstGeom>
          <a:ln w="1905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etwork-legend:access"/>
          <p:cNvSpPr txBox="1"/>
          <p:nvPr/>
        </p:nvSpPr>
        <p:spPr>
          <a:xfrm>
            <a:off x="905256" y="6044183"/>
            <a:ext cx="1792224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87:textLayout xmlns:ns8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Access（単一セグメント）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2:textLayout xmlns:ns9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7:textLayout xmlns:ns9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スイッチ間のポート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左右の端末区間はタグなし、中央のTrunk区間は802.1Qタグ付きです。スイッチは受信ポートでVLANを判定し、Trunkでは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IDを付けて複数VLANを1本のリンクへ多重化します。</a:t>
            </a:r>
          </a:p>
        </p:txBody>
      </p:sp>
      <p:sp>
        <p:nvSpPr>
          <p:cNvPr id="6" name="layout-background:network-lane:v10"/>
          <p:cNvSpPr/>
          <p:nvPr/>
        </p:nvSpPr>
        <p:spPr>
          <a:xfrm>
            <a:off x="502920" y="2561254"/>
            <a:ext cx="11185855" cy="129844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707558"/>
            <a:ext cx="10972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9:textLayout xmlns:ns1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8" name="network-lane:sub:v10"/>
          <p:cNvSpPr txBox="1"/>
          <p:nvPr/>
        </p:nvSpPr>
        <p:spPr>
          <a:xfrm>
            <a:off x="649224" y="3009310"/>
            <a:ext cx="1097280" cy="7772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4:textLayout xmlns:ns2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営業</a:t>
            </a:r>
          </a:p>
        </p:txBody>
      </p:sp>
      <p:sp>
        <p:nvSpPr>
          <p:cNvPr id="9" name="layout-background:network-lane:v20"/>
          <p:cNvSpPr/>
          <p:nvPr/>
        </p:nvSpPr>
        <p:spPr>
          <a:xfrm>
            <a:off x="502920" y="3951142"/>
            <a:ext cx="11185855" cy="1298448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097446"/>
            <a:ext cx="10972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29:textLayout xmlns:ns29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11" name="network-lane:sub:v20"/>
          <p:cNvSpPr txBox="1"/>
          <p:nvPr/>
        </p:nvSpPr>
        <p:spPr>
          <a:xfrm>
            <a:off x="649224" y="4399198"/>
            <a:ext cx="1097280" cy="7772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4:textLayout xmlns:ns34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3" y="2259502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9:textLayout xmlns:ns3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フロアA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4075" y="2259502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4:textLayout xmlns:ns4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2259502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9:textLayout xmlns:ns49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339" y="2259502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4:textLayout xmlns:ns54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フロアB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77141" y="3210478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77141" y="4243750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35993" y="3169330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35993" y="4559218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903273" y="3210478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03273" y="4243750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62125" y="3169330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2125" y="4559218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371049" y="3210478"/>
            <a:ext cx="2106092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80052" y="2986514"/>
            <a:ext cx="688086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0:textLayout xmlns:ns60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タグなし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71049" y="4600366"/>
            <a:ext cx="2106092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80052" y="4376402"/>
            <a:ext cx="688086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6:textLayout xmlns:ns66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タグなし</a:t>
            </a:r>
          </a:p>
        </p:txBody>
      </p:sp>
      <p:cxnSp>
        <p:nvCxnSpPr>
          <p:cNvPr id="28" name="network-link:physical:2"/>
          <p:cNvCxnSpPr/>
          <p:nvPr/>
        </p:nvCxnSpPr>
        <p:spPr>
          <a:xfrm>
            <a:off x="5797181" y="3905422"/>
            <a:ext cx="1786052" cy="0"/>
          </a:xfrm>
          <a:prstGeom prst="line">
            <a:avLst/>
          </a:prstGeom>
          <a:ln w="1905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77141" y="3210478"/>
            <a:ext cx="2426132" cy="0"/>
          </a:xfrm>
          <a:prstGeom prst="line">
            <a:avLst/>
          </a:prstGeom>
          <a:ln w="2540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77141" y="4600366"/>
            <a:ext cx="2426132" cy="0"/>
          </a:xfrm>
          <a:prstGeom prst="line">
            <a:avLst/>
          </a:prstGeom>
          <a:ln w="25400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network-link:trunk-label"/>
          <p:cNvSpPr txBox="1"/>
          <p:nvPr/>
        </p:nvSpPr>
        <p:spPr>
          <a:xfrm>
            <a:off x="6156998" y="3521374"/>
            <a:ext cx="1066419" cy="310896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71:textLayout xmlns:ns7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② 802.1Qタグ付き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10 / 20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3273" y="3210478"/>
            <a:ext cx="2106092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12276" y="2986514"/>
            <a:ext cx="688086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9:textLayout xmlns:ns79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③ タグなし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03273" y="4600366"/>
            <a:ext cx="2106092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12276" y="4376402"/>
            <a:ext cx="688086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5:textLayout xmlns:ns85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③ タグなし</a:t>
            </a:r>
          </a:p>
        </p:txBody>
      </p:sp>
      <p:sp>
        <p:nvSpPr>
          <p:cNvPr id="36" name="Oval 35"/>
          <p:cNvSpPr/>
          <p:nvPr/>
        </p:nvSpPr>
        <p:spPr>
          <a:xfrm>
            <a:off x="2740113" y="2899582"/>
            <a:ext cx="621792" cy="621792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977" y="2954446"/>
            <a:ext cx="512064" cy="512064"/>
          </a:xfrm>
          <a:prstGeom prst="rect">
            <a:avLst/>
          </a:prstGeom>
        </p:spPr>
      </p:pic>
      <p:sp>
        <p:nvSpPr>
          <p:cNvPr id="38" name="network-node:label"/>
          <p:cNvSpPr txBox="1"/>
          <p:nvPr/>
        </p:nvSpPr>
        <p:spPr>
          <a:xfrm>
            <a:off x="2695536" y="3539662"/>
            <a:ext cx="710946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0:textLayout xmlns:ns90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A</a:t>
            </a:r>
          </a:p>
        </p:txBody>
      </p:sp>
      <p:sp>
        <p:nvSpPr>
          <p:cNvPr id="39" name="Oval 38"/>
          <p:cNvSpPr/>
          <p:nvPr/>
        </p:nvSpPr>
        <p:spPr>
          <a:xfrm>
            <a:off x="2740113" y="4289470"/>
            <a:ext cx="621792" cy="621792"/>
          </a:xfrm>
          <a:prstGeom prst="ellipse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77" y="4344334"/>
            <a:ext cx="512064" cy="512064"/>
          </a:xfrm>
          <a:prstGeom prst="rect">
            <a:avLst/>
          </a:prstGeom>
        </p:spPr>
      </p:pic>
      <p:sp>
        <p:nvSpPr>
          <p:cNvPr id="41" name="network-node:label"/>
          <p:cNvSpPr txBox="1"/>
          <p:nvPr/>
        </p:nvSpPr>
        <p:spPr>
          <a:xfrm>
            <a:off x="2695536" y="4929550"/>
            <a:ext cx="710946" cy="158305"/>
          </a:xfrm>
          <a:prstGeom prst="rect">
            <a:avLst/>
          </a:prstGeom>
          <a:solidFill>
            <a:srgbClr val="E4E9EE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95:textLayout xmlns:ns95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 A</a:t>
            </a:r>
          </a:p>
        </p:txBody>
      </p:sp>
      <p:sp>
        <p:nvSpPr>
          <p:cNvPr id="42" name="Oval 41"/>
          <p:cNvSpPr/>
          <p:nvPr/>
        </p:nvSpPr>
        <p:spPr>
          <a:xfrm>
            <a:off x="5166245" y="3594526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109" y="3649390"/>
            <a:ext cx="512064" cy="512064"/>
          </a:xfrm>
          <a:prstGeom prst="rect">
            <a:avLst/>
          </a:prstGeom>
        </p:spPr>
      </p:pic>
      <p:sp>
        <p:nvSpPr>
          <p:cNvPr id="44" name="network-node:label"/>
          <p:cNvSpPr txBox="1"/>
          <p:nvPr/>
        </p:nvSpPr>
        <p:spPr>
          <a:xfrm>
            <a:off x="5101094" y="4234606"/>
            <a:ext cx="752094" cy="158305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00:textLayout xmlns:ns100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sp>
        <p:nvSpPr>
          <p:cNvPr id="45" name="Oval 44"/>
          <p:cNvSpPr/>
          <p:nvPr/>
        </p:nvSpPr>
        <p:spPr>
          <a:xfrm>
            <a:off x="7592377" y="3594526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41" y="3649390"/>
            <a:ext cx="512064" cy="512064"/>
          </a:xfrm>
          <a:prstGeom prst="rect">
            <a:avLst/>
          </a:prstGeom>
        </p:spPr>
      </p:pic>
      <p:sp>
        <p:nvSpPr>
          <p:cNvPr id="47" name="network-node:label"/>
          <p:cNvSpPr txBox="1"/>
          <p:nvPr/>
        </p:nvSpPr>
        <p:spPr>
          <a:xfrm>
            <a:off x="7527226" y="4234606"/>
            <a:ext cx="752094" cy="158305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05:textLayout xmlns:ns105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sp>
        <p:nvSpPr>
          <p:cNvPr id="48" name="Oval 47"/>
          <p:cNvSpPr/>
          <p:nvPr/>
        </p:nvSpPr>
        <p:spPr>
          <a:xfrm>
            <a:off x="10018509" y="2899582"/>
            <a:ext cx="621792" cy="621792"/>
          </a:xfrm>
          <a:prstGeom prst="ellipse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373" y="2954446"/>
            <a:ext cx="512064" cy="512064"/>
          </a:xfrm>
          <a:prstGeom prst="rect">
            <a:avLst/>
          </a:prstGeom>
        </p:spPr>
      </p:pic>
      <p:sp>
        <p:nvSpPr>
          <p:cNvPr id="50" name="network-node:label"/>
          <p:cNvSpPr txBox="1"/>
          <p:nvPr/>
        </p:nvSpPr>
        <p:spPr>
          <a:xfrm>
            <a:off x="9973932" y="3539662"/>
            <a:ext cx="710946" cy="158305"/>
          </a:xfrm>
          <a:prstGeom prst="rect">
            <a:avLst/>
          </a:prstGeom>
          <a:solidFill>
            <a:srgbClr val="D9EBE8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10:textLayout xmlns:ns110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B</a:t>
            </a:r>
          </a:p>
        </p:txBody>
      </p:sp>
      <p:sp>
        <p:nvSpPr>
          <p:cNvPr id="51" name="Oval 50"/>
          <p:cNvSpPr/>
          <p:nvPr/>
        </p:nvSpPr>
        <p:spPr>
          <a:xfrm>
            <a:off x="10018509" y="4289470"/>
            <a:ext cx="621792" cy="621792"/>
          </a:xfrm>
          <a:prstGeom prst="ellipse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373" y="4344334"/>
            <a:ext cx="512064" cy="512064"/>
          </a:xfrm>
          <a:prstGeom prst="rect">
            <a:avLst/>
          </a:prstGeom>
        </p:spPr>
      </p:pic>
      <p:sp>
        <p:nvSpPr>
          <p:cNvPr id="53" name="network-node:label"/>
          <p:cNvSpPr txBox="1"/>
          <p:nvPr/>
        </p:nvSpPr>
        <p:spPr>
          <a:xfrm>
            <a:off x="9973932" y="4929550"/>
            <a:ext cx="710946" cy="158305"/>
          </a:xfrm>
          <a:prstGeom prst="rect">
            <a:avLst/>
          </a:prstGeom>
          <a:solidFill>
            <a:srgbClr val="E4E9EE"/>
          </a:solidFill>
        </p:spPr>
        <p:txBody>
          <a:bodyPr wrap="none" anchor="ctr" lIns="0" rIns="0" tIns="0" bIns="0">
            <a:spAutoFit/>
            <a:extLst>
              <a:ext uri="{8AF73BB6-5E31-4F0F-A399-3D98F3B95FD9}">
                <ns115:textLayout xmlns:ns115="urn:pptxdsl:text-layout:v1" role="compact"/>
              </a:ext>
            </a:extLst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 B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72" y="6126479"/>
            <a:ext cx="256032" cy="0"/>
          </a:xfrm>
          <a:prstGeom prst="line">
            <a:avLst/>
          </a:prstGeom>
          <a:ln w="19050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network-legend:physical"/>
          <p:cNvSpPr txBox="1"/>
          <p:nvPr/>
        </p:nvSpPr>
        <p:spPr>
          <a:xfrm>
            <a:off x="905256" y="6044183"/>
            <a:ext cx="814959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20:textLayout xmlns:ns120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物理リンク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39671" y="6126479"/>
            <a:ext cx="256032" cy="0"/>
          </a:xfrm>
          <a:prstGeom prst="line">
            <a:avLst/>
          </a:prstGeom>
          <a:ln w="1905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network-legend:access"/>
          <p:cNvSpPr txBox="1"/>
          <p:nvPr/>
        </p:nvSpPr>
        <p:spPr>
          <a:xfrm>
            <a:off x="2268855" y="6044183"/>
            <a:ext cx="1792224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26:textLayout xmlns:ns126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Access（単一セグメント）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280535" y="6089903"/>
            <a:ext cx="256032" cy="0"/>
          </a:xfrm>
          <a:prstGeom prst="line">
            <a:avLst/>
          </a:prstGeom>
          <a:ln w="2540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280535" y="6163055"/>
            <a:ext cx="256032" cy="0"/>
          </a:xfrm>
          <a:prstGeom prst="line">
            <a:avLst/>
          </a:prstGeom>
          <a:ln w="25400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network-legend:trunk"/>
          <p:cNvSpPr txBox="1"/>
          <p:nvPr/>
        </p:nvSpPr>
        <p:spPr>
          <a:xfrm>
            <a:off x="4609719" y="6044183"/>
            <a:ext cx="17202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31:textLayout xmlns:ns131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Trunk（複数セグメント）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36:textLayout xmlns:ns136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41:textLayout xmlns:ns141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Trunkのタグ処理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ネイティブVLANのタグ処理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10経路ではAccess VLAN設定を使わず、Trunkのnative VLAN設定がタグなしフレームの所属を決める。</a:t>
            </a:r>
          </a:p>
        </p:txBody>
      </p:sp>
      <p:sp>
        <p:nvSpPr>
          <p:cNvPr id="6" name="protocol-state-flow:legend:protocol-state-flow:marker:plain"/>
          <p:cNvSpPr/>
          <p:nvPr/>
        </p:nvSpPr>
        <p:spPr>
          <a:xfrm>
            <a:off x="502920" y="1855724"/>
            <a:ext cx="38404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tocol-state-flow:legend:plain"/>
          <p:cNvSpPr txBox="1"/>
          <p:nvPr/>
        </p:nvSpPr>
        <p:spPr>
          <a:xfrm>
            <a:off x="996696" y="1855724"/>
            <a:ext cx="530352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17:textLayout xmlns:ns1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通常の値</a:t>
            </a:r>
          </a:p>
        </p:txBody>
      </p:sp>
      <p:sp>
        <p:nvSpPr>
          <p:cNvPr id="8" name="protocol-state-flow:legend:protocol-state-flow:marker:encapsulated"/>
          <p:cNvSpPr/>
          <p:nvPr/>
        </p:nvSpPr>
        <p:spPr>
          <a:xfrm>
            <a:off x="1764792" y="1855724"/>
            <a:ext cx="38404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ocol-state-flow:legend:protocol-state-flow:marker:encapsulated:tag"/>
          <p:cNvSpPr/>
          <p:nvPr/>
        </p:nvSpPr>
        <p:spPr>
          <a:xfrm>
            <a:off x="1764792" y="1855724"/>
            <a:ext cx="184023" cy="182880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ocol-state-flow:legend:TextBox 9"/>
          <p:cNvSpPr txBox="1"/>
          <p:nvPr/>
        </p:nvSpPr>
        <p:spPr>
          <a:xfrm>
            <a:off x="1783080" y="1864868"/>
            <a:ext cx="147447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6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11" name="protocol-state-flow:legend:encapsulated"/>
          <p:cNvSpPr txBox="1"/>
          <p:nvPr/>
        </p:nvSpPr>
        <p:spPr>
          <a:xfrm>
            <a:off x="2258568" y="1855724"/>
            <a:ext cx="1147572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7:textLayout xmlns:ns2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タグ・ヘッダー付加</a:t>
            </a:r>
          </a:p>
        </p:txBody>
      </p:sp>
      <p:sp>
        <p:nvSpPr>
          <p:cNvPr id="12" name="protocol-state-flow:legend:protocol-state-flow:marker:internal"/>
          <p:cNvSpPr/>
          <p:nvPr/>
        </p:nvSpPr>
        <p:spPr>
          <a:xfrm>
            <a:off x="3643884" y="1928876"/>
            <a:ext cx="38404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ocol-state-flow:legend:internal"/>
          <p:cNvSpPr txBox="1"/>
          <p:nvPr/>
        </p:nvSpPr>
        <p:spPr>
          <a:xfrm>
            <a:off x="4137660" y="1855724"/>
            <a:ext cx="77724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2:textLayout xmlns:ns32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装置内部処理</a:t>
            </a:r>
          </a:p>
        </p:txBody>
      </p:sp>
      <p:sp>
        <p:nvSpPr>
          <p:cNvPr id="14" name="protocol-state-flow:legend:change"/>
          <p:cNvSpPr txBox="1"/>
          <p:nvPr/>
        </p:nvSpPr>
        <p:spPr>
          <a:xfrm>
            <a:off x="5152644" y="1855724"/>
            <a:ext cx="6536131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7:textLayout xmlns:ns3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下線：直前から値・付加情報が変化</a:t>
            </a:r>
          </a:p>
        </p:txBody>
      </p:sp>
      <p:pic>
        <p:nvPicPr>
          <p:cNvPr id="15" name="Picture 14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23" y="223977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56232" y="2605532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送信端末</a:t>
            </a:r>
          </a:p>
        </p:txBody>
      </p:sp>
      <p:pic>
        <p:nvPicPr>
          <p:cNvPr id="17" name="Picture 16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223" y="2239772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66631" y="2605532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sp>
        <p:nvSpPr>
          <p:cNvPr id="19" name="layout-background:protocol-state-flow:stage:trunk"/>
          <p:cNvSpPr/>
          <p:nvPr/>
        </p:nvSpPr>
        <p:spPr>
          <a:xfrm>
            <a:off x="5794735" y="2898140"/>
            <a:ext cx="1900671" cy="2151379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23" y="2239772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77031" y="2605532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スイッチ間Trunk</a:t>
            </a:r>
          </a:p>
        </p:txBody>
      </p:sp>
      <p:pic>
        <p:nvPicPr>
          <p:cNvPr id="22" name="Picture 21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023" y="2239772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87431" y="2605532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pic>
        <p:nvPicPr>
          <p:cNvPr id="24" name="Picture 23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423" y="223977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97831" y="2605532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受信端末</a:t>
            </a:r>
          </a:p>
        </p:txBody>
      </p:sp>
      <p:sp>
        <p:nvSpPr>
          <p:cNvPr id="26" name="layout-background:protocol-state-flow:track:0"/>
          <p:cNvSpPr/>
          <p:nvPr/>
        </p:nvSpPr>
        <p:spPr>
          <a:xfrm>
            <a:off x="502920" y="2971292"/>
            <a:ext cx="11185855" cy="962660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54172"/>
            <a:ext cx="1115568" cy="177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7:textLayout xmlns:ns67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367786"/>
            <a:ext cx="1115568" cy="474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2:textLayout xmlns:ns72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native VLAN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27191" y="3227324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37591" y="3227324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47991" y="3227324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58391" y="3227324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rotocol-state-flow:marker:plain"/>
          <p:cNvSpPr/>
          <p:nvPr/>
        </p:nvSpPr>
        <p:spPr>
          <a:xfrm>
            <a:off x="2257927" y="3135884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otocol-state-flow:value:unchanged:0:tx"/>
          <p:cNvSpPr txBox="1"/>
          <p:nvPr/>
        </p:nvSpPr>
        <p:spPr>
          <a:xfrm>
            <a:off x="1883664" y="3410204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1:textLayout xmlns:ns8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3664" y="3604768"/>
            <a:ext cx="1681215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6:textLayout xmlns:ns86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PCから送信</a:t>
            </a:r>
          </a:p>
        </p:txBody>
      </p:sp>
      <p:sp>
        <p:nvSpPr>
          <p:cNvPr id="36" name="protocol-state-flow:marker:internal"/>
          <p:cNvSpPr/>
          <p:nvPr/>
        </p:nvSpPr>
        <p:spPr>
          <a:xfrm>
            <a:off x="4268327" y="3209036"/>
            <a:ext cx="93268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tocol-state-flow:value:changed:0:sw_a"/>
          <p:cNvSpPr txBox="1"/>
          <p:nvPr/>
        </p:nvSpPr>
        <p:spPr>
          <a:xfrm>
            <a:off x="3894063" y="3410204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1:textLayout xmlns:ns9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4063" y="3604768"/>
            <a:ext cx="1681215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6:textLayout xmlns:ns96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受信ポートのnative設定で</a:t>
            </a:r>
          </a:p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割当</a:t>
            </a:r>
          </a:p>
        </p:txBody>
      </p:sp>
      <p:sp>
        <p:nvSpPr>
          <p:cNvPr id="39" name="protocol-state-flow:marker:plain"/>
          <p:cNvSpPr/>
          <p:nvPr/>
        </p:nvSpPr>
        <p:spPr>
          <a:xfrm>
            <a:off x="6278727" y="3135884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rotocol-state-flow:value:changed:0:trunk"/>
          <p:cNvSpPr txBox="1"/>
          <p:nvPr/>
        </p:nvSpPr>
        <p:spPr>
          <a:xfrm>
            <a:off x="5904463" y="3410204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3:textLayout xmlns:ns10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4463" y="3604768"/>
            <a:ext cx="1681215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8:textLayout xmlns:ns10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native VLAN 10</a:t>
            </a:r>
          </a:p>
        </p:txBody>
      </p:sp>
      <p:sp>
        <p:nvSpPr>
          <p:cNvPr id="42" name="protocol-state-flow:marker:internal"/>
          <p:cNvSpPr/>
          <p:nvPr/>
        </p:nvSpPr>
        <p:spPr>
          <a:xfrm>
            <a:off x="8289127" y="3209036"/>
            <a:ext cx="93268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rotocol-state-flow:value:changed:0:sw_b"/>
          <p:cNvSpPr txBox="1"/>
          <p:nvPr/>
        </p:nvSpPr>
        <p:spPr>
          <a:xfrm>
            <a:off x="7914863" y="3410204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13:textLayout xmlns:ns11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4863" y="3604768"/>
            <a:ext cx="1681215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18:textLayout xmlns:ns11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タグなしをnativeへ分類</a:t>
            </a:r>
          </a:p>
        </p:txBody>
      </p:sp>
      <p:sp>
        <p:nvSpPr>
          <p:cNvPr id="45" name="protocol-state-flow:marker:plain"/>
          <p:cNvSpPr/>
          <p:nvPr/>
        </p:nvSpPr>
        <p:spPr>
          <a:xfrm>
            <a:off x="10299527" y="3135884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rotocol-state-flow:value:changed:0:rx"/>
          <p:cNvSpPr txBox="1"/>
          <p:nvPr/>
        </p:nvSpPr>
        <p:spPr>
          <a:xfrm>
            <a:off x="9925263" y="3410204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3:textLayout xmlns:ns12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5263" y="3604768"/>
            <a:ext cx="1681215" cy="237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8:textLayout xmlns:ns12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TrunkからPCへ送出</a:t>
            </a:r>
          </a:p>
        </p:txBody>
      </p:sp>
      <p:sp>
        <p:nvSpPr>
          <p:cNvPr id="48" name="layout-background:protocol-state-flow:track:1"/>
          <p:cNvSpPr/>
          <p:nvPr/>
        </p:nvSpPr>
        <p:spPr>
          <a:xfrm>
            <a:off x="502920" y="4080256"/>
            <a:ext cx="11185855" cy="896112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263136"/>
            <a:ext cx="1115568" cy="177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33:textLayout xmlns:ns133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476750"/>
            <a:ext cx="1115568" cy="4081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38:textLayout xmlns:ns138="urn:pptxdsl:text-layout:v1" role="compact"/>
              </a:ext>
            </a:extLst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通常のVLAN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27191" y="4336288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37591" y="4336288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47991" y="4336288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58391" y="4336288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rotocol-state-flow:marker:plain"/>
          <p:cNvSpPr/>
          <p:nvPr/>
        </p:nvSpPr>
        <p:spPr>
          <a:xfrm>
            <a:off x="2257927" y="4244848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rotocol-state-flow:value:unchanged:1:tx"/>
          <p:cNvSpPr txBox="1"/>
          <p:nvPr/>
        </p:nvSpPr>
        <p:spPr>
          <a:xfrm>
            <a:off x="1883664" y="4519168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47:textLayout xmlns:ns14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83664" y="4713732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52:textLayout xmlns:ns15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PCから送信</a:t>
            </a:r>
          </a:p>
        </p:txBody>
      </p:sp>
      <p:sp>
        <p:nvSpPr>
          <p:cNvPr id="58" name="protocol-state-flow:marker:internal"/>
          <p:cNvSpPr/>
          <p:nvPr/>
        </p:nvSpPr>
        <p:spPr>
          <a:xfrm>
            <a:off x="4268327" y="4318000"/>
            <a:ext cx="93268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rotocol-state-flow:value:changed:1:sw_a"/>
          <p:cNvSpPr txBox="1"/>
          <p:nvPr/>
        </p:nvSpPr>
        <p:spPr>
          <a:xfrm>
            <a:off x="3894063" y="4519168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57:textLayout xmlns:ns15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94063" y="4713732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62:textLayout xmlns:ns16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Accessポートで分類</a:t>
            </a:r>
          </a:p>
        </p:txBody>
      </p:sp>
      <p:sp>
        <p:nvSpPr>
          <p:cNvPr id="61" name="protocol-state-flow:marker:encapsulated"/>
          <p:cNvSpPr/>
          <p:nvPr/>
        </p:nvSpPr>
        <p:spPr>
          <a:xfrm>
            <a:off x="6278727" y="4244848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rotocol-state-flow:marker:encapsulated:tag"/>
          <p:cNvSpPr/>
          <p:nvPr/>
        </p:nvSpPr>
        <p:spPr>
          <a:xfrm>
            <a:off x="6278727" y="4244848"/>
            <a:ext cx="286893" cy="182880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7015" y="4253992"/>
            <a:ext cx="250317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67:textLayout xmlns:ns16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6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TAG</a:t>
            </a:r>
          </a:p>
        </p:txBody>
      </p:sp>
      <p:sp>
        <p:nvSpPr>
          <p:cNvPr id="64" name="protocol-state-flow:value:changed:1:trunk"/>
          <p:cNvSpPr txBox="1"/>
          <p:nvPr/>
        </p:nvSpPr>
        <p:spPr>
          <a:xfrm>
            <a:off x="5904463" y="4519168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2:textLayout xmlns:ns17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802.1Qタグ付き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4463" y="4713732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7:textLayout xmlns:ns17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ID 20</a:t>
            </a:r>
          </a:p>
        </p:txBody>
      </p:sp>
      <p:sp>
        <p:nvSpPr>
          <p:cNvPr id="66" name="protocol-state-flow:marker:internal"/>
          <p:cNvSpPr/>
          <p:nvPr/>
        </p:nvSpPr>
        <p:spPr>
          <a:xfrm>
            <a:off x="8289127" y="4318000"/>
            <a:ext cx="93268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rotocol-state-flow:value:changed:1:sw_b"/>
          <p:cNvSpPr txBox="1"/>
          <p:nvPr/>
        </p:nvSpPr>
        <p:spPr>
          <a:xfrm>
            <a:off x="7914863" y="4519168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82:textLayout xmlns:ns18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14863" y="4713732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87:textLayout xmlns:ns18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タグのVLAN IDで分類</a:t>
            </a:r>
          </a:p>
        </p:txBody>
      </p:sp>
      <p:sp>
        <p:nvSpPr>
          <p:cNvPr id="69" name="protocol-state-flow:marker:plain"/>
          <p:cNvSpPr/>
          <p:nvPr/>
        </p:nvSpPr>
        <p:spPr>
          <a:xfrm>
            <a:off x="10299527" y="4244848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rotocol-state-flow:value:changed:1:rx"/>
          <p:cNvSpPr txBox="1"/>
          <p:nvPr/>
        </p:nvSpPr>
        <p:spPr>
          <a:xfrm>
            <a:off x="9925263" y="4519168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92:textLayout xmlns:ns19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100" b="1" lang="ja-JP" u="sng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25263" y="4713732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97:textLayout xmlns:ns19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PCへ送出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02:textLayout xmlns:ns20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207:textLayout xmlns:ns20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Trunk両端の設定不一致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ネイティブVLAN不一致時の誤分類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PC側ではAccess VLAN、Trunk受信側ではnative VLANがタグなしフレームの所属を決めるため、両端の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native VLANを一致させる。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8087" y="2853293"/>
            <a:ext cx="8942832" cy="1764791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sequence-phase-label:0"/>
          <p:cNvSpPr txBox="1"/>
          <p:nvPr/>
        </p:nvSpPr>
        <p:spPr>
          <a:xfrm>
            <a:off x="1267815" y="2889869"/>
            <a:ext cx="1097280" cy="512064"/>
          </a:xfrm>
          <a:prstGeom prst="rect">
            <a:avLst/>
          </a:prstGeom>
          <a:solidFill>
            <a:srgbClr val="DFEBE8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19:textLayout xmlns:ns19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送信側では</a:t>
            </a:r>
          </a:p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087" y="4627229"/>
            <a:ext cx="8942832" cy="1572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equence-phase-label:1"/>
          <p:cNvSpPr txBox="1"/>
          <p:nvPr/>
        </p:nvSpPr>
        <p:spPr>
          <a:xfrm>
            <a:off x="1267815" y="4663805"/>
            <a:ext cx="1097280" cy="512064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26:textLayout xmlns:ns26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受信側では</a:t>
            </a:r>
          </a:p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8284" y="2193544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3:textLayout xmlns:ns33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18284" y="2614168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equence-lifeline:pc_a"/>
          <p:cNvCxnSpPr/>
          <p:nvPr/>
        </p:nvCxnSpPr>
        <p:spPr>
          <a:xfrm>
            <a:off x="2529687" y="2614168"/>
            <a:ext cx="0" cy="3585829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95724" y="2193544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8:textLayout xmlns:ns38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SW-A（Access</a:t>
            </a:r>
          </a:p>
          <a:p>
            <a:pPr algn="ctr">
              <a:lnSpc>
                <a:spcPct val="11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10 / native 10）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95724" y="2614168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equence-lifeline:sw_a"/>
          <p:cNvCxnSpPr/>
          <p:nvPr/>
        </p:nvCxnSpPr>
        <p:spPr>
          <a:xfrm>
            <a:off x="4907127" y="2614168"/>
            <a:ext cx="0" cy="3585829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73164" y="2193544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5:textLayout xmlns:ns45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SW-B（native 20</a:t>
            </a:r>
          </a:p>
          <a:p>
            <a:pPr algn="ctr">
              <a:lnSpc>
                <a:spcPct val="115000"/>
              </a:lnSpc>
            </a:pPr>
            <a:r>
              <a:rPr sz="12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/ Access 20）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73164" y="2614168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quence-lifeline:sw_b"/>
          <p:cNvCxnSpPr/>
          <p:nvPr/>
        </p:nvCxnSpPr>
        <p:spPr>
          <a:xfrm>
            <a:off x="7284567" y="2614168"/>
            <a:ext cx="0" cy="3585829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50604" y="2193544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2:textLayout xmlns:ns52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 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50604" y="2614168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equence-lifeline:pc_b"/>
          <p:cNvCxnSpPr/>
          <p:nvPr/>
        </p:nvCxnSpPr>
        <p:spPr>
          <a:xfrm>
            <a:off x="9662007" y="2614168"/>
            <a:ext cx="0" cy="3585829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equence-message-line:access_in"/>
          <p:cNvCxnSpPr/>
          <p:nvPr/>
        </p:nvCxnSpPr>
        <p:spPr>
          <a:xfrm>
            <a:off x="2529687" y="3109325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equence-message-label:access_in"/>
          <p:cNvSpPr txBox="1"/>
          <p:nvPr/>
        </p:nvSpPr>
        <p:spPr>
          <a:xfrm>
            <a:off x="2932023" y="2862437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8:textLayout xmlns:ns58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① タグなし受信をAccess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10へ分類</a:t>
            </a:r>
          </a:p>
        </p:txBody>
      </p:sp>
      <p:cxnSp>
        <p:nvCxnSpPr>
          <p:cNvPr id="24" name="sequence-message-line:untagged_native"/>
          <p:cNvCxnSpPr/>
          <p:nvPr/>
        </p:nvCxnSpPr>
        <p:spPr>
          <a:xfrm>
            <a:off x="4907127" y="3996293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equence-message-label:untagged_native"/>
          <p:cNvSpPr txBox="1"/>
          <p:nvPr/>
        </p:nvSpPr>
        <p:spPr>
          <a:xfrm>
            <a:off x="5309463" y="3749405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6:textLayout xmlns:ns66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② native 10なのでタグなしで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送出</a:t>
            </a:r>
          </a:p>
        </p:txBody>
      </p:sp>
      <p:cxnSp>
        <p:nvCxnSpPr>
          <p:cNvPr id="26" name="sequence-self-route:wrong_classify:out"/>
          <p:cNvCxnSpPr/>
          <p:nvPr/>
        </p:nvCxnSpPr>
        <p:spPr>
          <a:xfrm>
            <a:off x="7284567" y="4341205"/>
            <a:ext cx="493776" cy="0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equence-self-route:wrong_classify:turn"/>
          <p:cNvCxnSpPr/>
          <p:nvPr/>
        </p:nvCxnSpPr>
        <p:spPr>
          <a:xfrm>
            <a:off x="7778343" y="4341205"/>
            <a:ext cx="0" cy="542056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equence-self-route:wrong_classify:return"/>
          <p:cNvCxnSpPr/>
          <p:nvPr/>
        </p:nvCxnSpPr>
        <p:spPr>
          <a:xfrm flipH="1">
            <a:off x="7284567" y="4883261"/>
            <a:ext cx="493776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equence-message-label:wrong_classify"/>
          <p:cNvSpPr txBox="1"/>
          <p:nvPr/>
        </p:nvSpPr>
        <p:spPr>
          <a:xfrm>
            <a:off x="7869783" y="4636373"/>
            <a:ext cx="1005840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4:textLayout xmlns:ns74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③ タグなし受信を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native 20へ分類</a:t>
            </a:r>
          </a:p>
        </p:txBody>
      </p:sp>
      <p:cxnSp>
        <p:nvCxnSpPr>
          <p:cNvPr id="30" name="sequence-message-line:wrong_forward"/>
          <p:cNvCxnSpPr/>
          <p:nvPr/>
        </p:nvCxnSpPr>
        <p:spPr>
          <a:xfrm>
            <a:off x="7284567" y="5770229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equence-message-label:wrong_forward"/>
          <p:cNvSpPr txBox="1"/>
          <p:nvPr/>
        </p:nvSpPr>
        <p:spPr>
          <a:xfrm>
            <a:off x="7686903" y="5523341"/>
            <a:ext cx="1572768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2:textLayout xmlns:ns82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④ Access VLAN 20から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タグなしで送出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9:textLayout xmlns:ns89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4:textLayout xmlns:ns94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混同しやすい用語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製品初期VLAN・ネイティブVLAN・VLAN 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5" cy="4059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9247"/>
                <a:gridCol w="4033304"/>
                <a:gridCol w="4033304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初期VLAN（Cisco: デフォルトVLAN）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工場出荷時にポートが所属する製品上の初期VLAN。CiscoスイッチではVLAN 1。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製品固有の初期設定名として、機種ごとの仕様を確認する。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ネイティブVLAN（Cisco等の製品用語）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802.1Q Trunkでタグなし受信を分類するVLAN。Cisco IOSの既定動作ではタグなしで送出する。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vlan dot1q tag nativeを有効にするとnative VLANもタグ付きになる。両端の設定を一致させる。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VLAN 0（802.1Q）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2:textLayout xmlns:ns6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VLAN所属を示さず、優先度情報だけを運ぶタグで使用する予約値。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7:textLayout xmlns:ns6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通常VLANの識別には1～4094を使用する。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72:textLayout xmlns:ns7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許可VLAN（製品設定）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77:textLayout xmlns:ns7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そのTrunkで転送を許可するVLAN IDの一覧。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2:textLayout xmlns:ns8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許可一覧に含まれるVLANだけがTrunkを通過する。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87:textLayout xmlns:ns8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通常のVLAN ID（802.1Q）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2:textLayout xmlns:ns9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VLAN所属の識別には1～4094を使用できる。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7:textLayout xmlns:ns9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0は優先度タグ用、4095は予約値として扱う。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2:textLayout xmlns:ns10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対象の違い: 初期VLAN=ポート初期所属 / ネイティブVLAN=Trunkのタグなし転送 / デフォルトゲートウェイ=L3次ホップ。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7:textLayout xmlns:ns10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12:textLayout xmlns:ns11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同じVLAN内の転送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Trunk区間のタグ処理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802.1Qタグが現れるのはTrunk区間であり、端末側のAccess区間ではタグなしフレームとして送受信する。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8087" y="2821838"/>
            <a:ext cx="8942832" cy="978408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sequence-phase-label:0"/>
          <p:cNvSpPr txBox="1"/>
          <p:nvPr/>
        </p:nvSpPr>
        <p:spPr>
          <a:xfrm>
            <a:off x="1267815" y="2858414"/>
            <a:ext cx="1097280" cy="512064"/>
          </a:xfrm>
          <a:prstGeom prst="rect">
            <a:avLst/>
          </a:prstGeom>
          <a:solidFill>
            <a:srgbClr val="DFEBE8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17:textLayout xmlns:ns17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送信側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087" y="3809390"/>
            <a:ext cx="8942832" cy="484631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equence-phase-label:1"/>
          <p:cNvSpPr txBox="1"/>
          <p:nvPr/>
        </p:nvSpPr>
        <p:spPr>
          <a:xfrm>
            <a:off x="1267815" y="3845966"/>
            <a:ext cx="1097280" cy="411479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Trunk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8087" y="4303166"/>
            <a:ext cx="8942832" cy="1014984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equence-phase-label:2"/>
          <p:cNvSpPr txBox="1"/>
          <p:nvPr/>
        </p:nvSpPr>
        <p:spPr>
          <a:xfrm>
            <a:off x="1267815" y="4339742"/>
            <a:ext cx="1097280" cy="512064"/>
          </a:xfrm>
          <a:prstGeom prst="rect">
            <a:avLst/>
          </a:prstGeom>
          <a:solidFill>
            <a:srgbClr val="DFEBE8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27:textLayout xmlns:ns27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受信側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8284" y="1983740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2:textLayout xmlns:ns32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18284" y="2404364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equence-lifeline:pc_a"/>
          <p:cNvCxnSpPr/>
          <p:nvPr/>
        </p:nvCxnSpPr>
        <p:spPr>
          <a:xfrm>
            <a:off x="2529687" y="2404364"/>
            <a:ext cx="0" cy="291378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95724" y="1983740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7:textLayout xmlns:ns37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95724" y="2404364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equence-lifeline:sw_a"/>
          <p:cNvCxnSpPr/>
          <p:nvPr/>
        </p:nvCxnSpPr>
        <p:spPr>
          <a:xfrm>
            <a:off x="4907127" y="2404364"/>
            <a:ext cx="0" cy="291378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73164" y="1983740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2:textLayout xmlns:ns42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73164" y="2404364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equence-lifeline:sw_b"/>
          <p:cNvCxnSpPr/>
          <p:nvPr/>
        </p:nvCxnSpPr>
        <p:spPr>
          <a:xfrm>
            <a:off x="7284567" y="2404364"/>
            <a:ext cx="0" cy="291378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50604" y="1983740"/>
            <a:ext cx="14228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 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50604" y="2404364"/>
            <a:ext cx="1422806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equence-lifeline:pc_b"/>
          <p:cNvCxnSpPr/>
          <p:nvPr/>
        </p:nvCxnSpPr>
        <p:spPr>
          <a:xfrm>
            <a:off x="9662007" y="2404364"/>
            <a:ext cx="0" cy="291378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equence-message-line:untagged_in"/>
          <p:cNvCxnSpPr/>
          <p:nvPr/>
        </p:nvCxnSpPr>
        <p:spPr>
          <a:xfrm>
            <a:off x="2529687" y="3077870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equence-message-label:untagged_in"/>
          <p:cNvSpPr txBox="1"/>
          <p:nvPr/>
        </p:nvSpPr>
        <p:spPr>
          <a:xfrm>
            <a:off x="2932023" y="2830982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3:textLayout xmlns:ns5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① タグなしで受信</a:t>
            </a:r>
          </a:p>
        </p:txBody>
      </p:sp>
      <p:cxnSp>
        <p:nvCxnSpPr>
          <p:cNvPr id="26" name="sequence-self-route:classify:out"/>
          <p:cNvCxnSpPr/>
          <p:nvPr/>
        </p:nvCxnSpPr>
        <p:spPr>
          <a:xfrm>
            <a:off x="4907127" y="3279769"/>
            <a:ext cx="493776" cy="0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equence-self-route:classify:turn"/>
          <p:cNvCxnSpPr/>
          <p:nvPr/>
        </p:nvCxnSpPr>
        <p:spPr>
          <a:xfrm>
            <a:off x="5400903" y="3279769"/>
            <a:ext cx="0" cy="291877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equence-self-route:classify:return"/>
          <p:cNvCxnSpPr/>
          <p:nvPr/>
        </p:nvCxnSpPr>
        <p:spPr>
          <a:xfrm flipH="1">
            <a:off x="4907127" y="3571646"/>
            <a:ext cx="493776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equence-message-label:classify"/>
          <p:cNvSpPr txBox="1"/>
          <p:nvPr/>
        </p:nvSpPr>
        <p:spPr>
          <a:xfrm>
            <a:off x="5492343" y="3324758"/>
            <a:ext cx="1005840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9:textLayout xmlns:ns59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② 受信ポートから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10へ分類</a:t>
            </a:r>
          </a:p>
        </p:txBody>
      </p:sp>
      <p:cxnSp>
        <p:nvCxnSpPr>
          <p:cNvPr id="30" name="sequence-message-line:tagged"/>
          <p:cNvCxnSpPr/>
          <p:nvPr/>
        </p:nvCxnSpPr>
        <p:spPr>
          <a:xfrm>
            <a:off x="4907127" y="4065422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equence-message-label:tagged"/>
          <p:cNvSpPr txBox="1"/>
          <p:nvPr/>
        </p:nvSpPr>
        <p:spPr>
          <a:xfrm>
            <a:off x="5309463" y="3818534"/>
            <a:ext cx="1572768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7:textLayout xmlns:ns6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③ VLAN 10タグを付けて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Trunkへ</a:t>
            </a:r>
          </a:p>
        </p:txBody>
      </p:sp>
      <p:cxnSp>
        <p:nvCxnSpPr>
          <p:cNvPr id="32" name="sequence-self-route:lookup:out"/>
          <p:cNvCxnSpPr/>
          <p:nvPr/>
        </p:nvCxnSpPr>
        <p:spPr>
          <a:xfrm>
            <a:off x="7284567" y="4267321"/>
            <a:ext cx="493776" cy="0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equence-self-route:lookup:turn"/>
          <p:cNvCxnSpPr/>
          <p:nvPr/>
        </p:nvCxnSpPr>
        <p:spPr>
          <a:xfrm>
            <a:off x="7778343" y="4267321"/>
            <a:ext cx="0" cy="291877"/>
          </a:xfrm>
          <a:prstGeom prst="line">
            <a:avLst/>
          </a:prstGeom>
          <a:ln w="15875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equence-self-route:lookup:return"/>
          <p:cNvCxnSpPr/>
          <p:nvPr/>
        </p:nvCxnSpPr>
        <p:spPr>
          <a:xfrm flipH="1">
            <a:off x="7284567" y="4559198"/>
            <a:ext cx="493776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equence-message-label:lookup"/>
          <p:cNvSpPr txBox="1"/>
          <p:nvPr/>
        </p:nvSpPr>
        <p:spPr>
          <a:xfrm>
            <a:off x="7869783" y="4312310"/>
            <a:ext cx="1005840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5:textLayout xmlns:ns75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④ 宛先MACから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出力ポートを決定</a:t>
            </a:r>
          </a:p>
        </p:txBody>
      </p:sp>
      <p:cxnSp>
        <p:nvCxnSpPr>
          <p:cNvPr id="36" name="sequence-message-line:untagged_out"/>
          <p:cNvCxnSpPr/>
          <p:nvPr/>
        </p:nvCxnSpPr>
        <p:spPr>
          <a:xfrm>
            <a:off x="7284567" y="5052974"/>
            <a:ext cx="2377440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equence-message-label:untagged_out"/>
          <p:cNvSpPr txBox="1"/>
          <p:nvPr/>
        </p:nvSpPr>
        <p:spPr>
          <a:xfrm>
            <a:off x="7686903" y="4806086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3:textLayout xmlns:ns8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⑤ タグを外してAccessへ送出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8:textLayout xmlns:ns88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3:textLayout xmlns:ns93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通信機器の判断材料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ARPキャッシュ・MACアドレス表・ルーティングテーブル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4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1872"/>
                <a:gridCol w="3307994"/>
                <a:gridCol w="3307994"/>
                <a:gridCol w="3307994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ARPキャッシュ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MACアドレス表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ルーティングテーブル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主に持つ機器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端末、ルータ、L3スイッチ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L2スイッチ、L3スイッチ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ルータ、L3スイッチ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対応関係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次に渡す相手のIPアドレス → MACアドレス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2:textLayout xmlns:ns6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VLAN ID + 宛先MACアドレス → 出力ポート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7:textLayout xmlns:ns6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宛先IPプレフィックス → 次ホップ / 出力先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72:textLayout xmlns:ns7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通信での役割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77:textLayout xmlns:ns7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フレームの宛先MACアドレスを決める。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2:textLayout xmlns:ns8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同じVLAN内でフレームの出力ポートを決める。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7:textLayout xmlns:ns8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異なるIPネットワークへIPパケットを中継する。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850392">
                <a:tc>
                  <a:txBody>
                    <a:bodyPr wrap="square">
                      <a:extLst>
                        <a:ext uri="{8AF73BB6-5E31-4F0F-A399-3D98F3B95FD9}">
                          <ns92:textLayout xmlns:ns9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未登録の場合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7:textLayout xmlns:ns9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ARP要求でMACアドレスを問い合わせる。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02:textLayout xmlns:ns10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同じVLAN内へフレームを広げて宛先を探す。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07:textLayout xmlns:ns10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最終候補の経路であるデフォルトルートを使うか、経路がなければ破棄する。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12:textLayout xmlns:ns11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MACアドレス表はVLANごとに独立しており、MACエントリを追加するだけではVLAN境界を越えられない。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17:textLayout xmlns:ns11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22:textLayout xmlns:ns12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異なるVLAN間の通信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VLAN間ルーティング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左上から右下へ追います。①端末はデフォルトゲートウェイのMACアドレス宛てに送り、②VLAN 10タグでL3スイッチへ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渡し、③宛先IPの経路を検索した後、④VLAN 20向けの新しいL2フレームを作り、⑤宛先端末へタグなしで送ります。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39" y="2092960"/>
            <a:ext cx="3563416" cy="1673351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7" y="2147824"/>
            <a:ext cx="194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9:textLayout xmlns:ns19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VLAN 10 / 192.168.10.0/24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2438" y="4233672"/>
            <a:ext cx="3563416" cy="1673352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2166" y="4288536"/>
            <a:ext cx="194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4:textLayout xmlns:ns2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VLAN 20 / 192.168.20.0/24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65376" y="2851912"/>
            <a:ext cx="1717471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3199" y="2851912"/>
            <a:ext cx="858736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71935" y="2851912"/>
            <a:ext cx="0" cy="1070356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71935" y="3922268"/>
            <a:ext cx="858736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1023" y="3922268"/>
            <a:ext cx="858736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19759" y="3922268"/>
            <a:ext cx="0" cy="1070356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19759" y="4992624"/>
            <a:ext cx="858736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08847" y="4992624"/>
            <a:ext cx="171747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641600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2161" y="3107943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33:textLayout xmlns:ns3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8143" y="3363976"/>
            <a:ext cx="90411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38:textLayout xmlns:ns3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192.168.10.10</a:t>
            </a:r>
          </a:p>
        </p:txBody>
      </p:sp>
      <p:pic>
        <p:nvPicPr>
          <p:cNvPr id="21" name="Picture 20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711" y="2641600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01110" y="3107943"/>
            <a:ext cx="89382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3:textLayout xmlns:ns4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5106" y="3363976"/>
            <a:ext cx="965835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8:textLayout xmlns:ns4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10を転送</a:t>
            </a:r>
          </a:p>
        </p:txBody>
      </p:sp>
      <p:pic>
        <p:nvPicPr>
          <p:cNvPr id="24" name="Picture 23" descr="rou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535" y="3711955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48934" y="4178300"/>
            <a:ext cx="89382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3:textLayout xmlns:ns5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L3スイッチ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2643" y="4434332"/>
            <a:ext cx="986409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8:textLayout xmlns:ns5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③ IP経路を検索</a:t>
            </a:r>
          </a:p>
        </p:txBody>
      </p:sp>
      <p:pic>
        <p:nvPicPr>
          <p:cNvPr id="27" name="Picture 26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359" y="4782312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96758" y="5248656"/>
            <a:ext cx="89382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3:textLayout xmlns:ns6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0753" y="5504688"/>
            <a:ext cx="965835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8:textLayout xmlns:ns6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20を転送</a:t>
            </a:r>
          </a:p>
        </p:txBody>
      </p:sp>
      <p:pic>
        <p:nvPicPr>
          <p:cNvPr id="30" name="Picture 29" descr="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83" y="4782312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83456" y="5248656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3:textLayout xmlns:ns7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9438" y="5504688"/>
            <a:ext cx="90411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8:textLayout xmlns:ns7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192.168.20.20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5454" y="2625788"/>
            <a:ext cx="1377315" cy="14135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3:textLayout xmlns:ns8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ゲートウェイのMAC宛て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8157" y="3305937"/>
            <a:ext cx="102755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8:textLayout xmlns:ns88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② タグ10でL3へ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5981" y="4376293"/>
            <a:ext cx="102755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3:textLayout xmlns:ns9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④ タグ20でL2へ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2656" y="4756023"/>
            <a:ext cx="110985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8:textLayout xmlns:ns98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⑤ タグなしで送信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3:textLayout xmlns:ns103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L2スイッチは同じVLAN内だけを転送します。VLAN境界を越えるのはL3スイッチであり、受信したL2ヘッダーを外してIP経路を選び、送信側VLAN向けのL2ヘッダーを新しく作ります。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8:textLayout xmlns:ns108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13:textLayout xmlns:ns113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SVI・RP・転送エンジン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L3スイッチ内部の転送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横方向はデータ転送です。SVI（VLANごとのL3インターフェース）で受信し、転送エンジンがFIB（転送先表）から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出力先を選びます。縦方向はRP（Route Processor）が作る経路・隣接情報の反映です。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1647" y="2430830"/>
            <a:ext cx="5948400" cy="3063239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1375" y="2485694"/>
            <a:ext cx="8241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9:textLayout xmlns:ns19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L3スイッチ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4506518"/>
            <a:ext cx="1571167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86351" y="4506518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34175" y="4506518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1999" y="4506518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601262"/>
            <a:ext cx="0" cy="566928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4223054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2161" y="4835702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30:textLayout xmlns:ns3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8143" y="5091734"/>
            <a:ext cx="90411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35:textLayout xmlns:ns3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192.168.10.10</a:t>
            </a:r>
          </a:p>
        </p:txBody>
      </p:sp>
      <p:pic>
        <p:nvPicPr>
          <p:cNvPr id="16" name="Picture 15" descr="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4223054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95967" y="4835702"/>
            <a:ext cx="904113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0:textLayout xmlns:ns4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SVI Vlan10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7903" y="5091734"/>
            <a:ext cx="1920240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5:textLayout xmlns:ns4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10の受信L3インターフェース</a:t>
            </a:r>
          </a:p>
        </p:txBody>
      </p:sp>
      <p:pic>
        <p:nvPicPr>
          <p:cNvPr id="19" name="Picture 18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83" y="4223054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7212" y="4835702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0:textLayout xmlns:ns5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転送エンジン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4894" y="5091734"/>
            <a:ext cx="15419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5:textLayout xmlns:ns5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FIB検索・L2ヘッダー更新</a:t>
            </a:r>
          </a:p>
        </p:txBody>
      </p:sp>
      <p:pic>
        <p:nvPicPr>
          <p:cNvPr id="22" name="Picture 21" descr="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207" y="4223054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91614" y="4835702"/>
            <a:ext cx="904113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0:textLayout xmlns:ns6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SVI Vlan20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3551" y="5091734"/>
            <a:ext cx="1920240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5:textLayout xmlns:ns6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20の送信L3インターフェース</a:t>
            </a:r>
          </a:p>
        </p:txBody>
      </p:sp>
      <p:pic>
        <p:nvPicPr>
          <p:cNvPr id="25" name="Picture 24" descr="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031" y="4223054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83456" y="4835702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0:textLayout xmlns:ns7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9438" y="5091734"/>
            <a:ext cx="90411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5:textLayout xmlns:ns7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192.168.20.20</a:t>
            </a:r>
          </a:p>
        </p:txBody>
      </p:sp>
      <p:pic>
        <p:nvPicPr>
          <p:cNvPr id="28" name="Picture 27" descr="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383" y="2979470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7257" y="3592118"/>
            <a:ext cx="29718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0:textLayout xmlns:ns80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1759" y="3848150"/>
            <a:ext cx="140817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5:textLayout xmlns:ns85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RIBを作る制御プレーン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5167" y="4273410"/>
            <a:ext cx="1397889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0:textLayout xmlns:ns90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① ゲートウェイMAC宛て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3278" y="4269917"/>
            <a:ext cx="1377315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5:textLayout xmlns:ns95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② IPパケットをL3受信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7106" y="4269917"/>
            <a:ext cx="130530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00:textLayout xmlns:ns100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③ FIBで出力先を決定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925" y="4280395"/>
            <a:ext cx="1377315" cy="14135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05:textLayout xmlns:ns105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④ 新しいL2ヘッダーで送出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5395" y="4050461"/>
            <a:ext cx="95554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10:textLayout xmlns:ns110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制御情報を反映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15:textLayout xmlns:ns115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SVIはVLANごとの論理L3インターフェースです。RP（Route Processor）は経路情報をRIB（Routing Information Base）へまとめ、転送用のFIB（Forwarding Information Base）と隣接情報を転送エンジンへ反映します。通常のデータパケットは転送エンジンが処理します。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0:textLayout xmlns:ns120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25:textLayout xmlns:ns125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外部ルーターによる中継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ルーターの802.1Qサブインターフェース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447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左側のL2スイッチは端末フレームをVLAN 10または20へ分類し、Trunkでタグを付けて送ります。右側の物理ポートGi0/0は</a:t>
            </a:r>
          </a:p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IDを判別し、VLANごとの論理L3インターフェースへ渡します。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8874" y="2092960"/>
            <a:ext cx="1853945" cy="3576320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8602" y="2147824"/>
            <a:ext cx="8241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9:textLayout xmlns:ns19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0504" y="2092960"/>
            <a:ext cx="2141982" cy="3814064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30232" y="2147824"/>
            <a:ext cx="649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4:textLayout xmlns:ns2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ルーター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65376" y="2851912"/>
            <a:ext cx="3965295" cy="0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65376" y="4992624"/>
            <a:ext cx="3965295" cy="0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117088"/>
            <a:ext cx="0" cy="540003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95847" y="4187444"/>
            <a:ext cx="0" cy="540004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1023" y="3922268"/>
            <a:ext cx="3965296" cy="0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591495" y="3117088"/>
            <a:ext cx="0" cy="540003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91495" y="4187444"/>
            <a:ext cx="0" cy="540004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641600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2161" y="3107943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3:textLayout xmlns:ns4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2448" y="3363976"/>
            <a:ext cx="59550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48:textLayout xmlns:ns4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pic>
        <p:nvPicPr>
          <p:cNvPr id="20" name="Picture 19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5" y="2641600"/>
            <a:ext cx="420624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3194" y="3107943"/>
            <a:ext cx="130530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3:textLayout xmlns:ns5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Access VLAN 10</a:t>
            </a:r>
          </a:p>
        </p:txBody>
      </p:sp>
      <p:pic>
        <p:nvPicPr>
          <p:cNvPr id="22" name="Picture 2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535" y="3711955"/>
            <a:ext cx="420624" cy="4206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46064" y="4178300"/>
            <a:ext cx="109956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58:textLayout xmlns:ns58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802.1Q Trunk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750" y="4434332"/>
            <a:ext cx="1552194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3:textLayout xmlns:ns63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10・20を1本で運ぶ</a:t>
            </a:r>
          </a:p>
        </p:txBody>
      </p:sp>
      <p:pic>
        <p:nvPicPr>
          <p:cNvPr id="25" name="Picture 24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5" y="4782312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43194" y="5248656"/>
            <a:ext cx="130530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8:textLayout xmlns:ns68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Access VLAN 20</a:t>
            </a:r>
          </a:p>
        </p:txBody>
      </p:sp>
      <p:pic>
        <p:nvPicPr>
          <p:cNvPr id="27" name="Picture 26" descr="gate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83" y="2641600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21734" y="3107943"/>
            <a:ext cx="73952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3:textLayout xmlns:ns7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Gi0/0.10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389" y="3363976"/>
            <a:ext cx="169621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8:textLayout xmlns:ns7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10 / GW 192.168.10.1</a:t>
            </a:r>
          </a:p>
        </p:txBody>
      </p:sp>
      <p:pic>
        <p:nvPicPr>
          <p:cNvPr id="30" name="Picture 29" descr="ether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183" y="3711955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94824" y="4178300"/>
            <a:ext cx="1593342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3:textLayout xmlns:ns8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Gi0/0（物理ポート）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1425" y="4434332"/>
            <a:ext cx="112014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8:textLayout xmlns:ns8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802.1Qタグを判別</a:t>
            </a:r>
          </a:p>
        </p:txBody>
      </p:sp>
      <p:pic>
        <p:nvPicPr>
          <p:cNvPr id="33" name="Picture 32" descr="gate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83" y="4782312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21734" y="5248656"/>
            <a:ext cx="73952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3:textLayout xmlns:ns9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Gi0/0.20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3389" y="5504688"/>
            <a:ext cx="169621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8:textLayout xmlns:ns9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20 / GW 192.168.20.1</a:t>
            </a:r>
          </a:p>
        </p:txBody>
      </p:sp>
      <p:pic>
        <p:nvPicPr>
          <p:cNvPr id="36" name="Picture 35" descr="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888" y="4782312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2161" y="5248656"/>
            <a:ext cx="61607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03:textLayout xmlns:ns103="urn:pptxdsl:text-layout:v1" role="natural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02448" y="5504688"/>
            <a:ext cx="59550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08:textLayout xmlns:ns108="urn:pptxdsl:text-layout:v1" role="compact"/>
              </a:ext>
            </a:extLst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5415" y="2615311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13:textLayout xmlns:ns11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5415" y="4756023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18:textLayout xmlns:ns118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8096" y="3433952"/>
            <a:ext cx="59550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23:textLayout xmlns:ns12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8592" y="4623181"/>
            <a:ext cx="59550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28:textLayout xmlns:ns128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7596" y="3685667"/>
            <a:ext cx="1192149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33:textLayout xmlns:ns13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802.1Qタグ 10 / 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9316" y="3552824"/>
            <a:ext cx="113042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38:textLayout xmlns:ns138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ID 10で分類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9316" y="4623181"/>
            <a:ext cx="113042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43:textLayout xmlns:ns143="urn:pptxdsl:text-layout:v1" role="compact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ID 20で分類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48:textLayout xmlns:ns148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サブインターフェースは、1本の物理ポート上に作る論理L3インターフェースです。Gi0/0.10とGi0/0.20は、それぞれVLAN 10と20を終端し、各VLANのデフォルトゲートウェイIPを持ちます。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53:textLayout xmlns:ns153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58:textLayout xmlns:ns158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 10からVLAN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サブインターフェース間の転送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送信元・宛先IPアドレスは維持し、MACアドレスとVLANタグはルーティング区間ごとに作り直す。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167" y="2683581"/>
            <a:ext cx="9948672" cy="978408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sequence-phase-label:0"/>
          <p:cNvSpPr txBox="1"/>
          <p:nvPr/>
        </p:nvSpPr>
        <p:spPr>
          <a:xfrm>
            <a:off x="764895" y="2720157"/>
            <a:ext cx="1097280" cy="512064"/>
          </a:xfrm>
          <a:prstGeom prst="rect">
            <a:avLst/>
          </a:prstGeom>
          <a:solidFill>
            <a:srgbClr val="DFEBE8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17:textLayout xmlns:ns17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受信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167" y="3671133"/>
            <a:ext cx="9948672" cy="9784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equence-phase-label:1"/>
          <p:cNvSpPr txBox="1"/>
          <p:nvPr/>
        </p:nvSpPr>
        <p:spPr>
          <a:xfrm>
            <a:off x="764895" y="3707709"/>
            <a:ext cx="1097280" cy="512064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ルーティング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167" y="4658685"/>
            <a:ext cx="9948672" cy="1014984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equence-phase-label:2"/>
          <p:cNvSpPr txBox="1"/>
          <p:nvPr/>
        </p:nvSpPr>
        <p:spPr>
          <a:xfrm>
            <a:off x="764895" y="4695261"/>
            <a:ext cx="1097280" cy="512064"/>
          </a:xfrm>
          <a:prstGeom prst="rect">
            <a:avLst/>
          </a:prstGeom>
          <a:solidFill>
            <a:srgbClr val="DFEBE8"/>
          </a:solidFill>
        </p:spPr>
        <p:txBody>
          <a:bodyPr wrap="none" anchor="t" lIns="0" rIns="0" tIns="0" bIns="0">
            <a:spAutoFit/>
            <a:extLst>
              <a:ext uri="{8AF73BB6-5E31-4F0F-A399-3D98F3B95FD9}">
                <ns27:textLayout xmlns:ns27="urn:pptxdsl:text-layout:v1" role="compact"/>
              </a:ext>
            </a:extLst>
          </a:bodyPr>
          <a:lstStyle/>
          <a:p>
            <a:pPr algn="l">
              <a:lnSpc>
                <a:spcPct val="105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送信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3121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2:textLayout xmlns:ns32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営業PC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03121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equence-lifeline:pc10"/>
          <p:cNvCxnSpPr/>
          <p:nvPr/>
        </p:nvCxnSpPr>
        <p:spPr>
          <a:xfrm>
            <a:off x="2026767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30753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7:textLayout xmlns:ns37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L2スイッチ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0753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equence-lifeline:switch"/>
          <p:cNvCxnSpPr/>
          <p:nvPr/>
        </p:nvCxnSpPr>
        <p:spPr>
          <a:xfrm>
            <a:off x="3654399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8385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2:textLayout xmlns:ns42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Gi0/0.10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8385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equence-lifeline:sub10"/>
          <p:cNvCxnSpPr/>
          <p:nvPr/>
        </p:nvCxnSpPr>
        <p:spPr>
          <a:xfrm>
            <a:off x="5282031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6017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IP</a:t>
            </a:r>
          </a:p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ルーティング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86017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equence-lifeline:routing"/>
          <p:cNvCxnSpPr/>
          <p:nvPr/>
        </p:nvCxnSpPr>
        <p:spPr>
          <a:xfrm>
            <a:off x="6909663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13649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4:textLayout xmlns:ns54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Gi0/0.20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13649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equence-lifeline:sub20"/>
          <p:cNvCxnSpPr/>
          <p:nvPr/>
        </p:nvCxnSpPr>
        <p:spPr>
          <a:xfrm>
            <a:off x="8537295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41281" y="1983740"/>
            <a:ext cx="1047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9:textLayout xmlns:ns59="urn:pptxdsl:text-layout:v1" role="compact"/>
              </a:ext>
            </a:extLst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開発PC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41281" y="2404364"/>
            <a:ext cx="1047293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equence-lifeline:pc20"/>
          <p:cNvCxnSpPr/>
          <p:nvPr/>
        </p:nvCxnSpPr>
        <p:spPr>
          <a:xfrm>
            <a:off x="10164927" y="2404364"/>
            <a:ext cx="0" cy="3269305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equence-message-line:m1"/>
          <p:cNvCxnSpPr/>
          <p:nvPr/>
        </p:nvCxnSpPr>
        <p:spPr>
          <a:xfrm>
            <a:off x="2026767" y="2939613"/>
            <a:ext cx="1627632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equence-message-label:m1"/>
          <p:cNvSpPr txBox="1"/>
          <p:nvPr/>
        </p:nvSpPr>
        <p:spPr>
          <a:xfrm>
            <a:off x="2072487" y="2692725"/>
            <a:ext cx="1536192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65:textLayout xmlns:ns65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① ゲートウェイ宛て・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タグなし</a:t>
            </a:r>
          </a:p>
        </p:txBody>
      </p:sp>
      <p:cxnSp>
        <p:nvCxnSpPr>
          <p:cNvPr id="32" name="sequence-message-line:m2"/>
          <p:cNvCxnSpPr/>
          <p:nvPr/>
        </p:nvCxnSpPr>
        <p:spPr>
          <a:xfrm>
            <a:off x="3654399" y="3433389"/>
            <a:ext cx="1627632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quence-message-label:m2"/>
          <p:cNvSpPr txBox="1"/>
          <p:nvPr/>
        </p:nvSpPr>
        <p:spPr>
          <a:xfrm>
            <a:off x="3700119" y="3186501"/>
            <a:ext cx="1536192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3:textLayout xmlns:ns7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② VLAN 10タグでGi0/0.10へ</a:t>
            </a:r>
          </a:p>
        </p:txBody>
      </p:sp>
      <p:cxnSp>
        <p:nvCxnSpPr>
          <p:cNvPr id="34" name="sequence-message-line:m3"/>
          <p:cNvCxnSpPr/>
          <p:nvPr/>
        </p:nvCxnSpPr>
        <p:spPr>
          <a:xfrm>
            <a:off x="5282031" y="3927165"/>
            <a:ext cx="1627632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equence-message-label:m3"/>
          <p:cNvSpPr txBox="1"/>
          <p:nvPr/>
        </p:nvSpPr>
        <p:spPr>
          <a:xfrm>
            <a:off x="5327751" y="3680277"/>
            <a:ext cx="1536192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79:textLayout xmlns:ns79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③ タグを外してIPパケットを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受信</a:t>
            </a:r>
          </a:p>
        </p:txBody>
      </p:sp>
      <p:cxnSp>
        <p:nvCxnSpPr>
          <p:cNvPr id="36" name="sequence-message-line:m4"/>
          <p:cNvCxnSpPr/>
          <p:nvPr/>
        </p:nvCxnSpPr>
        <p:spPr>
          <a:xfrm>
            <a:off x="6909663" y="4420941"/>
            <a:ext cx="1627632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equence-message-label:m4"/>
          <p:cNvSpPr txBox="1"/>
          <p:nvPr/>
        </p:nvSpPr>
        <p:spPr>
          <a:xfrm>
            <a:off x="6955383" y="4174053"/>
            <a:ext cx="1536192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87:textLayout xmlns:ns87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④ 経路検索・Gi0/0.20を選択</a:t>
            </a:r>
          </a:p>
        </p:txBody>
      </p:sp>
      <p:cxnSp>
        <p:nvCxnSpPr>
          <p:cNvPr id="38" name="sequence-message-line:m5"/>
          <p:cNvCxnSpPr/>
          <p:nvPr/>
        </p:nvCxnSpPr>
        <p:spPr>
          <a:xfrm flipH="1">
            <a:off x="3654399" y="4914717"/>
            <a:ext cx="4882896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equence-message-label:m5"/>
          <p:cNvSpPr txBox="1"/>
          <p:nvPr/>
        </p:nvSpPr>
        <p:spPr>
          <a:xfrm>
            <a:off x="5309463" y="4667829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93:textLayout xmlns:ns93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⑤ 新しいMAC・VLAN 20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タグで送出</a:t>
            </a:r>
          </a:p>
        </p:txBody>
      </p:sp>
      <p:cxnSp>
        <p:nvCxnSpPr>
          <p:cNvPr id="40" name="sequence-message-line:m6"/>
          <p:cNvCxnSpPr/>
          <p:nvPr/>
        </p:nvCxnSpPr>
        <p:spPr>
          <a:xfrm>
            <a:off x="3654399" y="5408493"/>
            <a:ext cx="6510528" cy="0"/>
          </a:xfrm>
          <a:prstGeom prst="line">
            <a:avLst/>
          </a:prstGeom>
          <a:ln w="15875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equence-message-label:m6"/>
          <p:cNvSpPr txBox="1"/>
          <p:nvPr/>
        </p:nvSpPr>
        <p:spPr>
          <a:xfrm>
            <a:off x="6123279" y="5161605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  <a:extLst>
              <a:ext uri="{8AF73BB6-5E31-4F0F-A399-3D98F3B95FD9}">
                <ns101:textLayout xmlns:ns101="urn:pptxdsl:text-layout:v1" role="compact"/>
              </a:ext>
            </a:extLst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⑥ タグを外してAccessへ送出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6:textLayout xmlns:ns106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11:textLayout xmlns:ns111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VLAN間ルーティング方式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SVIとルーターサブインターフェース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4" cy="4059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4276"/>
                <a:gridCol w="3702381"/>
                <a:gridCol w="5119197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L3スイッチのSVI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ルーターのサブインターフェース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論理インターフェース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interface Vlan10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interface Gi0/0.10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VLANとの結び付け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SVI番号をVLAN IDへ対応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encapsulation dot1Q 10で指定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物理接続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2:textLayout xmlns:ns6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スイッチ内部のVLANとL3転送を接続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7:textLayout xmlns:ns6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1本のルーターポートで複数VLANを終端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72:textLayout xmlns:ns7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転送処理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77:textLayout xmlns:ns7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転送エンジンがSVI間を中継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2:textLayout xmlns:ns8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ルーターの転送機能がサブインターフェース間を中継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680313">
                <a:tc>
                  <a:txBody>
                    <a:bodyPr wrap="square">
                      <a:extLst>
                        <a:ext uri="{8AF73BB6-5E31-4F0F-A399-3D98F3B95FD9}">
                          <ns87:textLayout xmlns:ns8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主な利用場面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2:textLayout xmlns:ns9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L3スイッチで多数VLANを収容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7:textLayout xmlns:ns9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外部ルーターへVLAN間中継を集約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02:textLayout xmlns:ns10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どちらもVLANごとのL3インターフェースへIPアドレスを持たせ、端末のデフォルトゲートウェイとして使います。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7:textLayout xmlns:ns107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12:textLayout xmlns:ns112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Cisco IOS XE設定例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L3スイッチのSVI設定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VLANの作成、SVIのIP設定、IPルーティング有効化を一組で構成する。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SVIを作成してL3転送を有効化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33563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ip routing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vlan 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name SALES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vlan 20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name DEV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!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Vlan10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ip address 192.168.10.1 255.255.255.0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no shutdown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Vlan20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ip address 192.168.20.1 255.255.255.0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no shutdown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9:textLayout xmlns:ns49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設定の読み方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4:textLayout xmlns:ns5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3" y="2678684"/>
            <a:ext cx="3495751" cy="10639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9:textLayout xmlns:ns59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ip routingは、L3スイッチのIP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ルーティングを有効にする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3" y="3779181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834045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6:textLayout xmlns:ns66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815757"/>
            <a:ext cx="3495751" cy="10639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1:textLayout xmlns:ns71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interface Vlan10とVlan20は、各VLANのL3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インターフェースを作る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4916254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97111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8:textLayout xmlns:ns78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4952830"/>
            <a:ext cx="3495751" cy="10639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3:textLayout xmlns:ns83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192.168.10.1と192.168.20.1は、各VLANの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端末が使うデフォルトゲートウェイになる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0:textLayout xmlns:ns90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5:textLayout xmlns:ns95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Cisco IOS XE show出力例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SVIの状態と直結経路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SVIはIPアドレスだけでなく、up / upと直結経路の両方を確認する。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SVIのIPアドレスと稼働状態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Switch# show ip int brief | include Vlan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Vlan10  192.168.10.1  YES manual  up  up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Vlan20  192.168.20.1  YES manual  up 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393438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1:textLayout xmlns:ns31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ルーティングテーブルの直結経路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713477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6:textLayout xmlns:ns36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Switch# show ip route connected | include ^C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C 192.168.10.0/24 is directly connected, Vlan10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C 192.168.20.0/24 is directly connected, Vlan20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5:textLayout xmlns:ns45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出力から読む状態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0:textLayout xmlns:ns50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678684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5:textLayout xmlns:ns55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Vlan10とVlan20がup / upで、L3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インターフェースとして利用できる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3" y="349491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54977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3531489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SVIのline protocolは、対応VLANと接続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ポートの状態にも連動する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4347717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40258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4:textLayout xmlns:ns7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4384293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9:textLayout xmlns:ns79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Cで始まる直結経路が、対応するVlan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インターフェースへ登録されている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520052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525538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6:textLayout xmlns:ns86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237098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1:textLayout xmlns:ns91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端末のデフォルトゲートウェイが、所属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VLANのSVIアドレスを指している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8:textLayout xmlns:ns98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03:textLayout xmlns:ns103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Cisco IOS XE設定例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ルーターサブインターフェースの設定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親ポート、802.1Q VLAN ID、IPアドレス、対向Trunkを一組で構成する。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物理ポートをVLAN別の論理IFへ分割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33563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Gi0/0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no ip address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no shutdown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!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Gi0/0.10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encapsulation dot1Q 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ip address 192.168.10.1 255.255.255.0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!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Gi0/0.20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encapsulation dot1Q 20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ip address 192.168.20.1 255.255.255.0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設定の読み方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3" y="2678684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親インターフェースGi0/0は、VLANを運ぶ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物理リンクとして使う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3" y="349491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54977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4:textLayout xmlns:ns6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531489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9:textLayout xmlns:ns69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encapsulation dot1Q 10と20は、各論理IFへ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対応するVLAN IDを指定する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4347717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40258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6:textLayout xmlns:ns76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4384293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1:textLayout xmlns:ns81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Gi0/0.10とGi0/0.20のIPアドレスは、各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VLANのデフォルトゲートウェイになる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3" y="520052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525538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8:textLayout xmlns:ns88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5237098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3:textLayout xmlns:ns93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対向スイッチのTrunkでも、VLAN 10と20を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作成・許可する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0:textLayout xmlns:ns100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05:textLayout xmlns:ns105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Cisco IOS XE show出力例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サブインターフェースの状態と直結経路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サブインターフェースは親ポートの状態、論理IFのIP、直結経路を続けて確認する。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親ポートとサブインターフェース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Router# show ip int brief | include GigabitEthernet0/0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GigabitEthernet0/0     unassigned      YES unset   up  up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GigabitEthernet0/0.10  192.168.10.1   YES manual  up  up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GigabitEthernet0/0.20  192.168.20.1   YES manual  up 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393438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3:textLayout xmlns:ns33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ルーティングテーブルの直結経路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713477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38:textLayout xmlns:ns38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Router# show ip route connected | include ^C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C 192.168.10.0/24 is directly connected, GigabitEthernet0/0.10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C 192.168.20.0/24 is directly connected, GigabitEthernet0/0.20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出力から読む状態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678684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親インターフェースGi0/0がup / upで、IP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アドレスを持たない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3" y="349491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54977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4:textLayout xmlns:ns64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3531489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9:textLayout xmlns:ns69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Gi0/0.10とGi0/0.20がup / upで、それぞれ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ゲートウェイIPを持つ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4347717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40258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6:textLayout xmlns:ns76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4384293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1:textLayout xmlns:ns81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dot1QのVLAN IDが、対向スイッチの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Trunkで許可するVLANと一致している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520052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525538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8:textLayout xmlns:ns88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237098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3:textLayout xmlns:ns93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直結経路の出力先が、対応する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サブインターフェースになっている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0:textLayout xmlns:ns100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05:textLayout xmlns:ns105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混同しやすい概念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VLANとIPサブネット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92224"/>
          <a:ext cx="11185853" cy="43342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436"/>
                <a:gridCol w="3559306"/>
                <a:gridCol w="5083111"/>
              </a:tblGrid>
              <a:tr h="658368">
                <a:tc>
                  <a:txBody>
                    <a:bodyPr wrap="square">
                      <a:extLst>
                        <a:ext uri="{8AF73BB6-5E31-4F0F-A399-3D98F3B95FD9}">
                          <ns12:textLayout xmlns:ns1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17:textLayout xmlns:ns1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VLAN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22:textLayout xmlns:ns2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IPサブネット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735177">
                <a:tc>
                  <a:txBody>
                    <a:bodyPr wrap="square">
                      <a:extLst>
                        <a:ext uri="{8AF73BB6-5E31-4F0F-A399-3D98F3B95FD9}">
                          <ns27:textLayout xmlns:ns2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主な層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2:textLayout xmlns:ns3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L2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37:textLayout xmlns:ns3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L3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735177">
                <a:tc>
                  <a:txBody>
                    <a:bodyPr wrap="square">
                      <a:extLst>
                        <a:ext uri="{8AF73BB6-5E31-4F0F-A399-3D98F3B95FD9}">
                          <ns42:textLayout xmlns:ns4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識別子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47:textLayout xmlns:ns4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VLAN ID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52:textLayout xmlns:ns5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ネットワークアドレス / プレフィックス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735177">
                <a:tc>
                  <a:txBody>
                    <a:bodyPr wrap="square">
                      <a:extLst>
                        <a:ext uri="{8AF73BB6-5E31-4F0F-A399-3D98F3B95FD9}">
                          <ns57:textLayout xmlns:ns5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分ける範囲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2:textLayout xmlns:ns6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ブロードキャストドメイン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67:textLayout xmlns:ns6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IPアドレスとルーティングの範囲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735177">
                <a:tc>
                  <a:txBody>
                    <a:bodyPr wrap="square">
                      <a:extLst>
                        <a:ext uri="{8AF73BB6-5E31-4F0F-A399-3D98F3B95FD9}">
                          <ns72:textLayout xmlns:ns7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境界を越える方法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77:textLayout xmlns:ns7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L3機器へ渡す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82:textLayout xmlns:ns8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ルータが経路選択する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735177">
                <a:tc>
                  <a:txBody>
                    <a:bodyPr wrap="square">
                      <a:extLst>
                        <a:ext uri="{8AF73BB6-5E31-4F0F-A399-3D98F3B95FD9}">
                          <ns87:textLayout xmlns:ns8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一般的な設計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2:textLayout xmlns:ns92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1 VLAN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>
                      <a:extLst>
                        <a:ext uri="{8AF73BB6-5E31-4F0F-A399-3D98F3B95FD9}">
                          <ns97:textLayout xmlns:ns97="urn:pptxdsl:text-layout:v1" role="compact"/>
                        </a:ext>
                      </a:extLst>
                    </a:bodyPr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1 IPサブネットを対応させる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2:textLayout xmlns:ns10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07:textLayout xmlns:ns10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設定と確認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VLANの設定と確認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設定後は、意図したVLAN所属、Trunkの許可VLAN、対向機器との一致を確認する。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Access: 端末ポートをVLAN 10へ所属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22:textLayout xmlns:ns2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vlan 10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name SALES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!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Gi1/0/1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switchport mode access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switchport access vlan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393438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Trunk: VLAN 10と20を許可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713477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  <a:extLst>
              <a:ext uri="{8AF73BB6-5E31-4F0F-A399-3D98F3B95FD9}">
                <ns42:textLayout xmlns:ns42="urn:pptxdsl:text-layout:v1" role="compact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interface Gi1/0/24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switchport mode trunk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switchport trunk allowed vlan 10,20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1:textLayout xmlns:ns51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投入後に確認する状態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6:textLayout xmlns:ns56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678684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1:textLayout xmlns:ns61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show vlan briefで、Gi1/0/1がVLAN 10に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所属している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3" y="349491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54977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8:textLayout xmlns:ns68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3531489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3:textLayout xmlns:ns73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show interfaces trunkで、Gi1/0/24が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Trunkとして動作している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4347717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40258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0:textLayout xmlns:ns80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4384293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5:textLayout xmlns:ns85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 10と20が、Trunkの許可VLANへ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含まれている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520052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525538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2:textLayout xmlns:ns9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237098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97:textLayout xmlns:ns97="urn:pptxdsl:text-layout:v1" role="body"/>
              </a:ext>
            </a:extLst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対向スイッチでも同じVLANが作成・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許可されている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04:textLayout xmlns:ns104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109:textLayout xmlns:ns109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障害切り分け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VLAN障害の切り分け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2:textLayout xmlns:ns12="urn:pptxdsl:text-layout:v1" role="body"/>
              </a:ext>
            </a:extLst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疎通できないときは、物理、Access、Trunk、MACアドレス表、L3の順に境界を確認します。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4908" y="2542941"/>
            <a:ext cx="8573414" cy="3200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444" y="2277765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444" y="2360061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79682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物理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00412"/>
            <a:ext cx="183245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リンク状態とポートエラーを確認する。</a:t>
            </a:r>
          </a:p>
        </p:txBody>
      </p:sp>
      <p:sp>
        <p:nvSpPr>
          <p:cNvPr id="11" name="Oval 10"/>
          <p:cNvSpPr/>
          <p:nvPr/>
        </p:nvSpPr>
        <p:spPr>
          <a:xfrm>
            <a:off x="3644798" y="2277765"/>
            <a:ext cx="566928" cy="56692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4798" y="2360061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25" y="2979682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2033" y="3500412"/>
            <a:ext cx="183245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端末ポートのVLAN IDを確認する。</a:t>
            </a:r>
          </a:p>
        </p:txBody>
      </p:sp>
      <p:sp>
        <p:nvSpPr>
          <p:cNvPr id="15" name="Oval 14"/>
          <p:cNvSpPr/>
          <p:nvPr/>
        </p:nvSpPr>
        <p:spPr>
          <a:xfrm>
            <a:off x="5788152" y="2277765"/>
            <a:ext cx="566928" cy="56692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2360061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1379" y="2979682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5387" y="3500412"/>
            <a:ext cx="183245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許可VLANとネイティブVLANを両端で比較する。</a:t>
            </a:r>
          </a:p>
        </p:txBody>
      </p:sp>
      <p:sp>
        <p:nvSpPr>
          <p:cNvPr id="19" name="Oval 18"/>
          <p:cNvSpPr/>
          <p:nvPr/>
        </p:nvSpPr>
        <p:spPr>
          <a:xfrm>
            <a:off x="7931505" y="2277765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1505" y="2360061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4732" y="2979682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7:textLayout xmlns:ns6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MACアドレス表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8740" y="3500412"/>
            <a:ext cx="183245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2:textLayout xmlns:ns72="urn:pptxdsl:text-layout:v1" role="body"/>
              </a:ext>
            </a:extLst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対象VLANで宛先MACと出力ポートを確認する。</a:t>
            </a:r>
          </a:p>
        </p:txBody>
      </p:sp>
      <p:sp>
        <p:nvSpPr>
          <p:cNvPr id="23" name="Oval 22"/>
          <p:cNvSpPr/>
          <p:nvPr/>
        </p:nvSpPr>
        <p:spPr>
          <a:xfrm>
            <a:off x="10074859" y="2277765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4859" y="2360061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7:textLayout xmlns:ns7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8086" y="2979682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2:textLayout xmlns:ns8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2094" y="3500412"/>
            <a:ext cx="183245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87:textLayout xmlns:ns87="urn:pptxdsl:text-layout:v1" role="body"/>
              </a:ext>
            </a:extLst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IP設定、ゲートウェイ、経路を確認する。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92:textLayout xmlns:ns9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97:textLayout xmlns:ns9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理解度チェック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理解度チェック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1954255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95425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935967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VLANの説明として最も適切なものはどれか。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240767"/>
            <a:ext cx="45868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L2のブロードキャストドメインを論理的に分ける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6163" y="2240767"/>
            <a:ext cx="23340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通信内容を暗号化する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542519"/>
            <a:ext cx="26940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IPアドレスを自動配布する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2999719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208" y="3127735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12773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109447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2台のスイッチ間でVLAN 10と20を1本のリンクへ通すとき、使うポート種別はどれか。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414247"/>
            <a:ext cx="3527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1つのVLANへ収容するAccessポート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6602" y="3414247"/>
            <a:ext cx="29512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複数VLANを運ぶTrunkポート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715999"/>
            <a:ext cx="3465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IPネットワークを中継するL3ポート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解答と解説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解答と解説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1888723"/>
            <a:ext cx="384048" cy="38404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88872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870435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VLANの説明として最も適切なものはどれか。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175235"/>
            <a:ext cx="45868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A. L2のブロードキャストドメインを論理的に分ける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6163" y="2175235"/>
            <a:ext cx="23340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通信内容を暗号化する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476987"/>
            <a:ext cx="26940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IPアドレスを自動配布する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824459"/>
            <a:ext cx="530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解説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2824459"/>
            <a:ext cx="9052560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l">
              <a:lnSpc>
                <a:spcPct val="11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VLANは物理配線を共有しながら、L2の通信範囲を複数の論理LANへ分割します。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2" y="3207237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208" y="3335253"/>
            <a:ext cx="384048" cy="38404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33525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316965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2台のスイッチ間でVLAN 10と20を1本のリンクへ通すとき、使うポート種別はどれか。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621765"/>
            <a:ext cx="3527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1つのVLANへ収容するAccessポート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6602" y="3621765"/>
            <a:ext cx="300266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B. 複数VLANを運ぶTrunkポート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923517"/>
            <a:ext cx="3465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IPネットワークを中継するL3ポート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4270989"/>
            <a:ext cx="530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2:textLayout xmlns:ns7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解説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04" y="4270989"/>
            <a:ext cx="9052560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7:textLayout xmlns:ns77="urn:pptxdsl:text-layout:v1" role="body"/>
              </a:ext>
            </a:extLst>
          </a:bodyPr>
          <a:lstStyle/>
          <a:p>
            <a:pPr algn="l">
              <a:lnSpc>
                <a:spcPct val="11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Trunkは802.1QタグでVLAN IDを識別し、複数VLANを1本の物理リンクで運びます。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2:textLayout xmlns:ns8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87:textLayout xmlns:ns8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VLAN間通信とTrunk設定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VLAN間通信とネイティブVLANの確認問題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2016434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01643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998146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10の端末からVLAN 20の端末へ通信するとき、必要な機能はどれか。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302946"/>
            <a:ext cx="180936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L3ルーティング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8673" y="2302946"/>
            <a:ext cx="25500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同じAccess VLANの設定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3298" y="2302946"/>
            <a:ext cx="1963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ケーブルの二重化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2802818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208" y="2930834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93083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912546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Trunk両端でネイティブVLANが異なるとき、タグなしフレームは受信側でどう分類されるか。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217346"/>
            <a:ext cx="37536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受信側のネイティブVLANへ分類される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2916" y="3217346"/>
            <a:ext cx="30643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送信側のVLAN IDが復元される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1891" y="3217346"/>
            <a:ext cx="17785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必ず破棄される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VLAN間通信とTrunk設定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VLAN間通信とネイティブVLANの解答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1961144"/>
            <a:ext cx="384048" cy="38404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961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942856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VLAN 10の端末からVLAN 20の端末へ通信するとき、必要な機能はどれか。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247656"/>
            <a:ext cx="180936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2:textLayout xmlns:ns2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A. L3ルーティング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8673" y="2247656"/>
            <a:ext cx="25500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同じAccess VLANの設定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3298" y="2247656"/>
            <a:ext cx="1963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2:textLayout xmlns:ns3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ケーブルの二重化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595128"/>
            <a:ext cx="530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解説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2595128"/>
            <a:ext cx="9052560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2:textLayout xmlns:ns42="urn:pptxdsl:text-layout:v1" role="body"/>
              </a:ext>
            </a:extLst>
          </a:bodyPr>
          <a:lstStyle/>
          <a:p>
            <a:pPr algn="l">
              <a:lnSpc>
                <a:spcPct val="11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異なるVLANは別のL2ネットワークなので、ルータまたはL3スイッチが中継します。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2" y="2977906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208" y="3105922"/>
            <a:ext cx="384048" cy="38404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10592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7:textLayout xmlns:ns47="urn:pptxdsl:text-layout:v1" role="natural"/>
              </a:ext>
            </a:extLst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087634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Trunk両端でネイティブVLANが異なるとき、タグなしフレームは受信側でどう分類されるか。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392434"/>
            <a:ext cx="37638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A. 受信側のネイティブVLANへ分類される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3203" y="3392434"/>
            <a:ext cx="30643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送信側のVLAN IDが復元される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2178" y="3392434"/>
            <a:ext cx="17785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必ず破棄される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3739906"/>
            <a:ext cx="530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2:textLayout xmlns:ns7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解説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04" y="3739906"/>
            <a:ext cx="9052560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7:textLayout xmlns:ns77="urn:pptxdsl:text-layout:v1" role="body"/>
              </a:ext>
            </a:extLst>
          </a:bodyPr>
          <a:lstStyle/>
          <a:p>
            <a:pPr algn="l">
              <a:lnSpc>
                <a:spcPct val="11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タグなしフレームにはVLAN IDがないため、受信スイッチは自分のネイティブVLAN設定で分類します。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82:textLayout xmlns:ns8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87:textLayout xmlns:ns8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:textLayout xmlns:ns2="urn:pptxdsl:text-layout:v1" role="natural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7:textLayout xmlns:ns7="urn:pptxdsl:text-layout:v1" role="natural"/>
              </a:ext>
            </a:extLst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2600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12:textLayout xmlns:ns12="urn:pptxdsl:text-layout:v1" role="natural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737360"/>
            <a:ext cx="88239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17:textLayout xmlns:ns1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どの端末が同じVLAN、つまり同じブロードキャストドメインに属するか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3312" y="2162556"/>
            <a:ext cx="827532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06980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22:textLayout xmlns:ns22="urn:pptxdsl:text-layout:v1" role="natural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491740"/>
            <a:ext cx="88239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27:textLayout xmlns:ns2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タグなし受信をどのPVIDへ分類し、どのTrunkでタグ付き転送するか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3312" y="2916936"/>
            <a:ext cx="827532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61360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32:textLayout xmlns:ns32="urn:pptxdsl:text-layout:v1" role="natural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246120"/>
            <a:ext cx="88239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37:textLayout xmlns:ns3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MACアドレス表とルーティングテーブルが、どの転送判断に使われるか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3671315"/>
            <a:ext cx="827532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15740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42:textLayout xmlns:ns42="urn:pptxdsl:text-layout:v1" role="natural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000500"/>
            <a:ext cx="88239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47:textLayout xmlns:ns4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異なるVLAN間を、どのデフォルトゲートウェイとL3機器が中継するか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3312" y="4425696"/>
            <a:ext cx="827532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70120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52:textLayout xmlns:ns52="urn:pptxdsl:text-layout:v1" role="natural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754880"/>
            <a:ext cx="882396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  <a:extLst>
              <a:ext uri="{8AF73BB6-5E31-4F0F-A399-3D98F3B95FD9}">
                <ns57:textLayout xmlns:ns57="urn:pptxdsl:text-layout:v1" role="body"/>
              </a:ext>
            </a:extLst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L3スイッチではSVI、外部ルーターでは802.1Qサブインターフェースをどのように設定・確認するか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53312" y="5458968"/>
            <a:ext cx="827532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  <a:extLst>
              <a:ext uri="{8AF73BB6-5E31-4F0F-A399-3D98F3B95FD9}">
                <ns62:textLayout xmlns:ns62="urn:pptxdsl:text-layout:v1" role="body"/>
              </a:ext>
            </a:extLst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新入社員向けネットワーク基礎研修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extLst>
              <a:ext uri="{8AF73BB6-5E31-4F0F-A399-3D98F3B95FD9}">
                <ns67:textLayout xmlns:ns67="urn:pptxdsl:text-layout:v1" role="body"/>
              </a:ext>
            </a:extLst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