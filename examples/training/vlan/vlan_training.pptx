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tandards.ieee.org/ieee/802.1Q/10323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2.png"/><Relationship Id="rId7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VLAN基礎研修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2834639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物理的な配線と、論理的な通信範囲を分けて理解する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05409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2026年8月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IT基盤部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840479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151375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ネットワーク研修担当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学習目標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研修の目的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一般的な企業LANの静的なAccess・Trunk構成を対象に、構成図からVLAN境界と通信経路を説明できる状態を目指します。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905256" y="2133735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2084324"/>
            <a:ext cx="8823960" cy="344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VLANとブロードキャストドメインを、自分の言葉で説明できる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715776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3312" y="2666365"/>
            <a:ext cx="8823960" cy="344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同じVLANと異なるVLANで、フレームの届き方がどう変わるか説明できる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5256" y="3297817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53312" y="3248406"/>
            <a:ext cx="8823960" cy="344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IEEE 802.1Qの役割と、タグ付き・タグなし、Access・Trunkの関係を説明できる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5256" y="3879858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53312" y="3830447"/>
            <a:ext cx="8823960" cy="6154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製品初期VLAN、ネイティブVLAN、VLAN 0、デフォルトゲートウェイを区別できる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5256" y="473304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53312" y="4683633"/>
            <a:ext cx="8823960" cy="344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MACアドレス表とルーティングテーブルの役割を区別できる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" y="5315085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53312" y="5265674"/>
            <a:ext cx="8823960" cy="6154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SVI・RP・ルーターサブインターフェースの役割を、Cisco設定とshow出力から確認できる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前提知識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通信単位と識別子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5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52499"/>
                <a:gridCol w="8233356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用語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定義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Ethernetフレーム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Ethernetで送受信するデータ単位。送信元・宛先MACアドレス、上位プロトコルの識別値、データなどで構成する。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MACアドレス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Ethernetフレームの送信元・宛先を示す識別子。通常はネットワークインターフェースに割り当てる48ビットの値。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IPパケット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IPで送受信するデータ単位。送信元・宛先IPアドレスなどを持ち、異なるIPネットワーク間でも転送できる。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前提知識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通信範囲と転送階層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92224"/>
          <a:ext cx="11185854" cy="40599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22537"/>
                <a:gridCol w="7763317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用語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定義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8503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IPサブネット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同じネットワークプレフィックスを共有するIPアドレスの範囲。端末はサブネットマスクまたはプレフィックス長で判定する。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8503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ARP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IPv4アドレスに対応する、同一リンク上のMACアドレスを解決するプロトコル。ARP要求はブロードキャストで送信する。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8503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L2（データリンク層）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同一リンク内でフレームを転送する階層。EthernetではMACアドレスを転送判断に使用する。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8503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L3（ネットワーク層）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異なるIPネットワーク間でパケットを転送する階層。IPアドレスとルーティング情報を転送判断に使用する。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Voice VLAN、Private VLAN、Q-in-Q、VLAN自動配布などは発展事項として本研修の対象外。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前提となる言葉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ブロードキャストドメイン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VLANによる分割を理解するため、最初にL2でブロードキャストが届く範囲を確認します。</a:t>
            </a:r>
          </a:p>
        </p:txBody>
      </p:sp>
      <p:pic>
        <p:nvPicPr>
          <p:cNvPr id="6" name="Picture 5" descr="ether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2203196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07592" y="2148332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ブロードキャストドメイン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" y="3026156"/>
            <a:ext cx="4892040" cy="2524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ブロードキャストフレームが届くL2の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範囲です。同じ範囲にいる端末は、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ARPなどの一斉送信を受け取ります。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7296" y="2148332"/>
            <a:ext cx="9144" cy="340207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44768" y="2175764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ブロードキャスト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44768" y="2454656"/>
            <a:ext cx="5544007" cy="754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同じ通信範囲にいる全端末へ届けるフレームです。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3264069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3309789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L2スイッチの動作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3588681"/>
            <a:ext cx="5544007" cy="754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受信したブロードキャストを、同じLANに属する他の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ポートへ複製します。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4768" y="4398094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4768" y="4443814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境界が必要な理由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4722706"/>
            <a:ext cx="5544007" cy="754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範囲が大きいほど不要な一斉送信が増え、用途や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管理単位も分けにくくなります。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687568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5806440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1368" y="5779007"/>
            <a:ext cx="9887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ブロードキャストは同じ通信範囲の全端末へ、ユニキャストは特定の宛先へ転送されます。ここでは一斉送信の範囲に注目します。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分割していないLAN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フラットLAN内のARP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47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PC AはPC BのMACアドレスを知るため、ARP要求をブロードキャストで送ります。L2スイッチは受信ポート以外へ</a:t>
            </a:r>
          </a:p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複製し、PC Bだけが自分宛てと判断します。応答はユニキャストのため省略しています。</a:t>
            </a:r>
          </a:p>
        </p:txBody>
      </p:sp>
      <p:sp>
        <p:nvSpPr>
          <p:cNvPr id="6" name="layout-background:network-lane:flat"/>
          <p:cNvSpPr/>
          <p:nvPr/>
        </p:nvSpPr>
        <p:spPr>
          <a:xfrm>
            <a:off x="502920" y="2735722"/>
            <a:ext cx="11185855" cy="148132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2918602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同一LAN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3183778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1つのブロードキャストドメイン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37943" y="2433970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4075" y="2433970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L2スイッチ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0207" y="2433970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同じLAN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16339" y="2433970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同じLAN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5824613" y="3031987"/>
            <a:ext cx="0" cy="444399"/>
          </a:xfrm>
          <a:prstGeom prst="line">
            <a:avLst/>
          </a:prstGeom>
          <a:ln w="2794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824613" y="3031987"/>
            <a:ext cx="4157320" cy="0"/>
          </a:xfrm>
          <a:prstGeom prst="line">
            <a:avLst/>
          </a:prstGeom>
          <a:ln w="2794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555801" y="3031987"/>
            <a:ext cx="0" cy="444399"/>
          </a:xfrm>
          <a:prstGeom prst="line">
            <a:avLst/>
          </a:prstGeom>
          <a:ln w="27940">
            <a:solidFill>
              <a:srgbClr val="C758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981933" y="3031987"/>
            <a:ext cx="0" cy="444399"/>
          </a:xfrm>
          <a:prstGeom prst="line">
            <a:avLst/>
          </a:prstGeom>
          <a:ln w="27940">
            <a:solidFill>
              <a:srgbClr val="C758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89495" y="2808023"/>
            <a:ext cx="1027557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② 他ポートへ複製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398481" y="3476386"/>
            <a:ext cx="1731188" cy="0"/>
          </a:xfrm>
          <a:prstGeom prst="line">
            <a:avLst/>
          </a:prstGeom>
          <a:ln w="27940">
            <a:solidFill>
              <a:srgbClr val="C758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925176" y="3252421"/>
            <a:ext cx="677799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① ARP要求</a:t>
            </a:r>
          </a:p>
        </p:txBody>
      </p:sp>
      <p:sp>
        <p:nvSpPr>
          <p:cNvPr id="20" name="Oval 19"/>
          <p:cNvSpPr/>
          <p:nvPr/>
        </p:nvSpPr>
        <p:spPr>
          <a:xfrm>
            <a:off x="2712681" y="3138058"/>
            <a:ext cx="676656" cy="676656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545" y="3192922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2913" y="3833002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PC 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2913" y="4000451"/>
            <a:ext cx="1536192" cy="123444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PC BのMACを問い合わせ</a:t>
            </a:r>
          </a:p>
        </p:txBody>
      </p:sp>
      <p:sp>
        <p:nvSpPr>
          <p:cNvPr id="24" name="Oval 23"/>
          <p:cNvSpPr/>
          <p:nvPr/>
        </p:nvSpPr>
        <p:spPr>
          <a:xfrm>
            <a:off x="5138813" y="3138058"/>
            <a:ext cx="676656" cy="676656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w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677" y="3192922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709045" y="3833002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L2スイッチ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045" y="4000451"/>
            <a:ext cx="1536192" cy="123444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受信ポート以外へ複製</a:t>
            </a:r>
          </a:p>
        </p:txBody>
      </p:sp>
      <p:sp>
        <p:nvSpPr>
          <p:cNvPr id="28" name="Oval 27"/>
          <p:cNvSpPr/>
          <p:nvPr/>
        </p:nvSpPr>
        <p:spPr>
          <a:xfrm>
            <a:off x="7564945" y="3138058"/>
            <a:ext cx="676656" cy="676656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desk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09" y="3192922"/>
            <a:ext cx="566928" cy="56692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135177" y="3833002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PC 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5177" y="4000451"/>
            <a:ext cx="1536192" cy="123444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自分宛てと判断</a:t>
            </a:r>
          </a:p>
        </p:txBody>
      </p:sp>
      <p:sp>
        <p:nvSpPr>
          <p:cNvPr id="32" name="Oval 31"/>
          <p:cNvSpPr/>
          <p:nvPr/>
        </p:nvSpPr>
        <p:spPr>
          <a:xfrm>
            <a:off x="9991077" y="3138058"/>
            <a:ext cx="676656" cy="676656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prin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5941" y="3192922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561309" y="3833002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プリンタ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1309" y="4000451"/>
            <a:ext cx="1536192" cy="123444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自分宛てでないため破棄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27940">
            <a:solidFill>
              <a:srgbClr val="C758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05256" y="6035040"/>
            <a:ext cx="1051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ブロードキャスト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VLANとは</a:t>
            </a:r>
          </a:p>
        </p:txBody>
      </p:sp>
      <p:pic>
        <p:nvPicPr>
          <p:cNvPr id="5" name="Picture 4" descr="sw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16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VLANはVirtual LANの略で、スイッチ上の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通信範囲を論理的に分けます。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VLANごとにブロードキャストドメインが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分かれます。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794759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物理構成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同じスイッチや同じ配線を共有したまま、通信範囲を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分けられます。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0228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47999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識別方法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2689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各論理LANをVLAN IDで識別します。例: VLAN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10、VLAN20。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2672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129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起きる変化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59181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ブロードキャストは同じVLAN内だけに届き、別の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VLANには広がりません。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87568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5806440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1368" y="5779007"/>
            <a:ext cx="9887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VLANはL2の通信範囲を論理的に分割します。暗号化、通信制御、IPアドレス設計は、それぞれ別の機能として組み合わせます。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論理分割の効果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VLAN内のブロードキャスト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47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営業PC AのARP要求を追います。同じ物理スイッチ上でも、ブロードキャストはVLAN 10内だけへ複製され、VLAN</a:t>
            </a:r>
          </a:p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20の端末には届きません。</a:t>
            </a:r>
          </a:p>
        </p:txBody>
      </p:sp>
      <p:sp>
        <p:nvSpPr>
          <p:cNvPr id="6" name="layout-background:network-lane:v10"/>
          <p:cNvSpPr/>
          <p:nvPr/>
        </p:nvSpPr>
        <p:spPr>
          <a:xfrm>
            <a:off x="502920" y="259088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277376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303893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営業</a:t>
            </a:r>
          </a:p>
        </p:txBody>
      </p:sp>
      <p:sp>
        <p:nvSpPr>
          <p:cNvPr id="9" name="layout-background:network-lane:v20"/>
          <p:cNvSpPr/>
          <p:nvPr/>
        </p:nvSpPr>
        <p:spPr>
          <a:xfrm>
            <a:off x="502920" y="398076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416364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442882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開発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37943" y="2289129"/>
            <a:ext cx="32348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2786" y="2289129"/>
            <a:ext cx="32348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同じ物理スイッチ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7628" y="2289129"/>
            <a:ext cx="32348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受信側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690207" y="324010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690207" y="427337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49059" y="319895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49059" y="458884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3775405" y="3240105"/>
            <a:ext cx="2914802" cy="0"/>
          </a:xfrm>
          <a:prstGeom prst="line">
            <a:avLst/>
          </a:prstGeom>
          <a:ln w="27940">
            <a:solidFill>
              <a:srgbClr val="C758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11014" y="3016140"/>
            <a:ext cx="124358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① VLAN 10のARP要求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690207" y="3240105"/>
            <a:ext cx="2914803" cy="0"/>
          </a:xfrm>
          <a:prstGeom prst="line">
            <a:avLst/>
          </a:prstGeom>
          <a:ln w="27940">
            <a:solidFill>
              <a:srgbClr val="C758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690207" y="3240105"/>
            <a:ext cx="1457401" cy="0"/>
          </a:xfrm>
          <a:prstGeom prst="line">
            <a:avLst/>
          </a:prstGeom>
          <a:ln w="22860">
            <a:prstDash val="dash"/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147608" y="3240105"/>
            <a:ext cx="0" cy="621792"/>
          </a:xfrm>
          <a:prstGeom prst="line">
            <a:avLst/>
          </a:prstGeom>
          <a:ln w="22860">
            <a:prstDash val="dash"/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973872" y="3779601"/>
            <a:ext cx="3474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5" name="Oval 24"/>
          <p:cNvSpPr/>
          <p:nvPr/>
        </p:nvSpPr>
        <p:spPr>
          <a:xfrm>
            <a:off x="3144469" y="292920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9333" y="2984073"/>
            <a:ext cx="512064" cy="51206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687269" y="356928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87269" y="3736738"/>
            <a:ext cx="1536192" cy="123444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10でARP要求</a:t>
            </a:r>
          </a:p>
        </p:txBody>
      </p:sp>
      <p:sp>
        <p:nvSpPr>
          <p:cNvPr id="29" name="Oval 28"/>
          <p:cNvSpPr/>
          <p:nvPr/>
        </p:nvSpPr>
        <p:spPr>
          <a:xfrm>
            <a:off x="3144469" y="431909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9333" y="4373961"/>
            <a:ext cx="512064" cy="51206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687269" y="495917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開発PC A</a:t>
            </a:r>
          </a:p>
        </p:txBody>
      </p:sp>
      <p:sp>
        <p:nvSpPr>
          <p:cNvPr id="32" name="Oval 31"/>
          <p:cNvSpPr/>
          <p:nvPr/>
        </p:nvSpPr>
        <p:spPr>
          <a:xfrm>
            <a:off x="6379311" y="362415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4175" y="3679017"/>
            <a:ext cx="512064" cy="51206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922111" y="426423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L2スイッチ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22111" y="4431682"/>
            <a:ext cx="1536192" cy="123444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VLAN単位で分離</a:t>
            </a:r>
          </a:p>
        </p:txBody>
      </p:sp>
      <p:sp>
        <p:nvSpPr>
          <p:cNvPr id="36" name="Oval 35"/>
          <p:cNvSpPr/>
          <p:nvPr/>
        </p:nvSpPr>
        <p:spPr>
          <a:xfrm>
            <a:off x="9614154" y="292920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9018" y="2984073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156954" y="356928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 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56954" y="3736738"/>
            <a:ext cx="1536192" cy="123444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同じVLANなので受信</a:t>
            </a:r>
          </a:p>
        </p:txBody>
      </p:sp>
      <p:sp>
        <p:nvSpPr>
          <p:cNvPr id="40" name="Oval 39"/>
          <p:cNvSpPr/>
          <p:nvPr/>
        </p:nvSpPr>
        <p:spPr>
          <a:xfrm>
            <a:off x="9614154" y="431909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9018" y="4373961"/>
            <a:ext cx="512064" cy="51206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156954" y="495917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開発PC 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56954" y="5126626"/>
            <a:ext cx="1536192" cy="123444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別VLANなので受信しない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27940">
            <a:solidFill>
              <a:srgbClr val="C758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05256" y="6035040"/>
            <a:ext cx="1051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ブロードキャスト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2176272" y="6117336"/>
            <a:ext cx="256032" cy="0"/>
          </a:xfrm>
          <a:prstGeom prst="line">
            <a:avLst/>
          </a:prstGeom>
          <a:ln w="19050">
            <a:prstDash val="dash"/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505456" y="6035040"/>
            <a:ext cx="10104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VLAN境界で停止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通信できる範囲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デフォルトゲートウェイ</a:t>
            </a:r>
          </a:p>
        </p:txBody>
      </p:sp>
      <p:pic>
        <p:nvPicPr>
          <p:cNvPr id="5" name="Picture 4" descr="r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デフォルトゲートウェイ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16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端末が異なるIPサブネットへ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通信するとき、最初にIPパケットを渡す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L3機器のIPアドレスです。VLANごとに、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到達可能なゲートウェイを設定します。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794759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同じIPサブネット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端末は宛先端末のMACアドレスを調べ、宛先へ直接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フレームを送ります。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0228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47999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異なるIPサブネット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2689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端末はゲートウェイのMACアドレスを調べ、IPパケットを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L3機器へ渡します。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2672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129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VLAN境界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59181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L2スイッチだけでは越えられないため、ルータまたはL3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スイッチが中継します。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87568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5806440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1368" y="5779007"/>
            <a:ext cx="9887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デフォルトゲートウェイはL3の次ホップです。初期VLANはポートの初期所属、ネイティブVLANはTrunk上のタグなし転送を</a:t>
            </a:r>
          </a:p>
          <a:p>
            <a:pPr algn="l">
              <a:lnSpc>
                <a:spcPct val="11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扱います。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VLAN識別の標準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IEEE 802.1Q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複数のVLANを同じEthernetリンクで運ぶために、フレームの所属VLANを識別する仕組みを確認します。</a:t>
            </a:r>
          </a:p>
        </p:txBody>
      </p:sp>
      <p:pic>
        <p:nvPicPr>
          <p:cNvPr id="6" name="Picture 5" descr="ether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2203196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07592" y="2148332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IEEE 802.1Q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" y="3026156"/>
            <a:ext cx="4892040" cy="2524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MACブリッジとVLANブリッジを含む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ブリッジネットワークの動作、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プロトコル、管理などを定めるIEEE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規格です。VLANを識別する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仕組みとして、Ethernetフレームへ4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バイトのVLANタグを挿入します。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7296" y="2148332"/>
            <a:ext cx="9144" cy="340207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44768" y="2175764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VLANタグ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44768" y="2454656"/>
            <a:ext cx="5544007" cy="754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送信元MACアドレスの後ろへ4バイトを挿入し、優先度や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 IDなどを格納します。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3264069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3309789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 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3588681"/>
            <a:ext cx="5544007" cy="754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タグ内の12ビットの値で、フレームが属するVLANを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識別します。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4768" y="4398094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4768" y="4443814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使われる区間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4722706"/>
            <a:ext cx="5544007" cy="7545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複数VLANを運ぶスイッチ間リンクなどでタグを使い、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端末接続区間では通常タグを外して送受信します。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687568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5806440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1368" y="5779007"/>
            <a:ext cx="9887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802.1QはブリッジネットワークとVLAN識別の標準です。Access、Trunk、ネイティブVLANは製品設定で使われる名称です。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フレーム形式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802.1Qタグの構造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" y="1901952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タグなし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0" y="1719072"/>
            <a:ext cx="1055828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1828800"/>
            <a:ext cx="96438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宛先MAC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2496" y="2331720"/>
            <a:ext cx="9826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48 bit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01748" y="1719072"/>
            <a:ext cx="1055828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7468" y="1828800"/>
            <a:ext cx="96438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送信元MAC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8324" y="2331720"/>
            <a:ext cx="9826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48 bit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57577" y="1719072"/>
            <a:ext cx="795528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3297" y="1828800"/>
            <a:ext cx="70408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上位種別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153" y="2331720"/>
            <a:ext cx="7223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53105" y="1719072"/>
            <a:ext cx="2923456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8825" y="1828800"/>
            <a:ext cx="283201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データ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9681" y="2331720"/>
            <a:ext cx="285030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可変長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76561" y="1719072"/>
            <a:ext cx="862080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2281" y="1828800"/>
            <a:ext cx="770640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誤り検査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3137" y="2331720"/>
            <a:ext cx="78892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1794" y="2020824"/>
            <a:ext cx="62179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" y="2999232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802.1Q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45920" y="2816352"/>
            <a:ext cx="1055828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91640" y="2926080"/>
            <a:ext cx="96438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宛先MAC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82496" y="3429000"/>
            <a:ext cx="9826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48 bit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01748" y="2816352"/>
            <a:ext cx="1055828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7468" y="2926080"/>
            <a:ext cx="96438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送信元MAC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38324" y="3429000"/>
            <a:ext cx="9826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48 bit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57577" y="2816352"/>
            <a:ext cx="79552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03297" y="2926080"/>
            <a:ext cx="70408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TPID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153" y="3429000"/>
            <a:ext cx="7223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53105" y="2816352"/>
            <a:ext cx="528066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98825" y="2926080"/>
            <a:ext cx="43662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PCP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89681" y="3429000"/>
            <a:ext cx="45491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 bit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81171" y="2816352"/>
            <a:ext cx="476631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26891" y="2926080"/>
            <a:ext cx="385191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DEI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17747" y="3429000"/>
            <a:ext cx="403479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 bit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7802" y="2816352"/>
            <a:ext cx="836676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03522" y="2926080"/>
            <a:ext cx="74523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 ID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94378" y="3429000"/>
            <a:ext cx="76352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 bit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94478" y="2816352"/>
            <a:ext cx="795528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0198" y="2926080"/>
            <a:ext cx="70408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上位種別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31054" y="3429000"/>
            <a:ext cx="7223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90006" y="2816352"/>
            <a:ext cx="2923456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35726" y="2926080"/>
            <a:ext cx="283201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データ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6582" y="3429000"/>
            <a:ext cx="285030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可変長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113462" y="2816352"/>
            <a:ext cx="862080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159182" y="2926080"/>
            <a:ext cx="770640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誤り検査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50038" y="3429000"/>
            <a:ext cx="78892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48695" y="3118104"/>
            <a:ext cx="62179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+4 byte</a:t>
            </a:r>
          </a:p>
        </p:txBody>
      </p:sp>
      <p:cxnSp>
        <p:nvCxnSpPr>
          <p:cNvPr id="51" name="Connector 50"/>
          <p:cNvCxnSpPr/>
          <p:nvPr/>
        </p:nvCxnSpPr>
        <p:spPr>
          <a:xfrm flipH="1">
            <a:off x="685800" y="3675887"/>
            <a:ext cx="3469541" cy="182881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02920" y="3913632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TPID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832" y="3913632"/>
            <a:ext cx="220667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タグ付きフレームを識別。</a:t>
            </a:r>
          </a:p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代表値は0x8100。</a:t>
            </a:r>
          </a:p>
        </p:txBody>
      </p:sp>
      <p:cxnSp>
        <p:nvCxnSpPr>
          <p:cNvPr id="54" name="Connector 53"/>
          <p:cNvCxnSpPr/>
          <p:nvPr/>
        </p:nvCxnSpPr>
        <p:spPr>
          <a:xfrm flipH="1">
            <a:off x="3532555" y="3675887"/>
            <a:ext cx="1284583" cy="182881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3349675" y="3913632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PCP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88587" y="3913632"/>
            <a:ext cx="220667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通信の優先度を示す3 bit。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319486" y="3675887"/>
            <a:ext cx="1059825" cy="182881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196431" y="3913632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DEI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5343" y="3913632"/>
            <a:ext cx="220667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輻輳時の破棄可否を示す1 bit。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976140" y="3675887"/>
            <a:ext cx="3249927" cy="182881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043187" y="3913632"/>
            <a:ext cx="55664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 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54692" y="3913632"/>
            <a:ext cx="203408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所属VLANを識別する12 bit。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5760720"/>
            <a:ext cx="11185855" cy="42062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67512" y="5861304"/>
            <a:ext cx="1085667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同じデータ長なら802.1Qタグ付きは4 byte長く、Ethernetフレームの最大長も1518 byteから1522 byteへ増えます（FCS含む）。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フレームの分類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タグ付きフレーム・タグなしフレーム・PVID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92224"/>
          <a:ext cx="11185853" cy="40599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95027"/>
                <a:gridCol w="4395413"/>
                <a:gridCol w="4395413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説明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受信時の扱い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8503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タグ付きフレーム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802.1Qタグを持つEthernetフレーム。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タグ内のVLAN IDを使って所属VLANを判断する。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8503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タグなしフレーム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802.1Qタグを持たないEthernetフレーム。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受信ポートのPVIDなど、ポート設定から所属VLANを判断する。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8503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PVID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Port VLAN Identifier。タグなし受信などを分類するVLAN ID。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端末接続ポートでは、設定した所属VLANが通常この役割を持つ。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8503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タグなしフレームの所属判定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フレーム自体にはVLAN IDがない。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受信ポートのPVIDなど、ポート設定によって所属VLANを決定する。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※ IEEE 802.1Qは、MACブリッジとVLANブリッジの動作などを定める規格。詳細:</a:t>
            </a:r>
            <a:r>
              <a:rPr sz="850" b="0" lang="ja-JP" u="sng">
                <a:solidFill>
                  <a:srgbClr val="0D7870"/>
                </a:solidFill>
                <a:latin typeface="Yu Gothic"/>
                <a:ea typeface="Yu Gothic"/>
                <a:cs typeface="Yu Gothic"/>
                <a:hlinkClick r:id="rId2"/>
              </a:rPr>
              <a:t> IEEE 802.1Q-2022（IEEE公式）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端末を収容するポート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Accessポート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47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左から右へ追います。①端末はタグなしフレームを送り、②スイッチは受信したAccessポートの設定からVLAN 10へ</a:t>
            </a:r>
          </a:p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分類し、③送信側のAccessポートからタグなしで出します。</a:t>
            </a:r>
          </a:p>
        </p:txBody>
      </p:sp>
      <p:sp>
        <p:nvSpPr>
          <p:cNvPr id="6" name="layout-background:network-lane:v10"/>
          <p:cNvSpPr/>
          <p:nvPr/>
        </p:nvSpPr>
        <p:spPr>
          <a:xfrm>
            <a:off x="502920" y="2735722"/>
            <a:ext cx="11185855" cy="148132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2918602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3183778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営業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37943" y="2433970"/>
            <a:ext cx="32348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2786" y="2433970"/>
            <a:ext cx="32348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Accessポート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7628" y="2433970"/>
            <a:ext cx="32348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同じVLAN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802837" y="3476386"/>
            <a:ext cx="2539898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59007" y="3252421"/>
            <a:ext cx="1027557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① タグなしで受信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037679" y="3476386"/>
            <a:ext cx="2539899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93850" y="3252421"/>
            <a:ext cx="1027557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③ タグなしで送信</a:t>
            </a:r>
          </a:p>
        </p:txBody>
      </p:sp>
      <p:sp>
        <p:nvSpPr>
          <p:cNvPr id="16" name="Oval 15"/>
          <p:cNvSpPr/>
          <p:nvPr/>
        </p:nvSpPr>
        <p:spPr>
          <a:xfrm>
            <a:off x="3117037" y="3138058"/>
            <a:ext cx="676656" cy="676656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1901" y="3192922"/>
            <a:ext cx="566928" cy="5669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87269" y="3833002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7269" y="4000451"/>
            <a:ext cx="1536192" cy="123444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タグなし</a:t>
            </a:r>
          </a:p>
        </p:txBody>
      </p:sp>
      <p:sp>
        <p:nvSpPr>
          <p:cNvPr id="20" name="Oval 19"/>
          <p:cNvSpPr/>
          <p:nvPr/>
        </p:nvSpPr>
        <p:spPr>
          <a:xfrm>
            <a:off x="6351879" y="3138058"/>
            <a:ext cx="676656" cy="676656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w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743" y="3192922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22111" y="3833002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L2スイッチ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22111" y="4000451"/>
            <a:ext cx="1536192" cy="123444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② VLAN 10へ分類</a:t>
            </a:r>
          </a:p>
        </p:txBody>
      </p:sp>
      <p:sp>
        <p:nvSpPr>
          <p:cNvPr id="24" name="Oval 23"/>
          <p:cNvSpPr/>
          <p:nvPr/>
        </p:nvSpPr>
        <p:spPr>
          <a:xfrm>
            <a:off x="9586722" y="3138058"/>
            <a:ext cx="676656" cy="676656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rin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1586" y="3192922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56954" y="3833002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営業プリンタ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6954" y="4000451"/>
            <a:ext cx="1536192" cy="123444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タグなし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スイッチ間のポート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Trunkポート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47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左右の端末区間はタグなし、中央のTrunk区間は802.1Qタグ付きです。スイッチは受信ポートでVLANを判定し、Trunkでは</a:t>
            </a:r>
          </a:p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IDを付けて複数VLANを1本のリンクへ多重化します。</a:t>
            </a:r>
          </a:p>
        </p:txBody>
      </p:sp>
      <p:sp>
        <p:nvSpPr>
          <p:cNvPr id="6" name="layout-background:network-lane:v10"/>
          <p:cNvSpPr/>
          <p:nvPr/>
        </p:nvSpPr>
        <p:spPr>
          <a:xfrm>
            <a:off x="502920" y="259088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277376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303893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営業</a:t>
            </a:r>
          </a:p>
        </p:txBody>
      </p:sp>
      <p:sp>
        <p:nvSpPr>
          <p:cNvPr id="9" name="layout-background:network-lane:v20"/>
          <p:cNvSpPr/>
          <p:nvPr/>
        </p:nvSpPr>
        <p:spPr>
          <a:xfrm>
            <a:off x="502920" y="398076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416364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442882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開発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37943" y="228912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4075" y="228912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0207" y="228912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16339" y="228912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77141" y="324010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477141" y="427337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35993" y="319895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35993" y="458884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903273" y="324010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903273" y="427337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862125" y="319895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62125" y="458884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3371049" y="324010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080052" y="3016140"/>
            <a:ext cx="688086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① タグなし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371049" y="462999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080052" y="4406028"/>
            <a:ext cx="688086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① タグなし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77141" y="324010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477141" y="462999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684367" y="355100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② 802.1Qタグ付き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 10 / 20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03273" y="324010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612276" y="3016140"/>
            <a:ext cx="688086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③ タグなし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903273" y="462999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612276" y="4406028"/>
            <a:ext cx="688086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③ タグなし</a:t>
            </a:r>
          </a:p>
        </p:txBody>
      </p:sp>
      <p:sp>
        <p:nvSpPr>
          <p:cNvPr id="35" name="Oval 34"/>
          <p:cNvSpPr/>
          <p:nvPr/>
        </p:nvSpPr>
        <p:spPr>
          <a:xfrm>
            <a:off x="2740113" y="292920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984073"/>
            <a:ext cx="512064" cy="51206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282913" y="356928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 A</a:t>
            </a:r>
          </a:p>
        </p:txBody>
      </p:sp>
      <p:sp>
        <p:nvSpPr>
          <p:cNvPr id="38" name="Oval 37"/>
          <p:cNvSpPr/>
          <p:nvPr/>
        </p:nvSpPr>
        <p:spPr>
          <a:xfrm>
            <a:off x="2740113" y="431909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4373961"/>
            <a:ext cx="512064" cy="51206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282913" y="495917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開発PC A</a:t>
            </a:r>
          </a:p>
        </p:txBody>
      </p:sp>
      <p:sp>
        <p:nvSpPr>
          <p:cNvPr id="41" name="Oval 40"/>
          <p:cNvSpPr/>
          <p:nvPr/>
        </p:nvSpPr>
        <p:spPr>
          <a:xfrm>
            <a:off x="5166245" y="362415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679017"/>
            <a:ext cx="512064" cy="51206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709045" y="426423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44" name="Oval 43"/>
          <p:cNvSpPr/>
          <p:nvPr/>
        </p:nvSpPr>
        <p:spPr>
          <a:xfrm>
            <a:off x="7592377" y="362415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679017"/>
            <a:ext cx="512064" cy="512064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7135177" y="426423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7" name="Oval 46"/>
          <p:cNvSpPr/>
          <p:nvPr/>
        </p:nvSpPr>
        <p:spPr>
          <a:xfrm>
            <a:off x="10018509" y="292920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3373" y="2984073"/>
            <a:ext cx="512064" cy="51206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561309" y="356928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 B</a:t>
            </a:r>
          </a:p>
        </p:txBody>
      </p:sp>
      <p:sp>
        <p:nvSpPr>
          <p:cNvPr id="50" name="Oval 49"/>
          <p:cNvSpPr/>
          <p:nvPr/>
        </p:nvSpPr>
        <p:spPr>
          <a:xfrm>
            <a:off x="10018509" y="431909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4373961"/>
            <a:ext cx="512064" cy="512064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561309" y="495917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開発PC B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Trunkのタグ処理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ネイティブVLANのタグ処理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3721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タグなしフレーム自身にはVLAN IDがありません。VLAN 10側はPC接続ポートもTrunk native 10とし、受信ポートのnative VLAN設定によって内部VLAN</a:t>
            </a:r>
          </a:p>
          <a:p>
            <a:pPr algn="l">
              <a:lnSpc>
                <a:spcPct val="118000"/>
              </a:lnSpc>
            </a:pPr>
            <a:r>
              <a:rPr sz="11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10へ割り当てます。Access VLAN設定は使いません。VLAN 20側はAccessポートで分類し、スイッチ間Trunkを802.1Qタグ付きで通します。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2045462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41122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送信端末</a:t>
            </a:r>
          </a:p>
        </p:txBody>
      </p:sp>
      <p:pic>
        <p:nvPicPr>
          <p:cNvPr id="8" name="Picture 7" descr="sw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2045462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41122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0" name="layout-background:protocol-state-flow:stage:trunk"/>
          <p:cNvSpPr/>
          <p:nvPr/>
        </p:nvSpPr>
        <p:spPr>
          <a:xfrm>
            <a:off x="5794735" y="2703830"/>
            <a:ext cx="1900671" cy="21513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204546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77031" y="241122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スイッチ間Trunk</a:t>
            </a:r>
          </a:p>
        </p:txBody>
      </p:sp>
      <p:pic>
        <p:nvPicPr>
          <p:cNvPr id="13" name="Picture 12" descr="sw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0023" y="204546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41122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pic>
        <p:nvPicPr>
          <p:cNvPr id="15" name="Picture 14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423" y="204546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41122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受信端末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776982"/>
            <a:ext cx="11185855" cy="962660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959862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173476"/>
            <a:ext cx="1115568" cy="4747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native VLAN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303301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303301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303301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303301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94157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21589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タグなし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410458"/>
            <a:ext cx="1681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PCから送信</a:t>
            </a:r>
          </a:p>
        </p:txBody>
      </p:sp>
      <p:sp>
        <p:nvSpPr>
          <p:cNvPr id="27" name="protocol-state-flow:marker:internal"/>
          <p:cNvSpPr/>
          <p:nvPr/>
        </p:nvSpPr>
        <p:spPr>
          <a:xfrm>
            <a:off x="4268327" y="3014726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21589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 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410458"/>
            <a:ext cx="1681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受信ポートのnative設定で</a:t>
            </a:r>
          </a:p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割当</a:t>
            </a:r>
          </a:p>
        </p:txBody>
      </p:sp>
      <p:sp>
        <p:nvSpPr>
          <p:cNvPr id="30" name="protocol-state-flow:marker:plain"/>
          <p:cNvSpPr/>
          <p:nvPr/>
        </p:nvSpPr>
        <p:spPr>
          <a:xfrm>
            <a:off x="6278727" y="294157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21589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タグなし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410458"/>
            <a:ext cx="1681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native VLAN 10</a:t>
            </a:r>
          </a:p>
        </p:txBody>
      </p:sp>
      <p:sp>
        <p:nvSpPr>
          <p:cNvPr id="33" name="protocol-state-flow:marker:internal"/>
          <p:cNvSpPr/>
          <p:nvPr/>
        </p:nvSpPr>
        <p:spPr>
          <a:xfrm>
            <a:off x="8289127" y="3014726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21589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 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410458"/>
            <a:ext cx="1681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タグなしをnativeへ分類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94157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21589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タグなし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410458"/>
            <a:ext cx="1681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TrunkからPCへ送出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885946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4068826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 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282440"/>
            <a:ext cx="1115568" cy="408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通常のVLAN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4141978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4141978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4141978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4141978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4050538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324858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タグなし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519422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PCから送信</a:t>
            </a:r>
          </a:p>
        </p:txBody>
      </p:sp>
      <p:sp>
        <p:nvSpPr>
          <p:cNvPr id="49" name="protocol-state-flow:marker:internal"/>
          <p:cNvSpPr/>
          <p:nvPr/>
        </p:nvSpPr>
        <p:spPr>
          <a:xfrm>
            <a:off x="4268327" y="4123690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324858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 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519422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Accessポートで分類</a:t>
            </a:r>
          </a:p>
        </p:txBody>
      </p:sp>
      <p:sp>
        <p:nvSpPr>
          <p:cNvPr id="52" name="protocol-state-flow:marker:encapsulated"/>
          <p:cNvSpPr/>
          <p:nvPr/>
        </p:nvSpPr>
        <p:spPr>
          <a:xfrm>
            <a:off x="6278727" y="4050538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protocol-state-flow:marker:encapsulated:tag"/>
          <p:cNvSpPr/>
          <p:nvPr/>
        </p:nvSpPr>
        <p:spPr>
          <a:xfrm>
            <a:off x="6278727" y="4050538"/>
            <a:ext cx="286893" cy="18288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97015" y="4059682"/>
            <a:ext cx="250317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TAG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04463" y="4324858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802.1Qタグ付き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04463" y="4519422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ID 20</a:t>
            </a:r>
          </a:p>
        </p:txBody>
      </p:sp>
      <p:sp>
        <p:nvSpPr>
          <p:cNvPr id="57" name="protocol-state-flow:marker:internal"/>
          <p:cNvSpPr/>
          <p:nvPr/>
        </p:nvSpPr>
        <p:spPr>
          <a:xfrm>
            <a:off x="8289127" y="4123690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14863" y="4324858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 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14863" y="4519422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タグのVLAN IDで分類</a:t>
            </a:r>
          </a:p>
        </p:txBody>
      </p:sp>
      <p:sp>
        <p:nvSpPr>
          <p:cNvPr id="60" name="protocol-state-flow:marker:plain"/>
          <p:cNvSpPr/>
          <p:nvPr/>
        </p:nvSpPr>
        <p:spPr>
          <a:xfrm>
            <a:off x="10299527" y="4050538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25263" y="4324858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タグなし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25263" y="4519422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PCへ送出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5806440"/>
            <a:ext cx="11185855" cy="38404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67512" y="587959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要点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44168" y="5870448"/>
            <a:ext cx="10198303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 10経路ではAccess VLAN設定を使わず、Trunkのnative VLAN設定がタグなしフレームの所属を決めます。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Trunk両端の設定不一致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ネイティブVLAN不一致時の誤分類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47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PC AのタグなしフレームをSW-AのAccessポートでVLAN 10へ分類した後、native VLANが異なるTrunkへ送る例です。</a:t>
            </a:r>
          </a:p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SW-Aはnative VLAN 10をタグなしで送りますが、SW-Bはタグなし受信をnative VLAN 20へ誤分類します。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28216" y="3001792"/>
            <a:ext cx="8735263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2892064"/>
            <a:ext cx="1005840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送信側ではVLAN 10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28216" y="3989344"/>
            <a:ext cx="8735263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3879616"/>
            <a:ext cx="1005840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受信側ではVLAN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8284" y="2193544"/>
            <a:ext cx="142280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 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45132" y="2614168"/>
            <a:ext cx="156911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29687" y="2614168"/>
            <a:ext cx="0" cy="2381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195724" y="2193544"/>
            <a:ext cx="142280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SW-A（Access 10</a:t>
            </a:r>
          </a:p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/ native 10）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122572" y="2614168"/>
            <a:ext cx="156911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907127" y="2614168"/>
            <a:ext cx="0" cy="2381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73164" y="2193544"/>
            <a:ext cx="142280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SW-B（native 20 /</a:t>
            </a:r>
          </a:p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Access 20）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00012" y="2614168"/>
            <a:ext cx="156911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284567" y="2614168"/>
            <a:ext cx="0" cy="2381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950604" y="2193544"/>
            <a:ext cx="142280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開発PC B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77452" y="2614168"/>
            <a:ext cx="156911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662007" y="2614168"/>
            <a:ext cx="0" cy="2381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529687" y="3248680"/>
            <a:ext cx="23774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32023" y="300179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① タグなし受信をAccess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 10へ分類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907127" y="3742456"/>
            <a:ext cx="23774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309463" y="349556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② native 10なのでタグなしで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送出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284567" y="4097975"/>
            <a:ext cx="420624" cy="0"/>
          </a:xfrm>
          <a:prstGeom prst="line">
            <a:avLst/>
          </a:prstGeom>
          <a:ln w="1270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705191" y="4097975"/>
            <a:ext cx="0" cy="276514"/>
          </a:xfrm>
          <a:prstGeom prst="line">
            <a:avLst/>
          </a:prstGeom>
          <a:ln w="1270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7284567" y="4374489"/>
            <a:ext cx="420624" cy="0"/>
          </a:xfrm>
          <a:prstGeom prst="line">
            <a:avLst/>
          </a:prstGeom>
          <a:ln w="1270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27367" y="3989344"/>
            <a:ext cx="1097280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③ タグなし受信を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native 20へ分類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284567" y="4730008"/>
            <a:ext cx="23774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686903" y="4483120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④ Access VLAN 20から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タグなしで送出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PC側ではAccess VLAN、Trunk受信側ではnative VLANがタグなしフレームの所属を決めます。両端のnative VLANを一致させます。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混同しやすい用語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製品初期VLAN・ネイティブVLAN・VLAN 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92224"/>
          <a:ext cx="11185855" cy="405993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19247"/>
                <a:gridCol w="4033304"/>
                <a:gridCol w="4033304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用語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意味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6803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初期VLAN（Cisco: デフォルトVLAN）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工場出荷時にポートが所属する製品上の初期VLAN。CiscoスイッチではVLAN 1。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製品固有の初期設定名として、機種ごとの仕様を確認する。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6803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ネイティブVLAN（Cisco等の製品用語）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802.1Q Trunkでタグなし受信を分類するVLAN。Cisco IOSの既定動作ではタグなしで送出する。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vlan dot1q tag nativeを有効にするとnative VLANもタグ付きになる。両端の設定を一致させる。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6803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VLAN 0（802.1Q）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VLAN所属を示さず、優先度情報だけを運ぶタグで使用する予約値。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通常VLANの識別には1～4094を使用する。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6803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許可VLAN（製品設定）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そのTrunkで転送を許可するVLAN IDの一覧。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許可一覧に含まれるVLANだけがTrunkを通過する。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6803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通常のVLAN ID（802.1Q）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VLAN所属の識別には1～4094を使用できる。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0は優先度タグ用、4095は予約値として扱う。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対象の違い: 初期VLAN=ポート初期所属 / ネイティブVLAN=Trunkのタグなし転送 / デフォルトゲートウェイ=L3次ホップ。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同じVLAN内の転送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Trunk区間のタグ処理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47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左から右へ、Access区間で受信したタグなしフレームをVLAN 10へ分類し、Trunk区間だけタグを付け、宛先側のAccess</a:t>
            </a:r>
          </a:p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区間ではタグを外す流れを追います。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28216" y="2863535"/>
            <a:ext cx="8735263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2753807"/>
            <a:ext cx="1005840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28216" y="3851087"/>
            <a:ext cx="8735263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3741359"/>
            <a:ext cx="1005840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Trunk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728216" y="4344863"/>
            <a:ext cx="8735263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4235135"/>
            <a:ext cx="1005840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受信側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18284" y="2193544"/>
            <a:ext cx="142280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 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45132" y="2614168"/>
            <a:ext cx="156911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529687" y="2614168"/>
            <a:ext cx="0" cy="2736535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195724" y="2193544"/>
            <a:ext cx="142280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22572" y="2614168"/>
            <a:ext cx="156911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907127" y="2614168"/>
            <a:ext cx="0" cy="2736535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73164" y="2193544"/>
            <a:ext cx="142280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00012" y="2614168"/>
            <a:ext cx="156911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284567" y="2614168"/>
            <a:ext cx="0" cy="2736535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950604" y="2193544"/>
            <a:ext cx="142280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 B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877452" y="2614168"/>
            <a:ext cx="156911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662007" y="2614168"/>
            <a:ext cx="0" cy="2736535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529687" y="3110423"/>
            <a:ext cx="23774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932023" y="2863535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① タグなしで受信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907127" y="3465941"/>
            <a:ext cx="420624" cy="0"/>
          </a:xfrm>
          <a:prstGeom prst="line">
            <a:avLst/>
          </a:prstGeom>
          <a:ln w="1270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27751" y="3465941"/>
            <a:ext cx="0" cy="276515"/>
          </a:xfrm>
          <a:prstGeom prst="line">
            <a:avLst/>
          </a:prstGeom>
          <a:ln w="1270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4907127" y="3742456"/>
            <a:ext cx="420624" cy="0"/>
          </a:xfrm>
          <a:prstGeom prst="line">
            <a:avLst/>
          </a:prstGeom>
          <a:ln w="1270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449927" y="3357311"/>
            <a:ext cx="1097280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② 受信ポートから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 10へ分類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907127" y="4097975"/>
            <a:ext cx="23774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309463" y="3851087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③ VLAN 10タグを付けて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Trunkへ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284567" y="4453493"/>
            <a:ext cx="420624" cy="0"/>
          </a:xfrm>
          <a:prstGeom prst="line">
            <a:avLst/>
          </a:prstGeom>
          <a:ln w="1270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705191" y="4453493"/>
            <a:ext cx="0" cy="276515"/>
          </a:xfrm>
          <a:prstGeom prst="line">
            <a:avLst/>
          </a:prstGeom>
          <a:ln w="1270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7284567" y="4730008"/>
            <a:ext cx="420624" cy="0"/>
          </a:xfrm>
          <a:prstGeom prst="line">
            <a:avLst/>
          </a:prstGeom>
          <a:ln w="1270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827367" y="4344863"/>
            <a:ext cx="1097280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④ 宛先MACから出力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ポートを決定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284567" y="5085527"/>
            <a:ext cx="23774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686903" y="4838639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⑤ タグを外してAccessへ送出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802.1Qタグが現れるのはTrunk区間です。端末側のAccess区間ではタグなしフレームとして送受信します。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通信機器の判断材料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ARPキャッシュ・MACアドレス表・ルーティングテーブル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92224"/>
          <a:ext cx="11185854" cy="40599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1872"/>
                <a:gridCol w="3307994"/>
                <a:gridCol w="3307994"/>
                <a:gridCol w="3307994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観点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ARPキャッシュ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MACアドレス表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ルーティングテーブル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8503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主に持つ機器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端末、ルータ、L3スイッチ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L2スイッチ、L3スイッチ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ルータ、L3スイッチ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8503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対応関係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次に渡す相手のIPアドレス → MACアドレス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VLAN ID + 宛先MACアドレス → 出力ポート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宛先IPプレフィックス → 次ホップ / 出力先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8503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通信での役割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フレームの宛先MACアドレスを決める。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同じVLAN内でフレームの出力ポートを決める。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異なるIPネットワークへIPパケットを中継する。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8503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未登録の場合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ARP要求でMACアドレスを問い合わせる。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同じVLAN内へフレームを広げて宛先を探す。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最終候補の経路であるデフォルトルートを使うか、経路がなければ破棄する。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MACアドレス表はVLANごとに独立しており、MACエントリを追加するだけではVLAN境界を越えられない。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異なるVLAN間の通信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VLAN間ルーティング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47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左上から右下へ追います。①端末はデフォルトゲートウェイのMACアドレス宛てに送り、②VLAN 10タグでL3スイッチへ</a:t>
            </a:r>
          </a:p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渡し、③宛先IPの経路を検索した後、④VLAN 20向けの新しいL2フレームを作り、⑤宛先端末へタグなしで送ります。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39" y="2092960"/>
            <a:ext cx="3563416" cy="16733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7" y="2147824"/>
            <a:ext cx="194538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VLAN 10 / 192.168.10.0/24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2438" y="4233672"/>
            <a:ext cx="3563416" cy="1673352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32166" y="4288536"/>
            <a:ext cx="194538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VLAN 20 / 192.168.20.0/24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65376" y="2851912"/>
            <a:ext cx="1717471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113199" y="2851912"/>
            <a:ext cx="85873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971935" y="2851912"/>
            <a:ext cx="0" cy="107035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971935" y="3922268"/>
            <a:ext cx="85873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1023" y="3922268"/>
            <a:ext cx="85873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19759" y="3922268"/>
            <a:ext cx="0" cy="107035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4992624"/>
            <a:ext cx="85873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608847" y="4992624"/>
            <a:ext cx="17174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888" y="2641600"/>
            <a:ext cx="420624" cy="4206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292161" y="3107943"/>
            <a:ext cx="61607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8143" y="3363976"/>
            <a:ext cx="90411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192.168.10.10</a:t>
            </a:r>
          </a:p>
        </p:txBody>
      </p:sp>
      <p:pic>
        <p:nvPicPr>
          <p:cNvPr id="21" name="Picture 20" descr="sw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711" y="2641600"/>
            <a:ext cx="420624" cy="4206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401110" y="3107943"/>
            <a:ext cx="89382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L2スイッチ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5106" y="3363976"/>
            <a:ext cx="965835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10を転送</a:t>
            </a:r>
          </a:p>
        </p:txBody>
      </p:sp>
      <p:pic>
        <p:nvPicPr>
          <p:cNvPr id="24" name="Picture 23" descr="rou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5535" y="3711955"/>
            <a:ext cx="420624" cy="4206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648934" y="4178300"/>
            <a:ext cx="89382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L3スイッチ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02643" y="4434332"/>
            <a:ext cx="986409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③ IP経路を検索</a:t>
            </a:r>
          </a:p>
        </p:txBody>
      </p:sp>
      <p:pic>
        <p:nvPicPr>
          <p:cNvPr id="27" name="Picture 26" descr="sw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3359" y="4782312"/>
            <a:ext cx="420624" cy="42062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896758" y="5248656"/>
            <a:ext cx="89382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L2スイッチ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0753" y="5504688"/>
            <a:ext cx="965835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20を転送</a:t>
            </a:r>
          </a:p>
        </p:txBody>
      </p:sp>
      <p:pic>
        <p:nvPicPr>
          <p:cNvPr id="30" name="Picture 29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1183" y="4782312"/>
            <a:ext cx="420624" cy="4206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283456" y="5248656"/>
            <a:ext cx="61607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開発PC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9438" y="5504688"/>
            <a:ext cx="90411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192.168.20.20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35454" y="2625788"/>
            <a:ext cx="1377315" cy="14135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① ゲートウェイのMAC宛て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58157" y="3305937"/>
            <a:ext cx="102755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② タグ10でL3へ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05981" y="4376293"/>
            <a:ext cx="102755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④ タグ20でL2へ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2656" y="4756023"/>
            <a:ext cx="110985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⑤ タグなしで送信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L2スイッチは同じVLAN内だけを転送します。VLAN境界を越えるのはL3スイッチであり、受信したL2ヘッダーを外してIP経路を選び、送信側VLAN向けのL2ヘッダーを新しく作ります。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SVI・RP・転送エンジン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L3スイッチ内部の転送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47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横方向はデータ転送です。SVI（VLANごとのL3インターフェース）で受信し、転送エンジンがFIB（転送先表）から</a:t>
            </a:r>
          </a:p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出力先を選びます。縦方向はRP（Route Processor）が作る経路・隣接情報の反映です。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121647" y="2430830"/>
            <a:ext cx="5948400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31375" y="2485694"/>
            <a:ext cx="8241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L3スイッチ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38528" y="4506518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86351" y="4506518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34175" y="4506518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681999" y="4506518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5847" y="3601262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4223054"/>
            <a:ext cx="566928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92161" y="4835702"/>
            <a:ext cx="61607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8143" y="5091734"/>
            <a:ext cx="90411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192.168.10.10</a:t>
            </a:r>
          </a:p>
        </p:txBody>
      </p:sp>
      <p:pic>
        <p:nvPicPr>
          <p:cNvPr id="16" name="Picture 15" descr="gatew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4223054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395967" y="4835702"/>
            <a:ext cx="904113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SVI Vlan10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7903" y="5091734"/>
            <a:ext cx="1920240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10の受信L3インターフェース</a:t>
            </a:r>
          </a:p>
        </p:txBody>
      </p:sp>
      <p:pic>
        <p:nvPicPr>
          <p:cNvPr id="19" name="Picture 18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4223054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87212" y="4835702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転送エンジン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4894" y="5091734"/>
            <a:ext cx="15419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FIB検索・L2ヘッダー更新</a:t>
            </a:r>
          </a:p>
        </p:txBody>
      </p:sp>
      <p:pic>
        <p:nvPicPr>
          <p:cNvPr id="22" name="Picture 21" descr="gatew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0207" y="4223054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891614" y="4835702"/>
            <a:ext cx="904113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SVI Vlan20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3551" y="5091734"/>
            <a:ext cx="1920240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20の送信L3インターフェース</a:t>
            </a:r>
          </a:p>
        </p:txBody>
      </p:sp>
      <p:pic>
        <p:nvPicPr>
          <p:cNvPr id="25" name="Picture 24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8031" y="422305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283456" y="4835702"/>
            <a:ext cx="61607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開発PC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39438" y="5091734"/>
            <a:ext cx="90411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192.168.20.20</a:t>
            </a:r>
          </a:p>
        </p:txBody>
      </p:sp>
      <p:pic>
        <p:nvPicPr>
          <p:cNvPr id="28" name="Picture 27" descr="setting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2383" y="2979470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947257" y="3592118"/>
            <a:ext cx="2971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1759" y="3848150"/>
            <a:ext cx="140817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RIBを作る制御プレーン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5167" y="4273410"/>
            <a:ext cx="1397889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① ゲートウェイMAC宛て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83278" y="4269917"/>
            <a:ext cx="1377315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② IPパケットをL3受信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7106" y="4269917"/>
            <a:ext cx="130530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③ FIBで出力先を決定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925" y="4280395"/>
            <a:ext cx="1377315" cy="14135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④ 新しいL2ヘッダーで送出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65395" y="405046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制御情報を反映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SVIはVLANごとの論理L3インターフェースです。RP（Route Processor）は経路情報をRIB（Routing Information Base）へまとめ、転送用のFIB（Forwarding Information Base）と隣接情報を転送エンジンへ反映します。通常のデータパケットは転送エンジンが処理します。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外部ルーターによる中継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ルーターの802.1Qサブインターフェース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47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左側のL2スイッチは端末フレームをVLAN 10または20へ分類し、Trunkでタグを付けて送ります。右側の物理ポートGi0/0は</a:t>
            </a:r>
          </a:p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IDを判別し、VLANごとの論理L3インターフェースへ渡します。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168874" y="2092960"/>
            <a:ext cx="1853945" cy="3576320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78602" y="2147824"/>
            <a:ext cx="8241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L2スイッチ</a:t>
            </a:r>
          </a:p>
        </p:txBody>
      </p:sp>
      <p:sp>
        <p:nvSpPr>
          <p:cNvPr id="8" name="Rectangle 7"/>
          <p:cNvSpPr/>
          <p:nvPr/>
        </p:nvSpPr>
        <p:spPr>
          <a:xfrm>
            <a:off x="9520504" y="2092960"/>
            <a:ext cx="2141982" cy="3814064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30232" y="2147824"/>
            <a:ext cx="6492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ルーター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65376" y="2851912"/>
            <a:ext cx="3965295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65376" y="4992624"/>
            <a:ext cx="3965295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5847" y="3117088"/>
            <a:ext cx="0" cy="540003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095847" y="4187444"/>
            <a:ext cx="0" cy="540004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1023" y="3922268"/>
            <a:ext cx="3965296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591495" y="3117088"/>
            <a:ext cx="0" cy="540003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591495" y="4187444"/>
            <a:ext cx="0" cy="540004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16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888" y="2641600"/>
            <a:ext cx="420624" cy="4206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92161" y="3107943"/>
            <a:ext cx="61607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2448" y="3363976"/>
            <a:ext cx="59550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10</a:t>
            </a:r>
          </a:p>
        </p:txBody>
      </p:sp>
      <p:pic>
        <p:nvPicPr>
          <p:cNvPr id="20" name="Picture 19" descr="sw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535" y="2641600"/>
            <a:ext cx="420624" cy="4206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43194" y="3107943"/>
            <a:ext cx="130530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Access VLAN 10</a:t>
            </a:r>
          </a:p>
        </p:txBody>
      </p:sp>
      <p:pic>
        <p:nvPicPr>
          <p:cNvPr id="22" name="Picture 21" descr="l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5535" y="3711955"/>
            <a:ext cx="420624" cy="42062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546064" y="4178300"/>
            <a:ext cx="109956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802.1Q Trunk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9750" y="4434332"/>
            <a:ext cx="155219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10・20を1本で運ぶ</a:t>
            </a:r>
          </a:p>
        </p:txBody>
      </p:sp>
      <p:pic>
        <p:nvPicPr>
          <p:cNvPr id="25" name="Picture 24" descr="sw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535" y="4782312"/>
            <a:ext cx="420624" cy="4206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443194" y="5248656"/>
            <a:ext cx="130530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Access VLAN 20</a:t>
            </a:r>
          </a:p>
        </p:txBody>
      </p:sp>
      <p:pic>
        <p:nvPicPr>
          <p:cNvPr id="27" name="Picture 26" descr="gatew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1183" y="2641600"/>
            <a:ext cx="420624" cy="42062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221734" y="3107943"/>
            <a:ext cx="73952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Gi0/0.10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3389" y="3363976"/>
            <a:ext cx="169621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10 / GW 192.168.10.1</a:t>
            </a:r>
          </a:p>
        </p:txBody>
      </p:sp>
      <p:pic>
        <p:nvPicPr>
          <p:cNvPr id="30" name="Picture 29" descr="ethern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81183" y="3711955"/>
            <a:ext cx="420624" cy="4206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794824" y="4178300"/>
            <a:ext cx="159334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Gi0/0（物理ポート）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31425" y="4434332"/>
            <a:ext cx="112014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802.1Qタグを判別</a:t>
            </a:r>
          </a:p>
        </p:txBody>
      </p:sp>
      <p:pic>
        <p:nvPicPr>
          <p:cNvPr id="33" name="Picture 32" descr="gatew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1183" y="4782312"/>
            <a:ext cx="420624" cy="42062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221734" y="5248656"/>
            <a:ext cx="73952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Gi0/0.20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43389" y="5504688"/>
            <a:ext cx="169621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20 / GW 192.168.20.1</a:t>
            </a:r>
          </a:p>
        </p:txBody>
      </p:sp>
      <p:pic>
        <p:nvPicPr>
          <p:cNvPr id="36" name="Picture 35" descr="deskt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9888" y="4782312"/>
            <a:ext cx="420624" cy="42062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292161" y="5248656"/>
            <a:ext cx="61607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開発PC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02448" y="5504688"/>
            <a:ext cx="59550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5415" y="2615311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タグなし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5415" y="475602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タグなし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98096" y="3433952"/>
            <a:ext cx="59550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 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98592" y="4623181"/>
            <a:ext cx="59550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 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47596" y="3685667"/>
            <a:ext cx="1192149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802.1Qタグ 10 / 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59316" y="3552824"/>
            <a:ext cx="113042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 ID 10で分類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59316" y="4623181"/>
            <a:ext cx="113042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 ID 20で分類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サブインターフェースは、1本の物理ポート上に作る論理L3インターフェースです。Gi0/0.10とGi0/0.20は、それぞれVLAN 10と20を終端し、各VLANのデフォルトゲートウェイIPを持ちます。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 10からVLAN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サブインターフェース間の転送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47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受信したVLAN 10のL2フレームをそのままVLAN 20へ渡すのではありません。ルーターはIPパケットを取り出して経路を</a:t>
            </a:r>
          </a:p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選び、VLAN 20向けの送信元・宛先MACアドレスとタグを持つ新しいL2フレームを作ります。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28216" y="2829519"/>
            <a:ext cx="8735263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2719791"/>
            <a:ext cx="1005840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受信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28216" y="3707343"/>
            <a:ext cx="8735263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3597615"/>
            <a:ext cx="1005840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ルーティング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728216" y="4585167"/>
            <a:ext cx="8735263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4475439"/>
            <a:ext cx="1005840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3121" y="2193544"/>
            <a:ext cx="1047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営業PC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29969" y="2614168"/>
            <a:ext cx="1193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026767" y="2614168"/>
            <a:ext cx="0" cy="2894543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130753" y="2193544"/>
            <a:ext cx="1047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L2スイッチ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57601" y="2614168"/>
            <a:ext cx="1193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654399" y="2614168"/>
            <a:ext cx="0" cy="2894543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758385" y="2193544"/>
            <a:ext cx="1047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Gi0/0.10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85233" y="2614168"/>
            <a:ext cx="1193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282031" y="2614168"/>
            <a:ext cx="0" cy="2894543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86017" y="2193544"/>
            <a:ext cx="1047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IP</a:t>
            </a:r>
          </a:p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ルーティング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312865" y="2614168"/>
            <a:ext cx="1193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909663" y="2614168"/>
            <a:ext cx="0" cy="2894543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013649" y="2193544"/>
            <a:ext cx="1047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Gi0/0.20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940497" y="2614168"/>
            <a:ext cx="1193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537295" y="2614168"/>
            <a:ext cx="0" cy="2894543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641281" y="2193544"/>
            <a:ext cx="1047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開発PC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568129" y="2614168"/>
            <a:ext cx="1193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164927" y="2614168"/>
            <a:ext cx="0" cy="2894543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026767" y="3048975"/>
            <a:ext cx="1627632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072487" y="2802087"/>
            <a:ext cx="1536192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① ゲートウェイ宛て・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タグなし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654399" y="3487887"/>
            <a:ext cx="1627632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700119" y="3240999"/>
            <a:ext cx="1536192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② VLAN 10タグでGi0/0.10へ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282031" y="3926799"/>
            <a:ext cx="1627632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327751" y="3679911"/>
            <a:ext cx="1536192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③ タグを外してIPパケットを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受信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909663" y="4365711"/>
            <a:ext cx="1627632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955383" y="4118823"/>
            <a:ext cx="1536192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④ 経路検索・Gi0/0.20を選択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3654399" y="4804623"/>
            <a:ext cx="4882896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309463" y="4557735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⑤ 新しいMAC・VLAN 20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タグで送出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654399" y="5243535"/>
            <a:ext cx="6510528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123279" y="4996647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⑥ タグを外してAccessへ送出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送信元・宛先IPアドレスは維持し、MACアドレスとVLANタグはルーティング区間ごとに作り直します。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VLAN間ルーティング方式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SVIとルーターサブインターフェース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92224"/>
          <a:ext cx="11185854" cy="405993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64276"/>
                <a:gridCol w="3702381"/>
                <a:gridCol w="5119197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観点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L3スイッチのSVI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ルーターのサブインターフェース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6803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論理インターフェース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interface Vlan10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interface Gi0/0.10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6803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VLANとの結び付け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SVI番号をVLAN IDへ対応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encapsulation dot1Q 10で指定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6803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物理接続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スイッチ内部のVLANとL3転送を接続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1本のルーターポートで複数VLANを終端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6803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転送処理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転送エンジンがSVI間を中継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ルーターの転送機能がサブインターフェース間を中継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680313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主な利用場面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L3スイッチで多数VLANを収容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外部ルーターへVLAN間中継を集約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どちらもVLANごとのL3インターフェースへIPアドレスを持たせ、端末のデフォルトゲートウェイとして使います。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Cisco IOS XE設定例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L3スイッチのSVI設定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VLAN 10と20へゲートウェイを作り、L3スイッチ内のIPルーティングを有効にする例です。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3584955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SVIを作成してL3転送を有効化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29265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ip routing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vlan 10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name SALES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vlan 20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name DEV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!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interface Vlan10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ip address 192.168.10.1 255.255.255.0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no shutdown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interface Vlan20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ip address 192.168.20.1 255.255.255.0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no shutdown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設定の読み方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3" y="2678684"/>
            <a:ext cx="3495751" cy="9206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ip routingは、L3スイッチのIP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ルーティングを有効にする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93023" y="3635925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3690789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3" y="3672501"/>
            <a:ext cx="3495751" cy="9206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interface Vlan10とVlan20は、各VLANのL3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インターフェースを作る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023" y="462974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468460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3" y="4666318"/>
            <a:ext cx="3495751" cy="9206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192.168.10.1と192.168.20.1は、各VLANの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端末が使うデフォルトゲートウェイになる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806440"/>
            <a:ext cx="11185855" cy="38404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5888736"/>
            <a:ext cx="1085667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VLANの作成、SVIのIP設定、IPルーティング有効化を一組で構成します。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Cisco IOS XE show出力例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SVIの状態と直結経路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表示は代表的な抜粋です。インターフェース名と出力形式は機種・IOS XEリリースで異なります。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3584955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SVIのIPアドレスと稼働状態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04266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Switch# show ip int brief | include Vlan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Vlan10  192.168.10.1  YES manual  up  up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Vlan20  192.168.20.1  YES manual  up  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178554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ルーティングテーブルの直結経路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498594"/>
            <a:ext cx="6391656" cy="104266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Switch# show ip route connected | include ^C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C 192.168.10.0/24 is directly connected, Vlan10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C 192.168.20.0/24 is directly connected, Vlan20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出力から読む状態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6722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Vlan10とVlan20がup / upで、L3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インターフェースとして利用できる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387471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442335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424047"/>
            <a:ext cx="3495751" cy="6722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SVIのline protocolは、対応VLANと接続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ポートの状態にも連動する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132833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18769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169409"/>
            <a:ext cx="3495751" cy="6722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Cで始まる直結経路が、対応するVlan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インターフェースへ登録されている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487819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493306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4914773"/>
            <a:ext cx="3495751" cy="6722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端末のデフォルトゲートウェイが、所属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VLANのSVIアドレスを指している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806440"/>
            <a:ext cx="11185855" cy="38404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5888736"/>
            <a:ext cx="1085667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SVIはIPアドレスだけでなく、up / upと直結経路の両方を確認します。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Cisco IOS XE設定例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ルーターサブインターフェースの設定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1本の物理ポートでVLAN 10と20を終端する、Router-on-a-Stickの代表例です。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3584955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物理ポートをVLAN別の論理IFへ分割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29265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interface Gi0/0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no ip address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no shutdown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!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interface Gi0/0.10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encapsulation dot1Q 10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ip address 192.168.10.1 255.255.255.0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!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interface Gi0/0.20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encapsulation dot1Q 20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ip address 192.168.20.1 255.255.255.0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設定の読み方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3" y="2678684"/>
            <a:ext cx="3495751" cy="6722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親インターフェースGi0/0は、VLANを運ぶ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物理リンクとして使う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93023" y="3387471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3442335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3" y="3424047"/>
            <a:ext cx="3495751" cy="6722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encapsulation dot1Q 10と20は、各論理IFへ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対応するVLAN IDを指定する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023" y="4132833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418769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3" y="4169409"/>
            <a:ext cx="3495751" cy="6722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Gi0/0.10とGi0/0.20のIPアドレスは、各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VLANのデフォルトゲートウェイになる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93023" y="487819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93306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3023" y="4914773"/>
            <a:ext cx="3495751" cy="6722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対向スイッチのTrunkでも、VLAN 10と20を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作成・許可する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806440"/>
            <a:ext cx="11185855" cy="38404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5888736"/>
            <a:ext cx="1085667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親ポート、802.1Q VLAN ID、IPアドレス、対向Trunkを一組で構成します。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Cisco IOS XE show出力例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サブインターフェースの状態と直結経路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表示は代表的な抜粋です。インターフェース名と出力形式は機種・IOS XEリリースで異なります。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3584955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親ポートとサブインターフェース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04266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Router# show ip int brief | include GigabitEthernet0/0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GigabitEthernet0/0     unassigned      YES unset   up  up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GigabitEthernet0/0.10  192.168.10.1   YES manual  up  up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GigabitEthernet0/0.20  192.168.20.1   YES manual  up  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178554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ルーティングテーブルの直結経路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498594"/>
            <a:ext cx="6391656" cy="104266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Router# show ip route connected | include ^C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C 192.168.10.0/24 is directly connected, GigabitEthernet0/0.10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C 192.168.20.0/24 is directly connected, GigabitEthernet0/0.20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出力から読む状態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6722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親インターフェースGi0/0がup / upで、IP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アドレスを持たない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387471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442335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424047"/>
            <a:ext cx="3495751" cy="6722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Gi0/0.10とGi0/0.20がup / upで、それぞれ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ゲートウェイIPを持つ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132833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18769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169409"/>
            <a:ext cx="3495751" cy="6722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dot1QのVLAN IDが、対向スイッチの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Trunkで許可するVLANと一致している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487819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493306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4914773"/>
            <a:ext cx="3495751" cy="6722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直結経路の出力先が、対応する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サブインターフェースになっている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806440"/>
            <a:ext cx="11185855" cy="38404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5888736"/>
            <a:ext cx="1085667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サブインターフェースは親ポートの状態、論理IFのIP、直結経路を続けて確認します。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混同しやすい概念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VLANとIPサブネット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92224"/>
          <a:ext cx="11185853" cy="43342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43436"/>
                <a:gridCol w="3559306"/>
                <a:gridCol w="5083111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観点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VLAN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IPサブネット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73517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主な層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L2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L3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73517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識別子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VLAN ID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ネットワークアドレス / プレフィックス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73517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分ける範囲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ブロードキャストドメイン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IPアドレスとルーティングの範囲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73517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境界を越える方法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L3機器へ渡す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ルータが経路選択する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73517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一般的な設計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1 VLAN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1 IPサブネットを対応させる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VLANの設定と確認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Cisco IOS形式の例です。実機では機種とOSのコマンド仕様を確認してください。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3584955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Access: 端末ポートをVLAN 10へ所属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04266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vlan 10</a:t>
            </a:r>
          </a:p>
          <a:p>
            <a:pPr algn="l">
              <a:lnSpc>
                <a:spcPct val="118000"/>
              </a:lnSpc>
            </a:pPr>
            <a:r>
              <a:rPr sz="115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name SALES</a:t>
            </a:r>
          </a:p>
          <a:p>
            <a:pPr algn="l">
              <a:lnSpc>
                <a:spcPct val="118000"/>
              </a:lnSpc>
            </a:pPr>
            <a:r>
              <a:rPr sz="115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!</a:t>
            </a:r>
          </a:p>
          <a:p>
            <a:pPr algn="l">
              <a:lnSpc>
                <a:spcPct val="118000"/>
              </a:lnSpc>
            </a:pPr>
            <a:r>
              <a:rPr sz="115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interface Gi1/0/1</a:t>
            </a:r>
          </a:p>
          <a:p>
            <a:pPr algn="l">
              <a:lnSpc>
                <a:spcPct val="118000"/>
              </a:lnSpc>
            </a:pPr>
            <a:r>
              <a:rPr sz="115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switchport mode access</a:t>
            </a:r>
          </a:p>
          <a:p>
            <a:pPr algn="l">
              <a:lnSpc>
                <a:spcPct val="118000"/>
              </a:lnSpc>
            </a:pPr>
            <a:r>
              <a:rPr sz="115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switchport access vlan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178554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Trunk: VLAN 10と20を許可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498594"/>
            <a:ext cx="6391656" cy="104266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interface Gi1/0/24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switchport mode trunk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switchport trunk allowed vlan 10,20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投入後に確認する状態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6722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show vlan briefで、Gi1/0/1がVLAN 10に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所属している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387471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442335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424047"/>
            <a:ext cx="3495751" cy="6722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show interfaces trunkで、Gi1/0/24が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Trunkとして動作している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132833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18769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169409"/>
            <a:ext cx="3495751" cy="6722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 10と20が、Trunkの許可VLANへ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含まれている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487819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493306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4914773"/>
            <a:ext cx="3495751" cy="6722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対向スイッチでも同じVLANが作成・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許可されている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806440"/>
            <a:ext cx="11185855" cy="38404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5888736"/>
            <a:ext cx="1085667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設定後は、意図したVLAN所属、Trunkの許可VLAN、対向機器との一致を確認します。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障害切り分け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VLAN障害の切り分け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疎通できないときは、物理、Access、Trunk、MACアドレス表、L3の順に境界を確認します。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784908" y="2542941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444" y="2277765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444" y="2360061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979682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500412"/>
            <a:ext cx="1832457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リンク状態とポートエラーを確認する。</a:t>
            </a:r>
          </a:p>
        </p:txBody>
      </p:sp>
      <p:sp>
        <p:nvSpPr>
          <p:cNvPr id="11" name="Oval 10"/>
          <p:cNvSpPr/>
          <p:nvPr/>
        </p:nvSpPr>
        <p:spPr>
          <a:xfrm>
            <a:off x="3644798" y="2277765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4798" y="2360061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8025" y="2979682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2033" y="3500412"/>
            <a:ext cx="1832457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端末ポートのVLAN IDを確認する。</a:t>
            </a:r>
          </a:p>
        </p:txBody>
      </p:sp>
      <p:sp>
        <p:nvSpPr>
          <p:cNvPr id="15" name="Oval 14"/>
          <p:cNvSpPr/>
          <p:nvPr/>
        </p:nvSpPr>
        <p:spPr>
          <a:xfrm>
            <a:off x="5788152" y="2277765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88152" y="2360061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91379" y="2979682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5387" y="3500412"/>
            <a:ext cx="1832457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許可VLANとネイティブVLANを両端で比較する。</a:t>
            </a:r>
          </a:p>
        </p:txBody>
      </p:sp>
      <p:sp>
        <p:nvSpPr>
          <p:cNvPr id="19" name="Oval 18"/>
          <p:cNvSpPr/>
          <p:nvPr/>
        </p:nvSpPr>
        <p:spPr>
          <a:xfrm>
            <a:off x="7931505" y="2277765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1505" y="2360061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4732" y="2979682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MACアドレス表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98740" y="3500412"/>
            <a:ext cx="1832457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対象VLANで宛先MACと出力ポートを確認する。</a:t>
            </a:r>
          </a:p>
        </p:txBody>
      </p:sp>
      <p:sp>
        <p:nvSpPr>
          <p:cNvPr id="23" name="Oval 22"/>
          <p:cNvSpPr/>
          <p:nvPr/>
        </p:nvSpPr>
        <p:spPr>
          <a:xfrm>
            <a:off x="10074859" y="2277765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74859" y="2360061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8086" y="2979682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42094" y="3500412"/>
            <a:ext cx="1832457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IP設定、ゲートウェイ、経路を確認する。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54255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54255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935967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VLANの説明として最も適切なものはどれか。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240767"/>
            <a:ext cx="45868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L2のブロードキャストドメインを論理的に分ける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76163" y="2240767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通信内容を暗号化する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" y="2542519"/>
            <a:ext cx="269405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IPアドレスを自動配布する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999719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3127735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3127735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3109447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2台のスイッチ間でVLAN 10と20を1本のリンクへ通すとき、使うポート種別はどれか。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414247"/>
            <a:ext cx="352729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1つのVLANへ収容するAccessポート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6602" y="3414247"/>
            <a:ext cx="29512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複数VLANを運ぶTrunkポート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" y="3715999"/>
            <a:ext cx="3465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IPネットワークを中継するL3ポート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解答と解説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解答と解説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888723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888723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70435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VLANの説明として最も適切なものはどれか。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75235"/>
            <a:ext cx="45868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A. L2のブロードキャストドメインを論理的に分ける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76163" y="2175235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通信内容を暗号化する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" y="2476987"/>
            <a:ext cx="269405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IPアドレスを自動配布する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2824459"/>
            <a:ext cx="5303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解説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6504" y="2824459"/>
            <a:ext cx="9052560" cy="273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VLANは物理配線を共有しながら、L2の通信範囲を複数の論理LANへ分割します。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24712" y="3207237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1208" y="3335253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" y="3335253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" y="3316965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2台のスイッチ間でVLAN 10と20を1本のリンクへ通すとき、使うポート種別はどれか。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" y="3621765"/>
            <a:ext cx="352729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1つのVLANへ収容するAccessポート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6602" y="3621765"/>
            <a:ext cx="300266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B. 複数VLANを運ぶTrunkポート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923517"/>
            <a:ext cx="3465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IPネットワークを中継するL3ポート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" y="4270989"/>
            <a:ext cx="5303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解説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46504" y="4270989"/>
            <a:ext cx="9052560" cy="273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Trunkは802.1QタグでVLAN IDを識別し、複数VLANを1本の物理リンクで運びます。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VLAN間通信とTrunk設定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VLAN間通信とネイティブVLANの確認問題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2016434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201643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998146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 10の端末からVLAN 20の端末へ通信するとき、必要な機能はどれか。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302946"/>
            <a:ext cx="180936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L3ルーティング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8673" y="2302946"/>
            <a:ext cx="255003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同じAccess VLANの設定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13298" y="2302946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ケーブルの二重化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802818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930834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93083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912546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Trunk両端でネイティブVLANが異なるとき、タグなしフレームは受信側でどう分類されるか。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217346"/>
            <a:ext cx="37536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受信側のネイティブVLANへ分類される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2916" y="3217346"/>
            <a:ext cx="30643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送信側のVLAN IDが復元される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1891" y="3217346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必ず破棄される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VLAN間通信とTrunk設定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VLAN間通信とネイティブVLANの解答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61144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611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942856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VLAN 10の端末からVLAN 20の端末へ通信するとき、必要な機能はどれか。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247656"/>
            <a:ext cx="180936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A. L3ルーティング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8673" y="2247656"/>
            <a:ext cx="255003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同じAccess VLANの設定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13298" y="2247656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ケーブルの二重化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2595128"/>
            <a:ext cx="5303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解説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6504" y="2595128"/>
            <a:ext cx="9052560" cy="273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異なるVLANは別のL2ネットワークなので、ルータまたはL3スイッチが中継します。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24712" y="2977906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1208" y="3105922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" y="310592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" y="3087634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Trunk両端でネイティブVLANが異なるとき、タグなしフレームは受信側でどう分類されるか。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" y="3392434"/>
            <a:ext cx="376389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A. 受信側のネイティブVLANへ分類される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3202" y="3392434"/>
            <a:ext cx="30643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送信側のVLAN IDが復元される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2177" y="3392434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必ず破棄される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" y="3739906"/>
            <a:ext cx="5303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解説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46504" y="3739906"/>
            <a:ext cx="9052560" cy="273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タグなしフレームにはVLAN IDがないため、受信スイッチは自分のネイティブVLAN設定で分類します。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52600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どの端末が同じVLAN、つまり同じブロードキャストドメインに属するか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62556"/>
            <a:ext cx="827532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06980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491740"/>
            <a:ext cx="88239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タグなし受信をどのPVIDへ分類し、どのTrunkでタグ付き転送するか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16936"/>
            <a:ext cx="827532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261360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246120"/>
            <a:ext cx="88239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MACアドレス表とルーティングテーブルが、どの転送判断に使われるか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671315"/>
            <a:ext cx="827532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15740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4000500"/>
            <a:ext cx="88239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異なるVLAN間を、どのデフォルトゲートウェイとL3機器が中継するか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3312" y="4425696"/>
            <a:ext cx="827532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770120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4754880"/>
            <a:ext cx="882396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L3スイッチではSVI、外部ルーターでは802.1Qサブインターフェースをどのように設定・確認するか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53312" y="5458968"/>
            <a:ext cx="827532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新入社員向けネットワーク基礎研修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