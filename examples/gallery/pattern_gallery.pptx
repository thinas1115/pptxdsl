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image" Target="../media/image12.png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3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docs/product-overview" TargetMode="External"/><Relationship Id="rId3" Type="http://schemas.openxmlformats.org/officeDocument/2006/relationships/hyperlink" Target="https://example.com/docs/operations-guide" TargetMode="External"/><Relationship Id="rId4" Type="http://schemas.openxmlformats.org/officeDocument/2006/relationships/hyperlink" Target="https://example.com/pric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:textLayout xmlns:ns9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意思決定から技術研修まで、27のTypeを37枚で検証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4:textLayout xmlns:ns1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:textLayout xmlns:ns1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4:textLayout xmlns:ns2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6:textLayout xmlns:ns3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1:textLayout xmlns:ns41="urn:pptxdsl:text-layout:v1" role="natural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2029968"/>
            <a:ext cx="4663440" cy="297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10000"/>
              </a:lnSpc>
            </a:pPr>
            <a:r>
              <a:rPr sz="20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第2章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2601976"/>
            <a:ext cx="9555480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02000"/>
              </a:lnSpc>
            </a:pPr>
            <a:r>
              <a:rPr sz="4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導入計画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3449320"/>
            <a:ext cx="955548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6000"/>
              </a:lnSpc>
            </a:pPr>
            <a:r>
              <a:rPr sz="18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試験導入から展開判断まで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>
                      <a:extLst>
                        <a:ext uri="{8AF73BB6-5E31-4F0F-A399-3D98F3B95FD9}">
                          <ns12:textLayout xmlns:ns1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17:textLayout xmlns:ns1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2:textLayout xmlns:ns2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27:textLayout xmlns:ns2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32:textLayout xmlns:ns3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37:textLayout xmlns:ns3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2:textLayout xmlns:ns4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47:textLayout xmlns:ns4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52:textLayout xmlns:ns5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57:textLayout xmlns:ns5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2:textLayout xmlns:ns6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67:textLayout xmlns:ns6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AF9F5"/>
                    </a:solidFill>
                  </a:tcPr>
                </a:tc>
              </a:tr>
              <a:tr h="950976">
                <a:tc>
                  <a:txBody>
                    <a:bodyPr wrap="square">
                      <a:extLst>
                        <a:ext uri="{8AF73BB6-5E31-4F0F-A399-3D98F3B95FD9}">
                          <ns72:textLayout xmlns:ns7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77:textLayout xmlns:ns7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2:textLayout xmlns:ns82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>
                      <a:extLst>
                        <a:ext uri="{8AF73BB6-5E31-4F0F-A399-3D98F3B95FD9}">
                          <ns87:textLayout xmlns:ns87="urn:pptxdsl:text-layout:v1" role="compact"/>
                        </a:ext>
                      </a:extLst>
                    </a:bodyPr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4105884" y="1772412"/>
            <a:ext cx="0" cy="13525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4105884" y="2197227"/>
            <a:ext cx="0" cy="103251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4105884" y="3519297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5812612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7519339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9226067" y="1772412"/>
            <a:ext cx="0" cy="376428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10932795" y="1772412"/>
            <a:ext cx="0" cy="201739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0932795" y="4079367"/>
            <a:ext cx="0" cy="1457325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2399157" y="1772412"/>
            <a:ext cx="0" cy="376428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399157" y="1957959"/>
            <a:ext cx="1536054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399157" y="2338958"/>
            <a:ext cx="443749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399157" y="2899029"/>
            <a:ext cx="4096146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2399157" y="3280029"/>
            <a:ext cx="1433651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2399157" y="3840099"/>
            <a:ext cx="8192292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2399157" y="4221099"/>
            <a:ext cx="2901436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2399157" y="4781169"/>
            <a:ext cx="3072109" cy="1889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2399157" y="5162169"/>
            <a:ext cx="955767" cy="1889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1729359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axis-value"/>
          <p:cNvSpPr txBox="1"/>
          <p:nvPr/>
        </p:nvSpPr>
        <p:spPr>
          <a:xfrm>
            <a:off x="2334577" y="5600700"/>
            <a:ext cx="129159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26" name="chart:axis-value"/>
          <p:cNvSpPr txBox="1"/>
          <p:nvPr/>
        </p:nvSpPr>
        <p:spPr>
          <a:xfrm>
            <a:off x="3995013" y="560070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50</a:t>
            </a:r>
          </a:p>
        </p:txBody>
      </p:sp>
      <p:sp>
        <p:nvSpPr>
          <p:cNvPr id="27" name="chart:axis-value"/>
          <p:cNvSpPr txBox="1"/>
          <p:nvPr/>
        </p:nvSpPr>
        <p:spPr>
          <a:xfrm>
            <a:off x="5655449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7362177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150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9068904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200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10775632" y="5600700"/>
            <a:ext cx="31432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250</a:t>
            </a:r>
          </a:p>
        </p:txBody>
      </p:sp>
      <p:sp>
        <p:nvSpPr>
          <p:cNvPr id="31" name="chart:category"/>
          <p:cNvSpPr txBox="1"/>
          <p:nvPr/>
        </p:nvSpPr>
        <p:spPr>
          <a:xfrm>
            <a:off x="694944" y="213474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週次報告</a:t>
            </a:r>
          </a:p>
        </p:txBody>
      </p:sp>
      <p:sp>
        <p:nvSpPr>
          <p:cNvPr id="32" name="chart:category"/>
          <p:cNvSpPr txBox="1"/>
          <p:nvPr/>
        </p:nvSpPr>
        <p:spPr>
          <a:xfrm>
            <a:off x="694944" y="307581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月次レビュー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694944" y="401688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調査サマリ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694944" y="4957953"/>
            <a:ext cx="98755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役員向け抜粋</a:t>
            </a:r>
          </a:p>
        </p:txBody>
      </p:sp>
      <p:sp>
        <p:nvSpPr>
          <p:cNvPr id="35" name="chart:legend"/>
          <p:cNvSpPr txBox="1"/>
          <p:nvPr/>
        </p:nvSpPr>
        <p:spPr>
          <a:xfrm>
            <a:off x="896112" y="5864352"/>
            <a:ext cx="668655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従来 (分)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1930527" y="5864352"/>
            <a:ext cx="833247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生成後 (分)</a:t>
            </a:r>
          </a:p>
        </p:txBody>
      </p:sp>
      <p:sp>
        <p:nvSpPr>
          <p:cNvPr id="37" name="chart:data-value"/>
          <p:cNvSpPr txBox="1"/>
          <p:nvPr/>
        </p:nvSpPr>
        <p:spPr>
          <a:xfrm>
            <a:off x="4017507" y="1944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45</a:t>
            </a:r>
          </a:p>
        </p:txBody>
      </p:sp>
      <p:sp>
        <p:nvSpPr>
          <p:cNvPr id="38" name="chart:data-value"/>
          <p:cNvSpPr txBox="1"/>
          <p:nvPr/>
        </p:nvSpPr>
        <p:spPr>
          <a:xfrm>
            <a:off x="2925202" y="232524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6577599" y="288531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120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3915104" y="326631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42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10673745" y="3826383"/>
            <a:ext cx="309753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240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5382889" y="420738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85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5553562" y="4767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90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3437220" y="5148453"/>
            <a:ext cx="21717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081278" y="4283201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1081278" y="3518915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081278" y="2754629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1081278" y="1990344"/>
            <a:ext cx="1018717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zero-axis"/>
          <p:cNvCxnSpPr/>
          <p:nvPr/>
        </p:nvCxnSpPr>
        <p:spPr>
          <a:xfrm>
            <a:off x="1081278" y="5047488"/>
            <a:ext cx="10187178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data-line"/>
          <p:cNvCxnSpPr/>
          <p:nvPr/>
        </p:nvCxnSpPr>
        <p:spPr>
          <a:xfrm flipV="1">
            <a:off x="1647232" y="4359630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data-line"/>
          <p:cNvCxnSpPr/>
          <p:nvPr/>
        </p:nvCxnSpPr>
        <p:spPr>
          <a:xfrm flipV="1">
            <a:off x="2779141" y="4092130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data-line"/>
          <p:cNvCxnSpPr/>
          <p:nvPr/>
        </p:nvCxnSpPr>
        <p:spPr>
          <a:xfrm flipV="1">
            <a:off x="3911049" y="3862844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data-line"/>
          <p:cNvCxnSpPr/>
          <p:nvPr/>
        </p:nvCxnSpPr>
        <p:spPr>
          <a:xfrm flipV="1">
            <a:off x="5042958" y="3366058"/>
            <a:ext cx="1131909" cy="4967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hart:data-line"/>
          <p:cNvCxnSpPr/>
          <p:nvPr/>
        </p:nvCxnSpPr>
        <p:spPr>
          <a:xfrm flipV="1">
            <a:off x="6174867" y="3060344"/>
            <a:ext cx="1131908" cy="305714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hart:data-line"/>
          <p:cNvCxnSpPr/>
          <p:nvPr/>
        </p:nvCxnSpPr>
        <p:spPr>
          <a:xfrm flipV="1">
            <a:off x="7306775" y="2716415"/>
            <a:ext cx="1131909" cy="343929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hart:data-line"/>
          <p:cNvCxnSpPr/>
          <p:nvPr/>
        </p:nvCxnSpPr>
        <p:spPr>
          <a:xfrm flipV="1">
            <a:off x="8438684" y="2487129"/>
            <a:ext cx="1131909" cy="229286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hart:data-line"/>
          <p:cNvCxnSpPr/>
          <p:nvPr/>
        </p:nvCxnSpPr>
        <p:spPr>
          <a:xfrm flipV="1">
            <a:off x="9570593" y="2219629"/>
            <a:ext cx="1131908" cy="267500"/>
          </a:xfrm>
          <a:prstGeom prst="line">
            <a:avLst/>
          </a:prstGeom>
          <a:ln w="228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hart:data-line"/>
          <p:cNvCxnSpPr/>
          <p:nvPr/>
        </p:nvCxnSpPr>
        <p:spPr>
          <a:xfrm flipV="1">
            <a:off x="1647232" y="4092130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hart:data-line"/>
          <p:cNvCxnSpPr/>
          <p:nvPr/>
        </p:nvCxnSpPr>
        <p:spPr>
          <a:xfrm flipV="1">
            <a:off x="2779141" y="3901058"/>
            <a:ext cx="1131908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hart:data-line"/>
          <p:cNvCxnSpPr/>
          <p:nvPr/>
        </p:nvCxnSpPr>
        <p:spPr>
          <a:xfrm flipV="1">
            <a:off x="3911049" y="3709987"/>
            <a:ext cx="1131909" cy="191071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hart:data-line"/>
          <p:cNvCxnSpPr/>
          <p:nvPr/>
        </p:nvCxnSpPr>
        <p:spPr>
          <a:xfrm flipV="1">
            <a:off x="5042958" y="3518915"/>
            <a:ext cx="1131909" cy="19107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hart:data-line"/>
          <p:cNvCxnSpPr/>
          <p:nvPr/>
        </p:nvCxnSpPr>
        <p:spPr>
          <a:xfrm flipV="1">
            <a:off x="6174867" y="3136773"/>
            <a:ext cx="1131908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hart:data-line"/>
          <p:cNvCxnSpPr/>
          <p:nvPr/>
        </p:nvCxnSpPr>
        <p:spPr>
          <a:xfrm flipV="1">
            <a:off x="7306775" y="2754629"/>
            <a:ext cx="1131909" cy="382144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hart:data-line"/>
          <p:cNvCxnSpPr/>
          <p:nvPr/>
        </p:nvCxnSpPr>
        <p:spPr>
          <a:xfrm flipV="1">
            <a:off x="8438684" y="2372487"/>
            <a:ext cx="1131909" cy="382142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hart:data-line"/>
          <p:cNvCxnSpPr/>
          <p:nvPr/>
        </p:nvCxnSpPr>
        <p:spPr>
          <a:xfrm flipV="1">
            <a:off x="9570593" y="1990344"/>
            <a:ext cx="1131908" cy="382143"/>
          </a:xfrm>
          <a:prstGeom prst="line">
            <a:avLst/>
          </a:prstGeom>
          <a:ln w="2286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art:legend-key"/>
          <p:cNvSpPr/>
          <p:nvPr/>
        </p:nvSpPr>
        <p:spPr>
          <a:xfrm>
            <a:off x="1554480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art:data-dot"/>
          <p:cNvSpPr/>
          <p:nvPr/>
        </p:nvSpPr>
        <p:spPr>
          <a:xfrm>
            <a:off x="1601512" y="4543196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art:data-dot"/>
          <p:cNvSpPr/>
          <p:nvPr/>
        </p:nvSpPr>
        <p:spPr>
          <a:xfrm>
            <a:off x="2733421" y="43139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art:data-dot"/>
          <p:cNvSpPr/>
          <p:nvPr/>
        </p:nvSpPr>
        <p:spPr>
          <a:xfrm>
            <a:off x="3865329" y="4046410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chart:data-dot"/>
          <p:cNvSpPr/>
          <p:nvPr/>
        </p:nvSpPr>
        <p:spPr>
          <a:xfrm>
            <a:off x="4997238" y="38171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chart:data-dot"/>
          <p:cNvSpPr/>
          <p:nvPr/>
        </p:nvSpPr>
        <p:spPr>
          <a:xfrm>
            <a:off x="6129147" y="3320338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art:data-dot"/>
          <p:cNvSpPr/>
          <p:nvPr/>
        </p:nvSpPr>
        <p:spPr>
          <a:xfrm>
            <a:off x="7261055" y="3014624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art:data-dot"/>
          <p:cNvSpPr/>
          <p:nvPr/>
        </p:nvSpPr>
        <p:spPr>
          <a:xfrm>
            <a:off x="8392964" y="2670695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art:data-dot"/>
          <p:cNvSpPr/>
          <p:nvPr/>
        </p:nvSpPr>
        <p:spPr>
          <a:xfrm>
            <a:off x="9524873" y="24414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art:data-dot"/>
          <p:cNvSpPr/>
          <p:nvPr/>
        </p:nvSpPr>
        <p:spPr>
          <a:xfrm>
            <a:off x="10656781" y="2173909"/>
            <a:ext cx="91440" cy="91440"/>
          </a:xfrm>
          <a:prstGeom prst="ellipse">
            <a:avLst/>
          </a:prstGeom>
          <a:solidFill>
            <a:srgbClr val="0D7870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hart:data-dot"/>
          <p:cNvSpPr/>
          <p:nvPr/>
        </p:nvSpPr>
        <p:spPr>
          <a:xfrm>
            <a:off x="1601512" y="4237482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chart:data-dot"/>
          <p:cNvSpPr/>
          <p:nvPr/>
        </p:nvSpPr>
        <p:spPr>
          <a:xfrm>
            <a:off x="2733421" y="40464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art:data-dot"/>
          <p:cNvSpPr/>
          <p:nvPr/>
        </p:nvSpPr>
        <p:spPr>
          <a:xfrm>
            <a:off x="3865329" y="3855338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art:data-dot"/>
          <p:cNvSpPr/>
          <p:nvPr/>
        </p:nvSpPr>
        <p:spPr>
          <a:xfrm>
            <a:off x="4997238" y="36642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art:data-dot"/>
          <p:cNvSpPr/>
          <p:nvPr/>
        </p:nvSpPr>
        <p:spPr>
          <a:xfrm>
            <a:off x="6129147" y="3473195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art:data-dot"/>
          <p:cNvSpPr/>
          <p:nvPr/>
        </p:nvSpPr>
        <p:spPr>
          <a:xfrm>
            <a:off x="7261055" y="3091053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art:data-dot"/>
          <p:cNvSpPr/>
          <p:nvPr/>
        </p:nvSpPr>
        <p:spPr>
          <a:xfrm>
            <a:off x="8392964" y="2708910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hart:data-dot"/>
          <p:cNvSpPr/>
          <p:nvPr/>
        </p:nvSpPr>
        <p:spPr>
          <a:xfrm>
            <a:off x="9524873" y="2326767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art:data-dot"/>
          <p:cNvSpPr/>
          <p:nvPr/>
        </p:nvSpPr>
        <p:spPr>
          <a:xfrm>
            <a:off x="10656781" y="1944624"/>
            <a:ext cx="91440" cy="91440"/>
          </a:xfrm>
          <a:prstGeom prst="ellipse">
            <a:avLst/>
          </a:prstGeom>
          <a:solidFill>
            <a:srgbClr val="182C43"/>
          </a:solidFill>
          <a:ln w="762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art:axis-value"/>
          <p:cNvSpPr txBox="1"/>
          <p:nvPr/>
        </p:nvSpPr>
        <p:spPr>
          <a:xfrm>
            <a:off x="694944" y="4939284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48" name="chart:axis-value"/>
          <p:cNvSpPr txBox="1"/>
          <p:nvPr/>
        </p:nvSpPr>
        <p:spPr>
          <a:xfrm>
            <a:off x="694944" y="4174997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9" name="chart:axis-value"/>
          <p:cNvSpPr txBox="1"/>
          <p:nvPr/>
        </p:nvSpPr>
        <p:spPr>
          <a:xfrm>
            <a:off x="694944" y="3410711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</a:t>
            </a:r>
          </a:p>
        </p:txBody>
      </p:sp>
      <p:sp>
        <p:nvSpPr>
          <p:cNvPr id="50" name="chart:axis-value"/>
          <p:cNvSpPr txBox="1"/>
          <p:nvPr/>
        </p:nvSpPr>
        <p:spPr>
          <a:xfrm>
            <a:off x="694944" y="2646426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</a:t>
            </a:r>
          </a:p>
        </p:txBody>
      </p:sp>
      <p:sp>
        <p:nvSpPr>
          <p:cNvPr id="51" name="chart:axis-value"/>
          <p:cNvSpPr txBox="1"/>
          <p:nvPr/>
        </p:nvSpPr>
        <p:spPr>
          <a:xfrm>
            <a:off x="694944" y="1882140"/>
            <a:ext cx="221742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</a:t>
            </a:r>
          </a:p>
        </p:txBody>
      </p:sp>
      <p:sp>
        <p:nvSpPr>
          <p:cNvPr id="52" name="chart:category"/>
          <p:cNvSpPr txBox="1"/>
          <p:nvPr/>
        </p:nvSpPr>
        <p:spPr>
          <a:xfrm>
            <a:off x="116357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53" name="chart:category"/>
          <p:cNvSpPr txBox="1"/>
          <p:nvPr/>
        </p:nvSpPr>
        <p:spPr>
          <a:xfrm>
            <a:off x="2295482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54" name="chart:category"/>
          <p:cNvSpPr txBox="1"/>
          <p:nvPr/>
        </p:nvSpPr>
        <p:spPr>
          <a:xfrm>
            <a:off x="3427391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55" name="chart:category"/>
          <p:cNvSpPr txBox="1"/>
          <p:nvPr/>
        </p:nvSpPr>
        <p:spPr>
          <a:xfrm>
            <a:off x="4559300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56" name="chart:category"/>
          <p:cNvSpPr txBox="1"/>
          <p:nvPr/>
        </p:nvSpPr>
        <p:spPr>
          <a:xfrm>
            <a:off x="5691208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57" name="chart:category"/>
          <p:cNvSpPr txBox="1"/>
          <p:nvPr/>
        </p:nvSpPr>
        <p:spPr>
          <a:xfrm>
            <a:off x="6823117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58" name="chart:category"/>
          <p:cNvSpPr txBox="1"/>
          <p:nvPr/>
        </p:nvSpPr>
        <p:spPr>
          <a:xfrm>
            <a:off x="7955026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59" name="chart:category"/>
          <p:cNvSpPr txBox="1"/>
          <p:nvPr/>
        </p:nvSpPr>
        <p:spPr>
          <a:xfrm>
            <a:off x="9086934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60" name="chart:category"/>
          <p:cNvSpPr txBox="1"/>
          <p:nvPr/>
        </p:nvSpPr>
        <p:spPr>
          <a:xfrm>
            <a:off x="10218843" y="5355335"/>
            <a:ext cx="96731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61" name="chart:legend"/>
          <p:cNvSpPr txBox="1"/>
          <p:nvPr/>
        </p:nvSpPr>
        <p:spPr>
          <a:xfrm>
            <a:off x="896112" y="5864352"/>
            <a:ext cx="49377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利用率</a:t>
            </a:r>
          </a:p>
        </p:txBody>
      </p:sp>
      <p:sp>
        <p:nvSpPr>
          <p:cNvPr id="62" name="chart:legend"/>
          <p:cNvSpPr txBox="1"/>
          <p:nvPr/>
        </p:nvSpPr>
        <p:spPr>
          <a:xfrm>
            <a:off x="1755648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cxnSp>
        <p:nvCxnSpPr>
          <p:cNvPr id="5" name="chart:grid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hart:grid"/>
          <p:cNvCxnSpPr/>
          <p:nvPr/>
        </p:nvCxnSpPr>
        <p:spPr>
          <a:xfrm>
            <a:off x="1307592" y="4436059"/>
            <a:ext cx="4764595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hart:grid"/>
          <p:cNvCxnSpPr/>
          <p:nvPr/>
        </p:nvCxnSpPr>
        <p:spPr>
          <a:xfrm>
            <a:off x="6496240" y="4436059"/>
            <a:ext cx="47645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hart:grid"/>
          <p:cNvCxnSpPr/>
          <p:nvPr/>
        </p:nvCxnSpPr>
        <p:spPr>
          <a:xfrm>
            <a:off x="1307592" y="3824630"/>
            <a:ext cx="8082343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hart:grid"/>
          <p:cNvCxnSpPr/>
          <p:nvPr/>
        </p:nvCxnSpPr>
        <p:spPr>
          <a:xfrm>
            <a:off x="9813988" y="3824630"/>
            <a:ext cx="1446848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hart:grid"/>
          <p:cNvCxnSpPr/>
          <p:nvPr/>
        </p:nvCxnSpPr>
        <p:spPr>
          <a:xfrm>
            <a:off x="1307592" y="3213201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hart:grid"/>
          <p:cNvCxnSpPr/>
          <p:nvPr/>
        </p:nvCxnSpPr>
        <p:spPr>
          <a:xfrm>
            <a:off x="1307592" y="2601772"/>
            <a:ext cx="1446847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hart:grid"/>
          <p:cNvCxnSpPr/>
          <p:nvPr/>
        </p:nvCxnSpPr>
        <p:spPr>
          <a:xfrm>
            <a:off x="3178492" y="2601772"/>
            <a:ext cx="80823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hart:grid"/>
          <p:cNvCxnSpPr/>
          <p:nvPr/>
        </p:nvCxnSpPr>
        <p:spPr>
          <a:xfrm>
            <a:off x="1307592" y="1990344"/>
            <a:ext cx="9953244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hart:zero-axis"/>
          <p:cNvCxnSpPr/>
          <p:nvPr/>
        </p:nvCxnSpPr>
        <p:spPr>
          <a:xfrm>
            <a:off x="1307592" y="5047488"/>
            <a:ext cx="9953244" cy="0"/>
          </a:xfrm>
          <a:prstGeom prst="line">
            <a:avLst/>
          </a:prstGeom>
          <a:ln w="1143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hart:data-bar"/>
          <p:cNvSpPr/>
          <p:nvPr/>
        </p:nvSpPr>
        <p:spPr>
          <a:xfrm>
            <a:off x="2669286" y="2907487"/>
            <a:ext cx="594360" cy="2140000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art:data-bar"/>
          <p:cNvSpPr/>
          <p:nvPr/>
        </p:nvSpPr>
        <p:spPr>
          <a:xfrm>
            <a:off x="2669286" y="2296058"/>
            <a:ext cx="594360" cy="6114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art:data-bar"/>
          <p:cNvSpPr/>
          <p:nvPr/>
        </p:nvSpPr>
        <p:spPr>
          <a:xfrm>
            <a:off x="2669286" y="1990344"/>
            <a:ext cx="594360" cy="305714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art:data-bar"/>
          <p:cNvSpPr/>
          <p:nvPr/>
        </p:nvSpPr>
        <p:spPr>
          <a:xfrm>
            <a:off x="5987034" y="3885773"/>
            <a:ext cx="594360" cy="1161714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art:data-bar"/>
          <p:cNvSpPr/>
          <p:nvPr/>
        </p:nvSpPr>
        <p:spPr>
          <a:xfrm>
            <a:off x="5987034" y="2907487"/>
            <a:ext cx="594360" cy="97828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art:data-bar"/>
          <p:cNvSpPr/>
          <p:nvPr/>
        </p:nvSpPr>
        <p:spPr>
          <a:xfrm>
            <a:off x="5987034" y="1990344"/>
            <a:ext cx="594360" cy="917143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art:data-bar"/>
          <p:cNvSpPr/>
          <p:nvPr/>
        </p:nvSpPr>
        <p:spPr>
          <a:xfrm>
            <a:off x="9304782" y="4497202"/>
            <a:ext cx="594360" cy="550285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art:data-bar"/>
          <p:cNvSpPr/>
          <p:nvPr/>
        </p:nvSpPr>
        <p:spPr>
          <a:xfrm>
            <a:off x="9304782" y="3213201"/>
            <a:ext cx="594360" cy="1284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art:data-bar"/>
          <p:cNvSpPr/>
          <p:nvPr/>
        </p:nvSpPr>
        <p:spPr>
          <a:xfrm>
            <a:off x="9304782" y="1990344"/>
            <a:ext cx="594360" cy="1222857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art:legend-key"/>
          <p:cNvSpPr/>
          <p:nvPr/>
        </p:nvSpPr>
        <p:spPr>
          <a:xfrm>
            <a:off x="694944" y="5900928"/>
            <a:ext cx="109728" cy="10972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art:legend-key"/>
          <p:cNvSpPr/>
          <p:nvPr/>
        </p:nvSpPr>
        <p:spPr>
          <a:xfrm>
            <a:off x="1517904" y="5900928"/>
            <a:ext cx="109728" cy="109728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hart:legend-key"/>
          <p:cNvSpPr/>
          <p:nvPr/>
        </p:nvSpPr>
        <p:spPr>
          <a:xfrm>
            <a:off x="2542031" y="5900928"/>
            <a:ext cx="109728" cy="109728"/>
          </a:xfrm>
          <a:prstGeom prst="rect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art:axis-value"/>
          <p:cNvSpPr txBox="1"/>
          <p:nvPr/>
        </p:nvSpPr>
        <p:spPr>
          <a:xfrm>
            <a:off x="694944" y="4939284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0%</a:t>
            </a:r>
          </a:p>
        </p:txBody>
      </p:sp>
      <p:sp>
        <p:nvSpPr>
          <p:cNvPr id="28" name="chart:axis-value"/>
          <p:cNvSpPr txBox="1"/>
          <p:nvPr/>
        </p:nvSpPr>
        <p:spPr>
          <a:xfrm>
            <a:off x="694944" y="4327855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29" name="chart:axis-value"/>
          <p:cNvSpPr txBox="1"/>
          <p:nvPr/>
        </p:nvSpPr>
        <p:spPr>
          <a:xfrm>
            <a:off x="694944" y="3716426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30" name="chart:axis-value"/>
          <p:cNvSpPr txBox="1"/>
          <p:nvPr/>
        </p:nvSpPr>
        <p:spPr>
          <a:xfrm>
            <a:off x="694944" y="3104997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60%</a:t>
            </a:r>
          </a:p>
        </p:txBody>
      </p:sp>
      <p:sp>
        <p:nvSpPr>
          <p:cNvPr id="31" name="chart:axis-value"/>
          <p:cNvSpPr txBox="1"/>
          <p:nvPr/>
        </p:nvSpPr>
        <p:spPr>
          <a:xfrm>
            <a:off x="694944" y="2493568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80%</a:t>
            </a:r>
          </a:p>
        </p:txBody>
      </p:sp>
      <p:sp>
        <p:nvSpPr>
          <p:cNvPr id="32" name="chart:axis-value"/>
          <p:cNvSpPr txBox="1"/>
          <p:nvPr/>
        </p:nvSpPr>
        <p:spPr>
          <a:xfrm>
            <a:off x="694944" y="1882140"/>
            <a:ext cx="4480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100%</a:t>
            </a:r>
          </a:p>
        </p:txBody>
      </p:sp>
      <p:sp>
        <p:nvSpPr>
          <p:cNvPr id="33" name="chart:category"/>
          <p:cNvSpPr txBox="1"/>
          <p:nvPr/>
        </p:nvSpPr>
        <p:spPr>
          <a:xfrm>
            <a:off x="1389888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34" name="chart:category"/>
          <p:cNvSpPr txBox="1"/>
          <p:nvPr/>
        </p:nvSpPr>
        <p:spPr>
          <a:xfrm>
            <a:off x="4707636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試行中</a:t>
            </a:r>
          </a:p>
        </p:txBody>
      </p:sp>
      <p:sp>
        <p:nvSpPr>
          <p:cNvPr id="35" name="chart:category"/>
          <p:cNvSpPr txBox="1"/>
          <p:nvPr/>
        </p:nvSpPr>
        <p:spPr>
          <a:xfrm>
            <a:off x="8025384" y="5355335"/>
            <a:ext cx="3153156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標準化後</a:t>
            </a:r>
          </a:p>
        </p:txBody>
      </p:sp>
      <p:sp>
        <p:nvSpPr>
          <p:cNvPr id="36" name="chart:legend"/>
          <p:cNvSpPr txBox="1"/>
          <p:nvPr/>
        </p:nvSpPr>
        <p:spPr>
          <a:xfrm>
            <a:off x="896112" y="5864352"/>
            <a:ext cx="457200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作成</a:t>
            </a:r>
          </a:p>
        </p:txBody>
      </p:sp>
      <p:sp>
        <p:nvSpPr>
          <p:cNvPr id="37" name="chart:legend"/>
          <p:cNvSpPr txBox="1"/>
          <p:nvPr/>
        </p:nvSpPr>
        <p:spPr>
          <a:xfrm>
            <a:off x="1719072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レビュー</a:t>
            </a:r>
          </a:p>
        </p:txBody>
      </p:sp>
      <p:sp>
        <p:nvSpPr>
          <p:cNvPr id="38" name="chart:legend"/>
          <p:cNvSpPr txBox="1"/>
          <p:nvPr/>
        </p:nvSpPr>
        <p:spPr>
          <a:xfrm>
            <a:off x="2743199" y="5864352"/>
            <a:ext cx="658368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意思決定</a:t>
            </a:r>
          </a:p>
        </p:txBody>
      </p:sp>
      <p:sp>
        <p:nvSpPr>
          <p:cNvPr id="39" name="chart:data-value"/>
          <p:cNvSpPr txBox="1"/>
          <p:nvPr/>
        </p:nvSpPr>
        <p:spPr>
          <a:xfrm>
            <a:off x="2791015" y="3869283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70%</a:t>
            </a:r>
          </a:p>
        </p:txBody>
      </p:sp>
      <p:sp>
        <p:nvSpPr>
          <p:cNvPr id="40" name="chart:data-value"/>
          <p:cNvSpPr txBox="1"/>
          <p:nvPr/>
        </p:nvSpPr>
        <p:spPr>
          <a:xfrm>
            <a:off x="2791015" y="2493568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20%</a:t>
            </a:r>
          </a:p>
        </p:txBody>
      </p:sp>
      <p:sp>
        <p:nvSpPr>
          <p:cNvPr id="41" name="chart:data-value"/>
          <p:cNvSpPr txBox="1"/>
          <p:nvPr/>
        </p:nvSpPr>
        <p:spPr>
          <a:xfrm>
            <a:off x="2791015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10%</a:t>
            </a:r>
          </a:p>
        </p:txBody>
      </p:sp>
      <p:sp>
        <p:nvSpPr>
          <p:cNvPr id="42" name="chart:data-value"/>
          <p:cNvSpPr txBox="1"/>
          <p:nvPr/>
        </p:nvSpPr>
        <p:spPr>
          <a:xfrm>
            <a:off x="6108763" y="435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38%</a:t>
            </a:r>
          </a:p>
        </p:txBody>
      </p:sp>
      <p:sp>
        <p:nvSpPr>
          <p:cNvPr id="43" name="chart:data-value"/>
          <p:cNvSpPr txBox="1"/>
          <p:nvPr/>
        </p:nvSpPr>
        <p:spPr>
          <a:xfrm>
            <a:off x="6108763" y="328842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32%</a:t>
            </a:r>
          </a:p>
        </p:txBody>
      </p:sp>
      <p:sp>
        <p:nvSpPr>
          <p:cNvPr id="44" name="chart:data-value"/>
          <p:cNvSpPr txBox="1"/>
          <p:nvPr/>
        </p:nvSpPr>
        <p:spPr>
          <a:xfrm>
            <a:off x="6108763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30%</a:t>
            </a:r>
          </a:p>
        </p:txBody>
      </p:sp>
      <p:sp>
        <p:nvSpPr>
          <p:cNvPr id="45" name="chart:data-value"/>
          <p:cNvSpPr txBox="1"/>
          <p:nvPr/>
        </p:nvSpPr>
        <p:spPr>
          <a:xfrm>
            <a:off x="9426511" y="4664141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18%</a:t>
            </a:r>
          </a:p>
        </p:txBody>
      </p:sp>
      <p:sp>
        <p:nvSpPr>
          <p:cNvPr id="46" name="chart:data-value"/>
          <p:cNvSpPr txBox="1"/>
          <p:nvPr/>
        </p:nvSpPr>
        <p:spPr>
          <a:xfrm>
            <a:off x="9426511" y="3746997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42%</a:t>
            </a:r>
          </a:p>
        </p:txBody>
      </p:sp>
      <p:sp>
        <p:nvSpPr>
          <p:cNvPr id="47" name="chart:data-value"/>
          <p:cNvSpPr txBox="1"/>
          <p:nvPr/>
        </p:nvSpPr>
        <p:spPr>
          <a:xfrm>
            <a:off x="9426511" y="1682496"/>
            <a:ext cx="350901" cy="2164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2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40%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変更前後のスクリーンショットを左右で比較する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444752"/>
            <a:ext cx="5212080" cy="35661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変更前</a:t>
            </a:r>
          </a:p>
        </p:txBody>
      </p:sp>
      <p:pic>
        <p:nvPicPr>
          <p:cNvPr id="7" name="Comparison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l="4407" r="4407"/>
          <a:stretch>
            <a:fillRect/>
          </a:stretch>
        </p:blipFill>
        <p:spPr>
          <a:xfrm>
            <a:off x="877824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6291072" y="1444752"/>
            <a:ext cx="5212080" cy="35661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5392" y="1664208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変更後</a:t>
            </a:r>
          </a:p>
        </p:txBody>
      </p:sp>
      <p:pic>
        <p:nvPicPr>
          <p:cNvPr id="10" name="ComparisonImage" descr="濃紺のグラデーションに幾何学的な線を重ねた背景素材"/>
          <p:cNvPicPr>
            <a:picLocks noChangeAspect="1"/>
          </p:cNvPicPr>
          <p:nvPr/>
        </p:nvPicPr>
        <p:blipFill>
          <a:blip r:embed="rId3"/>
          <a:srcRect l="286" r="286"/>
          <a:stretch>
            <a:fillRect/>
          </a:stretch>
        </p:blipFill>
        <p:spPr>
          <a:xfrm>
            <a:off x="6473952" y="2084832"/>
            <a:ext cx="4846320" cy="2743200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2:textLayout xmlns:ns1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7:textLayout xmlns:ns1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body"/>
              </a:ext>
            </a:extLst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2:textLayout xmlns:ns1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0:textLayout xmlns:ns2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5:textLayout xmlns:ns2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0:textLayout xmlns:ns4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5:textLayout xmlns:ns5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0:textLayout xmlns:ns8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5:textLayout xmlns:ns85="urn:pptxdsl:text-layout:v1" role="body"/>
              </a:ext>
            </a:extLst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0:textLayout xmlns:ns90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7:textLayout xmlns:ns1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62:textLayout xmlns:ns16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7:textLayout xmlns:ns1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92:textLayout xmlns:ns19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2:textLayout xmlns:ns1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7:textLayout xmlns:ns12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37:textLayout xmlns:ns13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2:textLayout xmlns:ns14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47:textLayout xmlns:ns14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2:textLayout xmlns:ns15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57:textLayout xmlns:ns15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2:textLayout xmlns:ns1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67:textLayout xmlns:ns167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2:textLayout xmlns:ns17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77:textLayout xmlns:ns17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82:textLayout xmlns:ns18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7:textLayout xmlns:ns18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92:textLayout xmlns:ns19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197:textLayout xmlns:ns19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2:textLayout xmlns:ns202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07:textLayout xmlns:ns207="urn:pptxdsl:text-layout:v1" role="body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AF9F5"/>
          </a:solidFill>
        </p:spPr>
        <p:txBody>
          <a:bodyPr wrap="none" anchor="t" lIns="0" rIns="0" tIns="0" bIns="0">
            <a:spAutoFit/>
            <a:extLst>
              <a:ext uri="{8AF73BB6-5E31-4F0F-A399-3D98F3B95FD9}">
                <ns212:textLayout xmlns:ns212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17:textLayout xmlns:ns21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2:textLayout xmlns:ns22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227:textLayout xmlns:ns22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4:textLayout xmlns:ns34="urn:pptxdsl:text-layout:v1" role="natural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4:textLayout xmlns:ns4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4:textLayout xmlns:ns7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4:textLayout xmlns:ns84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:textLayout xmlns:ns18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9:textLayout xmlns:ns11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3:textLayout xmlns:ns23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4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AWS構成図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VPC・AZ・Subnetの入れ子構造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クラウド構成図では、通信経路だけでなく配置境界も読み取れる形にする。</a:t>
            </a:r>
          </a:p>
        </p:txBody>
      </p:sp>
      <p:sp>
        <p:nvSpPr>
          <p:cNvPr id="6" name="aws-vpc-layout:vpc"/>
          <p:cNvSpPr/>
          <p:nvPr/>
        </p:nvSpPr>
        <p:spPr>
          <a:xfrm>
            <a:off x="1938528" y="1874012"/>
            <a:ext cx="9750247" cy="4353052"/>
          </a:xfrm>
          <a:prstGeom prst="rect">
            <a:avLst/>
          </a:prstGeom>
          <a:noFill/>
          <a:ln w="16510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ws-vpc-layout:vpc:label"/>
          <p:cNvSpPr txBox="1"/>
          <p:nvPr/>
        </p:nvSpPr>
        <p:spPr>
          <a:xfrm>
            <a:off x="2057400" y="1938020"/>
            <a:ext cx="1037844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10.0.0.0/16</a:t>
            </a:r>
          </a:p>
        </p:txBody>
      </p:sp>
      <p:sp>
        <p:nvSpPr>
          <p:cNvPr id="8" name="aws-vpc-layout:az:az_a"/>
          <p:cNvSpPr/>
          <p:nvPr/>
        </p:nvSpPr>
        <p:spPr>
          <a:xfrm>
            <a:off x="2212848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ws-vpc-layout:az:az_a:label"/>
          <p:cNvSpPr txBox="1"/>
          <p:nvPr/>
        </p:nvSpPr>
        <p:spPr>
          <a:xfrm>
            <a:off x="2331720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0" name="aws-vpc-layout:subnet:public_a"/>
          <p:cNvSpPr/>
          <p:nvPr/>
        </p:nvSpPr>
        <p:spPr>
          <a:xfrm>
            <a:off x="2359152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ws-vpc-layout:subnet:public_a:label"/>
          <p:cNvSpPr txBox="1"/>
          <p:nvPr/>
        </p:nvSpPr>
        <p:spPr>
          <a:xfrm>
            <a:off x="2478024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10.0.0.0/24</a:t>
            </a:r>
          </a:p>
        </p:txBody>
      </p:sp>
      <p:sp>
        <p:nvSpPr>
          <p:cNvPr id="12" name="aws-vpc-layout:subnet:app_a"/>
          <p:cNvSpPr/>
          <p:nvPr/>
        </p:nvSpPr>
        <p:spPr>
          <a:xfrm>
            <a:off x="2359152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ws-vpc-layout:subnet:app_a:label"/>
          <p:cNvSpPr txBox="1"/>
          <p:nvPr/>
        </p:nvSpPr>
        <p:spPr>
          <a:xfrm>
            <a:off x="2478024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10.0.10.0/24</a:t>
            </a:r>
          </a:p>
        </p:txBody>
      </p:sp>
      <p:sp>
        <p:nvSpPr>
          <p:cNvPr id="14" name="aws-vpc-layout:subnet:db_a"/>
          <p:cNvSpPr/>
          <p:nvPr/>
        </p:nvSpPr>
        <p:spPr>
          <a:xfrm>
            <a:off x="2359152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ws-vpc-layout:subnet:db_a:label"/>
          <p:cNvSpPr txBox="1"/>
          <p:nvPr/>
        </p:nvSpPr>
        <p:spPr>
          <a:xfrm>
            <a:off x="2478024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10.0.20.0/24</a:t>
            </a:r>
          </a:p>
        </p:txBody>
      </p:sp>
      <p:sp>
        <p:nvSpPr>
          <p:cNvPr id="16" name="aws-vpc-layout:az:az_c"/>
          <p:cNvSpPr/>
          <p:nvPr/>
        </p:nvSpPr>
        <p:spPr>
          <a:xfrm>
            <a:off x="6923379" y="2258060"/>
            <a:ext cx="4491075" cy="3786124"/>
          </a:xfrm>
          <a:prstGeom prst="rect">
            <a:avLst/>
          </a:prstGeom>
          <a:noFill/>
          <a:ln w="14604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ws-vpc-layout:az:az_c:label"/>
          <p:cNvSpPr txBox="1"/>
          <p:nvPr/>
        </p:nvSpPr>
        <p:spPr>
          <a:xfrm>
            <a:off x="7042251" y="2322068"/>
            <a:ext cx="379476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sp>
        <p:nvSpPr>
          <p:cNvPr id="18" name="aws-vpc-layout:subnet:public_c"/>
          <p:cNvSpPr/>
          <p:nvPr/>
        </p:nvSpPr>
        <p:spPr>
          <a:xfrm>
            <a:off x="7069683" y="2587244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ws-vpc-layout:subnet:public_c:label"/>
          <p:cNvSpPr txBox="1"/>
          <p:nvPr/>
        </p:nvSpPr>
        <p:spPr>
          <a:xfrm>
            <a:off x="7188555" y="2651252"/>
            <a:ext cx="156248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public subnet 10.0.1.0/24</a:t>
            </a:r>
          </a:p>
        </p:txBody>
      </p:sp>
      <p:sp>
        <p:nvSpPr>
          <p:cNvPr id="20" name="aws-vpc-layout:subnet:app_c"/>
          <p:cNvSpPr/>
          <p:nvPr/>
        </p:nvSpPr>
        <p:spPr>
          <a:xfrm>
            <a:off x="7069683" y="3757845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ws-vpc-layout:subnet:app_c:label"/>
          <p:cNvSpPr txBox="1"/>
          <p:nvPr/>
        </p:nvSpPr>
        <p:spPr>
          <a:xfrm>
            <a:off x="7188555" y="3821853"/>
            <a:ext cx="1943100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app subnet 10.0.11.0/24</a:t>
            </a:r>
          </a:p>
        </p:txBody>
      </p:sp>
      <p:sp>
        <p:nvSpPr>
          <p:cNvPr id="22" name="aws-vpc-layout:subnet:db_c"/>
          <p:cNvSpPr/>
          <p:nvPr/>
        </p:nvSpPr>
        <p:spPr>
          <a:xfrm>
            <a:off x="7069683" y="4928446"/>
            <a:ext cx="4198467" cy="1024297"/>
          </a:xfrm>
          <a:prstGeom prst="rect">
            <a:avLst/>
          </a:prstGeom>
          <a:noFill/>
          <a:ln w="11430">
            <a:solidFill>
              <a:srgbClr val="9AA0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ws-vpc-layout:subnet:db_c:label"/>
          <p:cNvSpPr txBox="1"/>
          <p:nvPr/>
        </p:nvSpPr>
        <p:spPr>
          <a:xfrm>
            <a:off x="7188555" y="4992454"/>
            <a:ext cx="1871091" cy="150114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5000"/>
              </a:lnSpc>
            </a:pPr>
            <a:r>
              <a:rPr sz="919" b="1" lang="ja-JP">
                <a:solidFill>
                  <a:srgbClr val="9AA09E"/>
                </a:solidFill>
                <a:latin typeface="Yu Gothic"/>
                <a:ea typeface="Yu Gothic"/>
                <a:cs typeface="Yu Gothic"/>
              </a:rPr>
              <a:t>private db subnet 10.0.21.0/24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389888" y="3090164"/>
            <a:ext cx="2794177" cy="0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aws-vpc-layout:flow-label"/>
          <p:cNvSpPr txBox="1"/>
          <p:nvPr/>
        </p:nvSpPr>
        <p:spPr>
          <a:xfrm>
            <a:off x="2556090" y="2904870"/>
            <a:ext cx="461772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458385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aws-vpc-layout:flow-label"/>
          <p:cNvSpPr txBox="1"/>
          <p:nvPr/>
        </p:nvSpPr>
        <p:spPr>
          <a:xfrm>
            <a:off x="4805857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68917" y="3364484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aws-vpc-layout:flow-label"/>
          <p:cNvSpPr txBox="1"/>
          <p:nvPr/>
        </p:nvSpPr>
        <p:spPr>
          <a:xfrm>
            <a:off x="9516389" y="3351115"/>
            <a:ext cx="389763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458385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aws-vpc-layout:flow-label"/>
          <p:cNvSpPr txBox="1"/>
          <p:nvPr/>
        </p:nvSpPr>
        <p:spPr>
          <a:xfrm>
            <a:off x="4805857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68917" y="4535085"/>
            <a:ext cx="0" cy="621961"/>
          </a:xfrm>
          <a:prstGeom prst="line">
            <a:avLst/>
          </a:prstGeom>
          <a:ln w="1905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aws-vpc-layout:flow-label"/>
          <p:cNvSpPr txBox="1"/>
          <p:nvPr/>
        </p:nvSpPr>
        <p:spPr>
          <a:xfrm>
            <a:off x="9516389" y="4521716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32705" y="5431366"/>
            <a:ext cx="416189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aws-vpc-layout:flow-label"/>
          <p:cNvSpPr txBox="1"/>
          <p:nvPr/>
        </p:nvSpPr>
        <p:spPr>
          <a:xfrm>
            <a:off x="5614301" y="5246073"/>
            <a:ext cx="317754" cy="151130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19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pic>
        <p:nvPicPr>
          <p:cNvPr id="36" name="Picture 35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8929" y="2870707"/>
            <a:ext cx="438912" cy="4389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129773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99:textLayout xmlns:ns9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38" name="Picture 37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929" y="4041309"/>
            <a:ext cx="438912" cy="4389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242930" y="4525941"/>
            <a:ext cx="43091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4:textLayout xmlns:ns10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A</a:t>
            </a:r>
          </a:p>
        </p:txBody>
      </p:sp>
      <p:pic>
        <p:nvPicPr>
          <p:cNvPr id="40" name="Picture 39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929" y="5211910"/>
            <a:ext cx="438912" cy="4389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37190" y="5696542"/>
            <a:ext cx="842391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Primary</a:t>
            </a:r>
          </a:p>
        </p:txBody>
      </p:sp>
      <p:pic>
        <p:nvPicPr>
          <p:cNvPr id="42" name="Picture 41" descr="a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9461" y="2870707"/>
            <a:ext cx="438912" cy="4389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40304" y="3355340"/>
            <a:ext cx="65722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4:textLayout xmlns:ns11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 node</a:t>
            </a:r>
          </a:p>
        </p:txBody>
      </p:sp>
      <p:pic>
        <p:nvPicPr>
          <p:cNvPr id="44" name="Picture 43" descr="ser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61" y="4041309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948318" y="4525941"/>
            <a:ext cx="441198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19:textLayout xmlns:ns11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App B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461" y="5211910"/>
            <a:ext cx="438912" cy="43891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737434" y="5696542"/>
            <a:ext cx="862965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4:textLayout xmlns:ns124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Standby</a:t>
            </a:r>
          </a:p>
        </p:txBody>
      </p:sp>
      <p:pic>
        <p:nvPicPr>
          <p:cNvPr id="48" name="Picture 47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2870707"/>
            <a:ext cx="438912" cy="43891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4682" y="3355340"/>
            <a:ext cx="461772" cy="147447"/>
          </a:xfrm>
          <a:prstGeom prst="rect">
            <a:avLst/>
          </a:prstGeom>
          <a:solidFill>
            <a:srgbClr val="F7F5EF"/>
          </a:solidFill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natural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9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34:textLayout xmlns:ns13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9:textLayout xmlns:ns13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0:textLayout xmlns:ns3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5:textLayout xmlns:ns3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0:textLayout xmlns:ns4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5:textLayout xmlns:ns4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0:textLayout xmlns:ns5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5:textLayout xmlns:ns55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5:textLayout xmlns:ns6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5:textLayout xmlns:ns75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0:textLayout xmlns:ns80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5:textLayout xmlns:ns8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0:textLayout xmlns:ns9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5:textLayout xmlns:ns9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0:textLayout xmlns:ns100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5:textLayout xmlns:ns105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7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0:textLayout xmlns:ns11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4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9:textLayout xmlns:ns2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4:textLayout xmlns:ns3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39:textLayout xmlns:ns3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4:textLayout xmlns:ns4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4:textLayout xmlns:ns6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9:textLayout xmlns:ns6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4:textLayout xmlns:ns7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9:textLayout xmlns:ns7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9:textLayout xmlns:ns89="urn:pptxdsl:text-layout:v1" role="natural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4:textLayout xmlns:ns94="urn:pptxdsl:text-layout:v1" role="compact"/>
              </a:ext>
            </a:extLst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9:textLayout xmlns:ns9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09:textLayout xmlns:ns10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4:textLayout xmlns:ns114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19:textLayout xmlns:ns119="urn:pptxdsl:text-layout:v1" role="compact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4:textLayout xmlns:ns12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9:textLayout xmlns:ns12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88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865880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8:textLayout xmlns:ns2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3:textLayout xmlns:ns3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25986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71706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8:textLayout xmlns:ns3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50598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3:textLayout xmlns:ns4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314613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60333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8:textLayout xmlns:ns48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639225"/>
            <a:ext cx="5544007" cy="9091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3:textLayout xmlns:ns53="urn:pptxdsl:text-layout:v1" role="body"/>
              </a:ext>
            </a:extLst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slide-footnote:rule"/>
          <p:cNvSpPr/>
          <p:nvPr/>
        </p:nvSpPr>
        <p:spPr>
          <a:xfrm>
            <a:off x="502920" y="5822696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lide-footnote:label"/>
          <p:cNvSpPr txBox="1"/>
          <p:nvPr/>
        </p:nvSpPr>
        <p:spPr>
          <a:xfrm>
            <a:off x="502920" y="5932424"/>
            <a:ext cx="1271016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0:textLayout xmlns:ns60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1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slide-footnote:text"/>
          <p:cNvSpPr txBox="1"/>
          <p:nvPr/>
        </p:nvSpPr>
        <p:spPr>
          <a:xfrm>
            <a:off x="1920240" y="5932424"/>
            <a:ext cx="9768535" cy="221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5:textLayout xmlns:ns65="urn:pptxdsl:text-layout:v1" role="body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0:textLayout xmlns:ns7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5:textLayout xmlns:ns7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4:textLayout xmlns:ns5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compact"/>
              </a:ext>
            </a:extLst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4:textLayout xmlns:ns9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9:textLayout xmlns:ns99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4:textLayout xmlns:ns104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9:textLayout xmlns:ns109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sp>
        <p:nvSpPr>
          <p:cNvPr id="6" name="protocol-state-flow:legend:protocol-state-flow:marker:plain"/>
          <p:cNvSpPr/>
          <p:nvPr/>
        </p:nvSpPr>
        <p:spPr>
          <a:xfrm>
            <a:off x="502920" y="1855724"/>
            <a:ext cx="38404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rotocol-state-flow:legend:plain"/>
          <p:cNvSpPr txBox="1"/>
          <p:nvPr/>
        </p:nvSpPr>
        <p:spPr>
          <a:xfrm>
            <a:off x="996696" y="1855724"/>
            <a:ext cx="530352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通常の値</a:t>
            </a:r>
          </a:p>
        </p:txBody>
      </p:sp>
      <p:sp>
        <p:nvSpPr>
          <p:cNvPr id="8" name="protocol-state-flow:legend:protocol-state-flow:marker:internal"/>
          <p:cNvSpPr/>
          <p:nvPr/>
        </p:nvSpPr>
        <p:spPr>
          <a:xfrm>
            <a:off x="1764792" y="1928876"/>
            <a:ext cx="38404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tocol-state-flow:legend:internal"/>
          <p:cNvSpPr txBox="1"/>
          <p:nvPr/>
        </p:nvSpPr>
        <p:spPr>
          <a:xfrm>
            <a:off x="2258568" y="1855724"/>
            <a:ext cx="777240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装置内部処理</a:t>
            </a:r>
          </a:p>
        </p:txBody>
      </p:sp>
      <p:sp>
        <p:nvSpPr>
          <p:cNvPr id="10" name="protocol-state-flow:legend:change"/>
          <p:cNvSpPr txBox="1"/>
          <p:nvPr/>
        </p:nvSpPr>
        <p:spPr>
          <a:xfrm>
            <a:off x="3273552" y="1855724"/>
            <a:ext cx="8415223" cy="21945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下線：直前から値・付加情報が変化</a:t>
            </a:r>
          </a:p>
        </p:txBody>
      </p:sp>
      <p:pic>
        <p:nvPicPr>
          <p:cNvPr id="11" name="Picture 1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2239772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56232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13" name="Picture 12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2239772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666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5" name="Picture 14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223977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770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7" name="layout-background:protocol-state-flow:stage:internet"/>
          <p:cNvSpPr/>
          <p:nvPr/>
        </p:nvSpPr>
        <p:spPr>
          <a:xfrm>
            <a:off x="7805135" y="2898140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2239772"/>
            <a:ext cx="310896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8874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20" name="Picture 19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223977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97831" y="2605532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22" name="layout-background:protocol-state-flow:track:0"/>
          <p:cNvSpPr/>
          <p:nvPr/>
        </p:nvSpPr>
        <p:spPr>
          <a:xfrm>
            <a:off x="502920" y="2971292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154172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367786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2271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375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2479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9258391" y="3227324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protocol-state-flow:marker:plain"/>
          <p:cNvSpPr/>
          <p:nvPr/>
        </p:nvSpPr>
        <p:spPr>
          <a:xfrm>
            <a:off x="22579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rotocol-state-flow:value:unchanged:0:client"/>
          <p:cNvSpPr txBox="1"/>
          <p:nvPr/>
        </p:nvSpPr>
        <p:spPr>
          <a:xfrm>
            <a:off x="1883664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1:textLayout xmlns:ns7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83664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32" name="protocol-state-flow:marker:plain"/>
          <p:cNvSpPr/>
          <p:nvPr/>
        </p:nvSpPr>
        <p:spPr>
          <a:xfrm>
            <a:off x="42683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rotocol-state-flow:value:unchanged:0:inside"/>
          <p:cNvSpPr txBox="1"/>
          <p:nvPr/>
        </p:nvSpPr>
        <p:spPr>
          <a:xfrm>
            <a:off x="38940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940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5" name="protocol-state-flow:marker:internal"/>
          <p:cNvSpPr/>
          <p:nvPr/>
        </p:nvSpPr>
        <p:spPr>
          <a:xfrm>
            <a:off x="6278727" y="3209036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protocol-state-flow:value:changed:0:nat"/>
          <p:cNvSpPr txBox="1"/>
          <p:nvPr/>
        </p:nvSpPr>
        <p:spPr>
          <a:xfrm>
            <a:off x="59044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 u="sng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044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6:textLayout xmlns:ns9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8" name="protocol-state-flow:marker:plain"/>
          <p:cNvSpPr/>
          <p:nvPr/>
        </p:nvSpPr>
        <p:spPr>
          <a:xfrm>
            <a:off x="82891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rotocol-state-flow:value:unchanged:0:internet"/>
          <p:cNvSpPr txBox="1"/>
          <p:nvPr/>
        </p:nvSpPr>
        <p:spPr>
          <a:xfrm>
            <a:off x="79148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1:textLayout xmlns:ns10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48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6:textLayout xmlns:ns10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41" name="protocol-state-flow:marker:plain"/>
          <p:cNvSpPr/>
          <p:nvPr/>
        </p:nvSpPr>
        <p:spPr>
          <a:xfrm>
            <a:off x="10299527" y="3135884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rotocol-state-flow:value:unchanged:0:server"/>
          <p:cNvSpPr txBox="1"/>
          <p:nvPr/>
        </p:nvSpPr>
        <p:spPr>
          <a:xfrm>
            <a:off x="9925263" y="3410204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1:textLayout xmlns:ns11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5263" y="3604768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16:textLayout xmlns:ns11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44" name="layout-background:protocol-state-flow:track:1"/>
          <p:cNvSpPr/>
          <p:nvPr/>
        </p:nvSpPr>
        <p:spPr>
          <a:xfrm>
            <a:off x="502920" y="4013708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" y="41965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1:textLayout xmlns:ns121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4410202"/>
            <a:ext cx="1115568" cy="4081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6:textLayout xmlns:ns126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2271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2375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2479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258391" y="4269740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protocol-state-flow:marker:plain"/>
          <p:cNvSpPr/>
          <p:nvPr/>
        </p:nvSpPr>
        <p:spPr>
          <a:xfrm>
            <a:off x="22579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protocol-state-flow:value:unchanged:1:client"/>
          <p:cNvSpPr txBox="1"/>
          <p:nvPr/>
        </p:nvSpPr>
        <p:spPr>
          <a:xfrm>
            <a:off x="1883664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35:textLayout xmlns:ns13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83664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0:textLayout xmlns:ns14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54" name="protocol-state-flow:marker:plain"/>
          <p:cNvSpPr/>
          <p:nvPr/>
        </p:nvSpPr>
        <p:spPr>
          <a:xfrm>
            <a:off x="42683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protocol-state-flow:value:unchanged:1:inside"/>
          <p:cNvSpPr txBox="1"/>
          <p:nvPr/>
        </p:nvSpPr>
        <p:spPr>
          <a:xfrm>
            <a:off x="38940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45:textLayout xmlns:ns14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940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0:textLayout xmlns:ns15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7" name="protocol-state-flow:marker:internal"/>
          <p:cNvSpPr/>
          <p:nvPr/>
        </p:nvSpPr>
        <p:spPr>
          <a:xfrm>
            <a:off x="6278727" y="4251452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protocol-state-flow:value:unchanged:1:nat"/>
          <p:cNvSpPr txBox="1"/>
          <p:nvPr/>
        </p:nvSpPr>
        <p:spPr>
          <a:xfrm>
            <a:off x="59044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55:textLayout xmlns:ns15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044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0:textLayout xmlns:ns16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60" name="protocol-state-flow:marker:plain"/>
          <p:cNvSpPr/>
          <p:nvPr/>
        </p:nvSpPr>
        <p:spPr>
          <a:xfrm>
            <a:off x="82891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protocol-state-flow:value:unchanged:1:internet"/>
          <p:cNvSpPr txBox="1"/>
          <p:nvPr/>
        </p:nvSpPr>
        <p:spPr>
          <a:xfrm>
            <a:off x="79148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65:textLayout xmlns:ns16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148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0:textLayout xmlns:ns17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63" name="protocol-state-flow:marker:plain"/>
          <p:cNvSpPr/>
          <p:nvPr/>
        </p:nvSpPr>
        <p:spPr>
          <a:xfrm>
            <a:off x="10299527" y="41783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protocol-state-flow:value:unchanged:1:server"/>
          <p:cNvSpPr txBox="1"/>
          <p:nvPr/>
        </p:nvSpPr>
        <p:spPr>
          <a:xfrm>
            <a:off x="9925263" y="44526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5:textLayout xmlns:ns175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925263" y="46471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80:textLayout xmlns:ns180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85:textLayout xmlns:ns18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90:textLayout xmlns:ns190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protocol-anatomy:scale-note"/>
          <p:cNvSpPr txBox="1"/>
          <p:nvPr/>
        </p:nvSpPr>
        <p:spPr>
          <a:xfrm>
            <a:off x="502920" y="1855724"/>
            <a:ext cx="11185855" cy="20116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7:textLayout xmlns:ns17="urn:pptxdsl:text-layout:v1" role="compact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幅はbit数に比例しない概念図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85465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31185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2041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5011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0731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1587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6276" y="2111756"/>
            <a:ext cx="939545" cy="841248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1996" y="2221484"/>
            <a:ext cx="848105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2852" y="2724404"/>
            <a:ext cx="866393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9" name="protocol-anatomy:annotation:0:seq"/>
          <p:cNvCxnSpPr/>
          <p:nvPr/>
        </p:nvCxnSpPr>
        <p:spPr>
          <a:xfrm flipH="1">
            <a:off x="685800" y="2971292"/>
            <a:ext cx="3392081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3081020"/>
            <a:ext cx="608075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65860" y="3081020"/>
            <a:ext cx="2931566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2:textLayout xmlns:ns10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2" name="protocol-anatomy:annotation:0:ack"/>
          <p:cNvCxnSpPr/>
          <p:nvPr/>
        </p:nvCxnSpPr>
        <p:spPr>
          <a:xfrm flipH="1">
            <a:off x="4481474" y="2971292"/>
            <a:ext cx="702145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298594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07:textLayout xmlns:ns10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7506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2:textLayout xmlns:ns11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5" name="protocol-anatomy:annotation:0:flags"/>
          <p:cNvCxnSpPr/>
          <p:nvPr/>
        </p:nvCxnSpPr>
        <p:spPr>
          <a:xfrm>
            <a:off x="6031382" y="2971292"/>
            <a:ext cx="2245766" cy="54864"/>
          </a:xfrm>
          <a:prstGeom prst="line">
            <a:avLst/>
          </a:prstGeom>
          <a:ln w="13970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94268" y="3081020"/>
            <a:ext cx="384048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17:textLayout xmlns:ns117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33180" y="3081020"/>
            <a:ext cx="3155594" cy="43891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122:textLayout xmlns:ns122="urn:pptxdsl:text-layout:v1" role="compact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7:textLayout xmlns:ns12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2:textLayout xmlns:ns13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22:textLayout xmlns:ns22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5:textLayout xmlns:ns35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  <a:extLst>
              <a:ext uri="{8AF73BB6-5E31-4F0F-A399-3D98F3B95FD9}">
                <ns40:textLayout xmlns:ns40="urn:pptxdsl:text-layout:v1" role="compact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9:textLayout xmlns:ns49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4:textLayout xmlns:ns5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9:textLayout xmlns:ns5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4:textLayout xmlns:ns64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9:textLayout xmlns:ns69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6:textLayout xmlns:ns7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1:textLayout xmlns:ns8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6:textLayout xmlns:ns86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1:textLayout xmlns:ns91="urn:pptxdsl:text-layout:v1" role="body"/>
              </a:ext>
            </a:extLst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6:textLayout xmlns:ns96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01:textLayout xmlns:ns101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AF9F5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82:textLayout xmlns:ns8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6つの判断材料を同じ粒度で比較する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各項目を同格に並べ、採用条件と実行上の論点を確認する。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7:textLayout xmlns:ns2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対象業務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頻度が高く構成の共通性が高い資料から導入する。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8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3232" y="2239772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91600" y="2221484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1600" y="2751836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既存フローを活用し、部門ごとに順次導入できる。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91600" y="4151122"/>
            <a:ext cx="2493264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初期教育と運用窓口の準備を展開計画へ含める。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7:textLayout xmlns:ns7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8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2:textLayout xmlns:ns8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主要リスク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例外資料と固有要件は標準化の対象から切り分ける。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3232" y="4370578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2:textLayout xmlns:ns9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600" y="4352290"/>
            <a:ext cx="2493264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97:textLayout xmlns:ns9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判断基準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1600" y="4882642"/>
            <a:ext cx="2401824" cy="1143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20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品質、作成時間、運用負荷を測定して展開可否を決める。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5875"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5875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2:textLayout xmlns:ns6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7:textLayout xmlns:ns6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2:textLayout xmlns:ns8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7:textLayout xmlns:ns87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2:textLayout xmlns:ns9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body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51" name="Oval 50"/>
          <p:cNvSpPr/>
          <p:nvPr/>
        </p:nvSpPr>
        <p:spPr>
          <a:xfrm>
            <a:off x="4983480" y="3038764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885432" y="3038764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983480" y="3660556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85432" y="3660556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4983480" y="4282348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85432" y="4282348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4983480" y="4904140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85432" y="4904140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4983480" y="5525932"/>
            <a:ext cx="91440" cy="91440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885432" y="5525932"/>
            <a:ext cx="91440" cy="9144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7:textLayout xmlns:ns107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12:textLayout xmlns:ns112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:textLayout xmlns:ns1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8:textLayout xmlns:ns2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3:textLayout xmlns:ns3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8:textLayout xmlns:ns3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3:textLayout xmlns:ns4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8:textLayout xmlns:ns4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8:textLayout xmlns:ns5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3:textLayout xmlns:ns6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natural"/>
              </a:ext>
            </a:extLst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33:textLayout xmlns:ns133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892300"/>
            <a:ext cx="2624328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892300"/>
            <a:ext cx="2587752" cy="338328"/>
          </a:xfrm>
          <a:prstGeom prst="chevron">
            <a:avLst/>
          </a:prstGeom>
          <a:solidFill>
            <a:srgbClr val="F7F5EF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947164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223062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223062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223062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309930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309930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309930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309930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96798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96798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96798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96798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83666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836668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836668"/>
            <a:ext cx="10351008" cy="86868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836668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2:textLayout xmlns:ns5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705348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2230628"/>
            <a:ext cx="10351008" cy="0"/>
          </a:xfrm>
          <a:prstGeom prst="line">
            <a:avLst/>
          </a:prstGeom>
          <a:ln w="1079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499616" y="2230628"/>
            <a:ext cx="0" cy="3474720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087368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675120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62872" y="2230628"/>
            <a:ext cx="0" cy="3474720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89356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3099308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793492" y="3099308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533648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246120" y="3533648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3533648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50792" y="4402327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088564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191506" y="4402327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762248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63554" y="3967988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5879592" y="3967988"/>
            <a:ext cx="0" cy="205739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476238" y="4402327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402327"/>
            <a:ext cx="0" cy="868681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638544" y="5271008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677656" y="5271008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9061704" y="3853688"/>
            <a:ext cx="0" cy="141732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7470648" y="3853688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470648" y="3762248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923276" y="353364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8919972" y="3533648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9226296" y="2664968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9226296" y="2664968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583037" y="2664968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/>
          <p:cNvSpPr/>
          <p:nvPr/>
        </p:nvSpPr>
        <p:spPr>
          <a:xfrm>
            <a:off x="2340864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95728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68:textLayout xmlns:ns6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340864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95728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3:textLayout xmlns:ns7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15384" y="3305048"/>
            <a:ext cx="873180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270248" y="3305048"/>
            <a:ext cx="7634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286250" y="4173727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341114" y="4173727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3:textLayout xmlns:ns8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282946" y="4173727"/>
            <a:ext cx="1193292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37809" y="4173727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88:textLayout xmlns:ns8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180004" y="3305048"/>
            <a:ext cx="1367099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234868" y="3305048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3:textLayout xmlns:ns9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60336" y="5042408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315200" y="5042408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98:textLayout xmlns:ns9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18020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72884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3:textLayout xmlns:ns10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533763" y="2436368"/>
            <a:ext cx="1049274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588627" y="2436368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14716" y="330504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69580" y="330504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3:textLayout xmlns:ns113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674477" y="2436368"/>
            <a:ext cx="905256" cy="457200"/>
          </a:xfrm>
          <a:prstGeom prst="rect">
            <a:avLst/>
          </a:prstGeom>
          <a:solidFill>
            <a:srgbClr val="FAF9F5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729341" y="2436368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8:textLayout xmlns:ns118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3:textLayout xmlns:ns123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8:textLayout xmlns:ns128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equence-lifeline:ops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2:textLayout xmlns:ns3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equence-lifeline:monitor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equence-lifeline:branch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2:textLayout xmlns:ns42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equence-lifeline:center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compact"/>
              </a:ext>
            </a:extLst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equence-lifeline:carrier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equence-message-label:detect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3:textLayout xmlns:ns53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equence-message-label:request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59:textLayout xmlns:ns59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sequence-message-label:reply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66:textLayout xmlns:ns66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equence-message-label:logs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sequence-message-label:isolate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78:textLayout xmlns:ns78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equence-message-label:carrier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84:textLayout xmlns:ns84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equence-message-label:recover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1:textLayout xmlns:ns91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equence-message-label:report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  <a:extLst>
              <a:ext uri="{8AF73BB6-5E31-4F0F-A399-3D98F3B95FD9}">
                <ns97:textLayout xmlns:ns97="urn:pptxdsl:text-layout:v1" role="compact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2:textLayout xmlns:ns10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08:textLayout xmlns:ns108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15:textLayout xmlns:ns115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20:textLayout xmlns:ns120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125:textLayout xmlns:ns125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:textLayout xmlns:ns2="urn:pptxdsl:text-layout:v1" role="natural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参考資料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7:textLayout xmlns:ns7="urn:pptxdsl:text-layout:v1" role="natural"/>
              </a:ext>
            </a:extLst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確認に使用した情報源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12:textLayout xmlns:ns12="urn:pptxdsl:text-layout:v1" role="body"/>
              </a:ext>
            </a:extLst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参照先をタイトルと実URLで示し、原典へ移動できるようにする。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9576" y="19288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ferences:index[0]"/>
          <p:cNvSpPr/>
          <p:nvPr/>
        </p:nvSpPr>
        <p:spPr>
          <a:xfrm>
            <a:off x="521208" y="22031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1208" y="22031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17:textLayout xmlns:ns1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[1]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9576" y="20203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22:textLayout xmlns:ns2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製品ドキュメント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80015" y="20203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3167" y="20203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27:textLayout xmlns:ns2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概要・仕様</a:t>
            </a:r>
          </a:p>
        </p:txBody>
      </p:sp>
      <p:sp>
        <p:nvSpPr>
          <p:cNvPr id="12" name="references:url[0]"/>
          <p:cNvSpPr txBox="1"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32:textLayout xmlns:ns3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https://example.com/docs/product-overview</a:t>
            </a:r>
          </a:p>
        </p:txBody>
      </p:sp>
      <p:sp>
        <p:nvSpPr>
          <p:cNvPr id="13" name="references:link[0]">
            <a:hlinkClick r:id="rId2"/>
          </p:cNvPr>
          <p:cNvSpPr/>
          <p:nvPr/>
        </p:nvSpPr>
        <p:spPr>
          <a:xfrm>
            <a:off x="1179576" y="24043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79576" y="28432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ferences:index[1]"/>
          <p:cNvSpPr/>
          <p:nvPr/>
        </p:nvSpPr>
        <p:spPr>
          <a:xfrm>
            <a:off x="521208" y="31175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1208" y="31175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37:textLayout xmlns:ns3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[2]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" y="2934716"/>
            <a:ext cx="75895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42:textLayout xmlns:ns4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運用ガイド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80015" y="2934716"/>
            <a:ext cx="1508760" cy="256032"/>
          </a:xfrm>
          <a:prstGeom prst="roundRect">
            <a:avLst>
              <a:gd name="adj" fmla="val 6000"/>
            </a:avLst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3167" y="2934716"/>
            <a:ext cx="1362456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47:textLayout xmlns:ns47="urn:pptxdsl:text-layout:v1" role="natural"/>
              </a:ext>
            </a:extLst>
          </a:bodyPr>
          <a:lstStyle/>
          <a:p>
            <a:pPr algn="ctr">
              <a:lnSpc>
                <a:spcPct val="100000"/>
              </a:lnSpc>
            </a:pPr>
            <a:r>
              <a:rPr sz="9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監視・障害対応</a:t>
            </a:r>
          </a:p>
        </p:txBody>
      </p:sp>
      <p:sp>
        <p:nvSpPr>
          <p:cNvPr id="20" name="references:url[1]"/>
          <p:cNvSpPr txBox="1"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52:textLayout xmlns:ns52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https://example.com/docs/operations-guide</a:t>
            </a:r>
          </a:p>
        </p:txBody>
      </p:sp>
      <p:sp>
        <p:nvSpPr>
          <p:cNvPr id="21" name="references:link[1]">
            <a:hlinkClick r:id="rId3"/>
          </p:cNvPr>
          <p:cNvSpPr/>
          <p:nvPr/>
        </p:nvSpPr>
        <p:spPr>
          <a:xfrm>
            <a:off x="1179576" y="33187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79576" y="3757676"/>
            <a:ext cx="10509199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ferences:index[2]"/>
          <p:cNvSpPr/>
          <p:nvPr/>
        </p:nvSpPr>
        <p:spPr>
          <a:xfrm>
            <a:off x="521208" y="4031996"/>
            <a:ext cx="457200" cy="292608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208" y="4031996"/>
            <a:ext cx="4572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57:textLayout xmlns:ns57="urn:pptxdsl:text-layout:v1" role="natural"/>
              </a:ext>
            </a:extLst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[3]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9576" y="3849116"/>
            <a:ext cx="1050919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2:textLayout xmlns:ns62="urn:pptxdsl:text-layout:v1" role="natural"/>
              </a:ext>
            </a:extLst>
          </a:bodyPr>
          <a:lstStyle/>
          <a:p>
            <a:pPr algn="l">
              <a:lnSpc>
                <a:spcPct val="104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料金ページ</a:t>
            </a:r>
          </a:p>
        </p:txBody>
      </p:sp>
      <p:sp>
        <p:nvSpPr>
          <p:cNvPr id="26" name="references:url[2]"/>
          <p:cNvSpPr txBox="1"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  <a:extLst>
              <a:ext uri="{8AF73BB6-5E31-4F0F-A399-3D98F3B95FD9}">
                <ns67:textLayout xmlns:ns67="urn:pptxdsl:text-layout:v1" role="body"/>
              </a:ext>
            </a:extLst>
          </a:bodyPr>
          <a:lstStyle/>
          <a:p>
            <a:pPr algn="l">
              <a:lnSpc>
                <a:spcPct val="100000"/>
              </a:lnSpc>
            </a:pPr>
            <a:r>
              <a:rPr sz="950" b="0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https://example.com/pricing</a:t>
            </a:r>
          </a:p>
        </p:txBody>
      </p:sp>
      <p:sp>
        <p:nvSpPr>
          <p:cNvPr id="27" name="references:link[2]">
            <a:hlinkClick r:id="rId4"/>
          </p:cNvPr>
          <p:cNvSpPr/>
          <p:nvPr/>
        </p:nvSpPr>
        <p:spPr>
          <a:xfrm>
            <a:off x="1179576" y="4233164"/>
            <a:ext cx="1050919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  <a:extLst>
              <a:ext uri="{8AF73BB6-5E31-4F0F-A399-3D98F3B95FD9}">
                <ns72:textLayout xmlns:ns72="urn:pptxdsl:text-layout:v1" role="body"/>
              </a:ext>
            </a:extLst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  <a:extLst>
              <a:ext uri="{8AF73BB6-5E31-4F0F-A399-3D98F3B95FD9}">
                <ns77:textLayout xmlns:ns77="urn:pptxdsl:text-layout:v1" role="body"/>
              </a:ext>
            </a:extLst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