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2.png"/><Relationship Id="rId5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3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3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7.png"/><Relationship Id="rId4" Type="http://schemas.openxmlformats.org/officeDocument/2006/relationships/image" Target="../media/image26.png"/><Relationship Id="rId5" Type="http://schemas.openxmlformats.org/officeDocument/2006/relationships/image" Target="../media/image28.png"/><Relationship Id="rId6" Type="http://schemas.openxmlformats.org/officeDocument/2006/relationships/image" Target="../media/image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docs/product-overview" TargetMode="External"/><Relationship Id="rId3" Type="http://schemas.openxmlformats.org/officeDocument/2006/relationships/hyperlink" Target="https://example.com/docs/operations-guide" TargetMode="External"/><Relationship Id="rId4" Type="http://schemas.openxmlformats.org/officeDocument/2006/relationships/hyperlink" Target="https://example.com/pricing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:textLayout xmlns:ns9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意思決定から技術研修まで、27のTypeを37枚で検証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4:textLayout xmlns:ns1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9:textLayout xmlns:ns19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4:textLayout xmlns:ns2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9:textLayout xmlns:ns29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6:textLayout xmlns:ns3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1:textLayout xmlns:ns41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2029968"/>
            <a:ext cx="4663440" cy="297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20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第2章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601976"/>
            <a:ext cx="95554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02000"/>
              </a:lnSpc>
            </a:pPr>
            <a:r>
              <a:rPr sz="4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導入計画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3449320"/>
            <a:ext cx="955548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6000"/>
              </a:lnSpc>
            </a:pPr>
            <a:r>
              <a:rPr sz="1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試験導入から展開判断まで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>
                      <a:extLst>
                        <a:ext uri="{8AF73BB6-5E31-4F0F-A399-3D98F3B95FD9}">
                          <ns12:textLayout xmlns:ns1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17:textLayout xmlns:ns1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22:textLayout xmlns:ns2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27:textLayout xmlns:ns2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32:textLayout xmlns:ns3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37:textLayout xmlns:ns3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42:textLayout xmlns:ns4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47:textLayout xmlns:ns4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52:textLayout xmlns:ns5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57:textLayout xmlns:ns5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62:textLayout xmlns:ns6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67:textLayout xmlns:ns6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72:textLayout xmlns:ns7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77:textLayout xmlns:ns7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82:textLayout xmlns:ns8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87:textLayout xmlns:ns8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2399157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4105884" y="1772412"/>
            <a:ext cx="0" cy="13525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4105884" y="2197227"/>
            <a:ext cx="0" cy="103251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4105884" y="3519297"/>
            <a:ext cx="0" cy="201739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5812612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grid"/>
          <p:cNvCxnSpPr/>
          <p:nvPr/>
        </p:nvCxnSpPr>
        <p:spPr>
          <a:xfrm>
            <a:off x="7519339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grid"/>
          <p:cNvCxnSpPr/>
          <p:nvPr/>
        </p:nvCxnSpPr>
        <p:spPr>
          <a:xfrm>
            <a:off x="9226067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grid"/>
          <p:cNvCxnSpPr/>
          <p:nvPr/>
        </p:nvCxnSpPr>
        <p:spPr>
          <a:xfrm>
            <a:off x="10932795" y="1772412"/>
            <a:ext cx="0" cy="201739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grid"/>
          <p:cNvCxnSpPr/>
          <p:nvPr/>
        </p:nvCxnSpPr>
        <p:spPr>
          <a:xfrm>
            <a:off x="10932795" y="4079367"/>
            <a:ext cx="0" cy="145732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zero-axis"/>
          <p:cNvCxnSpPr/>
          <p:nvPr/>
        </p:nvCxnSpPr>
        <p:spPr>
          <a:xfrm>
            <a:off x="2399157" y="1772412"/>
            <a:ext cx="0" cy="376428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hart:data-bar"/>
          <p:cNvSpPr/>
          <p:nvPr/>
        </p:nvSpPr>
        <p:spPr>
          <a:xfrm>
            <a:off x="2399157" y="1957959"/>
            <a:ext cx="1536054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art:data-bar"/>
          <p:cNvSpPr/>
          <p:nvPr/>
        </p:nvSpPr>
        <p:spPr>
          <a:xfrm>
            <a:off x="2399157" y="2338958"/>
            <a:ext cx="443749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art:data-bar"/>
          <p:cNvSpPr/>
          <p:nvPr/>
        </p:nvSpPr>
        <p:spPr>
          <a:xfrm>
            <a:off x="2399157" y="2899029"/>
            <a:ext cx="4096146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art:data-bar"/>
          <p:cNvSpPr/>
          <p:nvPr/>
        </p:nvSpPr>
        <p:spPr>
          <a:xfrm>
            <a:off x="2399157" y="3280029"/>
            <a:ext cx="1433651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art:data-bar"/>
          <p:cNvSpPr/>
          <p:nvPr/>
        </p:nvSpPr>
        <p:spPr>
          <a:xfrm>
            <a:off x="2399157" y="3840099"/>
            <a:ext cx="8192292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art:data-bar"/>
          <p:cNvSpPr/>
          <p:nvPr/>
        </p:nvSpPr>
        <p:spPr>
          <a:xfrm>
            <a:off x="2399157" y="4221099"/>
            <a:ext cx="2901436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art:data-bar"/>
          <p:cNvSpPr/>
          <p:nvPr/>
        </p:nvSpPr>
        <p:spPr>
          <a:xfrm>
            <a:off x="2399157" y="4781169"/>
            <a:ext cx="3072109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art:data-bar"/>
          <p:cNvSpPr/>
          <p:nvPr/>
        </p:nvSpPr>
        <p:spPr>
          <a:xfrm>
            <a:off x="2399157" y="5162169"/>
            <a:ext cx="955767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art:legend-key"/>
          <p:cNvSpPr/>
          <p:nvPr/>
        </p:nvSpPr>
        <p:spPr>
          <a:xfrm>
            <a:off x="1729359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art:axis-value"/>
          <p:cNvSpPr txBox="1"/>
          <p:nvPr/>
        </p:nvSpPr>
        <p:spPr>
          <a:xfrm>
            <a:off x="2334577" y="5600700"/>
            <a:ext cx="129159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26" name="chart:axis-value"/>
          <p:cNvSpPr txBox="1"/>
          <p:nvPr/>
        </p:nvSpPr>
        <p:spPr>
          <a:xfrm>
            <a:off x="3995013" y="5600700"/>
            <a:ext cx="221742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50</a:t>
            </a:r>
          </a:p>
        </p:txBody>
      </p:sp>
      <p:sp>
        <p:nvSpPr>
          <p:cNvPr id="27" name="chart:axis-value"/>
          <p:cNvSpPr txBox="1"/>
          <p:nvPr/>
        </p:nvSpPr>
        <p:spPr>
          <a:xfrm>
            <a:off x="5655449" y="5600700"/>
            <a:ext cx="314325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</a:t>
            </a:r>
          </a:p>
        </p:txBody>
      </p:sp>
      <p:sp>
        <p:nvSpPr>
          <p:cNvPr id="28" name="chart:axis-value"/>
          <p:cNvSpPr txBox="1"/>
          <p:nvPr/>
        </p:nvSpPr>
        <p:spPr>
          <a:xfrm>
            <a:off x="7362177" y="5600700"/>
            <a:ext cx="314325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150</a:t>
            </a:r>
          </a:p>
        </p:txBody>
      </p:sp>
      <p:sp>
        <p:nvSpPr>
          <p:cNvPr id="29" name="chart:axis-value"/>
          <p:cNvSpPr txBox="1"/>
          <p:nvPr/>
        </p:nvSpPr>
        <p:spPr>
          <a:xfrm>
            <a:off x="9068904" y="5600700"/>
            <a:ext cx="314325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200</a:t>
            </a:r>
          </a:p>
        </p:txBody>
      </p:sp>
      <p:sp>
        <p:nvSpPr>
          <p:cNvPr id="30" name="chart:axis-value"/>
          <p:cNvSpPr txBox="1"/>
          <p:nvPr/>
        </p:nvSpPr>
        <p:spPr>
          <a:xfrm>
            <a:off x="10775632" y="5600700"/>
            <a:ext cx="314325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250</a:t>
            </a:r>
          </a:p>
        </p:txBody>
      </p:sp>
      <p:sp>
        <p:nvSpPr>
          <p:cNvPr id="31" name="chart:category"/>
          <p:cNvSpPr txBox="1"/>
          <p:nvPr/>
        </p:nvSpPr>
        <p:spPr>
          <a:xfrm>
            <a:off x="694944" y="2134743"/>
            <a:ext cx="987552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週次報告</a:t>
            </a:r>
          </a:p>
        </p:txBody>
      </p:sp>
      <p:sp>
        <p:nvSpPr>
          <p:cNvPr id="32" name="chart:category"/>
          <p:cNvSpPr txBox="1"/>
          <p:nvPr/>
        </p:nvSpPr>
        <p:spPr>
          <a:xfrm>
            <a:off x="694944" y="3075813"/>
            <a:ext cx="987552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月次レビュー</a:t>
            </a:r>
          </a:p>
        </p:txBody>
      </p:sp>
      <p:sp>
        <p:nvSpPr>
          <p:cNvPr id="33" name="chart:category"/>
          <p:cNvSpPr txBox="1"/>
          <p:nvPr/>
        </p:nvSpPr>
        <p:spPr>
          <a:xfrm>
            <a:off x="694944" y="4016883"/>
            <a:ext cx="987552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調査サマリ</a:t>
            </a:r>
          </a:p>
        </p:txBody>
      </p:sp>
      <p:sp>
        <p:nvSpPr>
          <p:cNvPr id="34" name="chart:category"/>
          <p:cNvSpPr txBox="1"/>
          <p:nvPr/>
        </p:nvSpPr>
        <p:spPr>
          <a:xfrm>
            <a:off x="694944" y="4957953"/>
            <a:ext cx="987552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役員向け抜粋</a:t>
            </a:r>
          </a:p>
        </p:txBody>
      </p:sp>
      <p:sp>
        <p:nvSpPr>
          <p:cNvPr id="35" name="chart:legend"/>
          <p:cNvSpPr txBox="1"/>
          <p:nvPr/>
        </p:nvSpPr>
        <p:spPr>
          <a:xfrm>
            <a:off x="896112" y="5864352"/>
            <a:ext cx="668655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従来 (分)</a:t>
            </a:r>
          </a:p>
        </p:txBody>
      </p:sp>
      <p:sp>
        <p:nvSpPr>
          <p:cNvPr id="36" name="chart:legend"/>
          <p:cNvSpPr txBox="1"/>
          <p:nvPr/>
        </p:nvSpPr>
        <p:spPr>
          <a:xfrm>
            <a:off x="1930527" y="5864352"/>
            <a:ext cx="833247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生成後 (分)</a:t>
            </a:r>
          </a:p>
        </p:txBody>
      </p:sp>
      <p:sp>
        <p:nvSpPr>
          <p:cNvPr id="37" name="chart:data-value"/>
          <p:cNvSpPr txBox="1"/>
          <p:nvPr/>
        </p:nvSpPr>
        <p:spPr>
          <a:xfrm>
            <a:off x="4017507" y="1944243"/>
            <a:ext cx="217170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45</a:t>
            </a:r>
          </a:p>
        </p:txBody>
      </p:sp>
      <p:sp>
        <p:nvSpPr>
          <p:cNvPr id="38" name="chart:data-value"/>
          <p:cNvSpPr txBox="1"/>
          <p:nvPr/>
        </p:nvSpPr>
        <p:spPr>
          <a:xfrm>
            <a:off x="2925202" y="2325243"/>
            <a:ext cx="217170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39" name="chart:data-value"/>
          <p:cNvSpPr txBox="1"/>
          <p:nvPr/>
        </p:nvSpPr>
        <p:spPr>
          <a:xfrm>
            <a:off x="6577599" y="2885313"/>
            <a:ext cx="309753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120</a:t>
            </a:r>
          </a:p>
        </p:txBody>
      </p:sp>
      <p:sp>
        <p:nvSpPr>
          <p:cNvPr id="40" name="chart:data-value"/>
          <p:cNvSpPr txBox="1"/>
          <p:nvPr/>
        </p:nvSpPr>
        <p:spPr>
          <a:xfrm>
            <a:off x="3915104" y="3266313"/>
            <a:ext cx="217170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42</a:t>
            </a:r>
          </a:p>
        </p:txBody>
      </p:sp>
      <p:sp>
        <p:nvSpPr>
          <p:cNvPr id="41" name="chart:data-value"/>
          <p:cNvSpPr txBox="1"/>
          <p:nvPr/>
        </p:nvSpPr>
        <p:spPr>
          <a:xfrm>
            <a:off x="10673745" y="3826383"/>
            <a:ext cx="309753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240</a:t>
            </a:r>
          </a:p>
        </p:txBody>
      </p:sp>
      <p:sp>
        <p:nvSpPr>
          <p:cNvPr id="42" name="chart:data-value"/>
          <p:cNvSpPr txBox="1"/>
          <p:nvPr/>
        </p:nvSpPr>
        <p:spPr>
          <a:xfrm>
            <a:off x="5382889" y="4207383"/>
            <a:ext cx="217170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85</a:t>
            </a:r>
          </a:p>
        </p:txBody>
      </p:sp>
      <p:sp>
        <p:nvSpPr>
          <p:cNvPr id="43" name="chart:data-value"/>
          <p:cNvSpPr txBox="1"/>
          <p:nvPr/>
        </p:nvSpPr>
        <p:spPr>
          <a:xfrm>
            <a:off x="5553562" y="4767453"/>
            <a:ext cx="217170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90</a:t>
            </a:r>
          </a:p>
        </p:txBody>
      </p:sp>
      <p:sp>
        <p:nvSpPr>
          <p:cNvPr id="44" name="chart:data-value"/>
          <p:cNvSpPr txBox="1"/>
          <p:nvPr/>
        </p:nvSpPr>
        <p:spPr>
          <a:xfrm>
            <a:off x="3437220" y="5148453"/>
            <a:ext cx="217170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1081278" y="5047488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1081278" y="4283201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1081278" y="3518915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1081278" y="2754629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1081278" y="1990344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zero-axis"/>
          <p:cNvCxnSpPr/>
          <p:nvPr/>
        </p:nvCxnSpPr>
        <p:spPr>
          <a:xfrm>
            <a:off x="1081278" y="5047488"/>
            <a:ext cx="10187178" cy="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data-line"/>
          <p:cNvCxnSpPr/>
          <p:nvPr/>
        </p:nvCxnSpPr>
        <p:spPr>
          <a:xfrm flipV="1">
            <a:off x="1647232" y="4359630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data-line"/>
          <p:cNvCxnSpPr/>
          <p:nvPr/>
        </p:nvCxnSpPr>
        <p:spPr>
          <a:xfrm flipV="1">
            <a:off x="2779141" y="4092130"/>
            <a:ext cx="1131908" cy="267500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data-line"/>
          <p:cNvCxnSpPr/>
          <p:nvPr/>
        </p:nvCxnSpPr>
        <p:spPr>
          <a:xfrm flipV="1">
            <a:off x="3911049" y="3862844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data-line"/>
          <p:cNvCxnSpPr/>
          <p:nvPr/>
        </p:nvCxnSpPr>
        <p:spPr>
          <a:xfrm flipV="1">
            <a:off x="5042958" y="3366058"/>
            <a:ext cx="1131909" cy="4967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hart:data-line"/>
          <p:cNvCxnSpPr/>
          <p:nvPr/>
        </p:nvCxnSpPr>
        <p:spPr>
          <a:xfrm flipV="1">
            <a:off x="6174867" y="3060344"/>
            <a:ext cx="1131908" cy="305714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hart:data-line"/>
          <p:cNvCxnSpPr/>
          <p:nvPr/>
        </p:nvCxnSpPr>
        <p:spPr>
          <a:xfrm flipV="1">
            <a:off x="7306775" y="2716415"/>
            <a:ext cx="1131909" cy="343929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hart:data-line"/>
          <p:cNvCxnSpPr/>
          <p:nvPr/>
        </p:nvCxnSpPr>
        <p:spPr>
          <a:xfrm flipV="1">
            <a:off x="8438684" y="2487129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hart:data-line"/>
          <p:cNvCxnSpPr/>
          <p:nvPr/>
        </p:nvCxnSpPr>
        <p:spPr>
          <a:xfrm flipV="1">
            <a:off x="9570593" y="2219629"/>
            <a:ext cx="1131908" cy="267500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hart:data-line"/>
          <p:cNvCxnSpPr/>
          <p:nvPr/>
        </p:nvCxnSpPr>
        <p:spPr>
          <a:xfrm flipV="1">
            <a:off x="1647232" y="4092130"/>
            <a:ext cx="1131909" cy="191071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hart:data-line"/>
          <p:cNvCxnSpPr/>
          <p:nvPr/>
        </p:nvCxnSpPr>
        <p:spPr>
          <a:xfrm flipV="1">
            <a:off x="2779141" y="3901058"/>
            <a:ext cx="1131908" cy="19107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hart:data-line"/>
          <p:cNvCxnSpPr/>
          <p:nvPr/>
        </p:nvCxnSpPr>
        <p:spPr>
          <a:xfrm flipV="1">
            <a:off x="3911049" y="3709987"/>
            <a:ext cx="1131909" cy="191071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hart:data-line"/>
          <p:cNvCxnSpPr/>
          <p:nvPr/>
        </p:nvCxnSpPr>
        <p:spPr>
          <a:xfrm flipV="1">
            <a:off x="5042958" y="3518915"/>
            <a:ext cx="1131909" cy="19107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hart:data-line"/>
          <p:cNvCxnSpPr/>
          <p:nvPr/>
        </p:nvCxnSpPr>
        <p:spPr>
          <a:xfrm flipV="1">
            <a:off x="6174867" y="3136773"/>
            <a:ext cx="1131908" cy="38214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hart:data-line"/>
          <p:cNvCxnSpPr/>
          <p:nvPr/>
        </p:nvCxnSpPr>
        <p:spPr>
          <a:xfrm flipV="1">
            <a:off x="7306775" y="2754629"/>
            <a:ext cx="1131909" cy="382144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hart:data-line"/>
          <p:cNvCxnSpPr/>
          <p:nvPr/>
        </p:nvCxnSpPr>
        <p:spPr>
          <a:xfrm flipV="1">
            <a:off x="8438684" y="2372487"/>
            <a:ext cx="1131909" cy="38214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hart:data-line"/>
          <p:cNvCxnSpPr/>
          <p:nvPr/>
        </p:nvCxnSpPr>
        <p:spPr>
          <a:xfrm flipV="1">
            <a:off x="9570593" y="1990344"/>
            <a:ext cx="1131908" cy="382143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hart:legend-key"/>
          <p:cNvSpPr/>
          <p:nvPr/>
        </p:nvSpPr>
        <p:spPr>
          <a:xfrm>
            <a:off x="1554480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art:data-dot"/>
          <p:cNvSpPr/>
          <p:nvPr/>
        </p:nvSpPr>
        <p:spPr>
          <a:xfrm>
            <a:off x="1601512" y="4543196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hart:data-dot"/>
          <p:cNvSpPr/>
          <p:nvPr/>
        </p:nvSpPr>
        <p:spPr>
          <a:xfrm>
            <a:off x="2733421" y="431391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chart:data-dot"/>
          <p:cNvSpPr/>
          <p:nvPr/>
        </p:nvSpPr>
        <p:spPr>
          <a:xfrm>
            <a:off x="3865329" y="404641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chart:data-dot"/>
          <p:cNvSpPr/>
          <p:nvPr/>
        </p:nvSpPr>
        <p:spPr>
          <a:xfrm>
            <a:off x="4997238" y="3817124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hart:data-dot"/>
          <p:cNvSpPr/>
          <p:nvPr/>
        </p:nvSpPr>
        <p:spPr>
          <a:xfrm>
            <a:off x="6129147" y="3320338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chart:data-dot"/>
          <p:cNvSpPr/>
          <p:nvPr/>
        </p:nvSpPr>
        <p:spPr>
          <a:xfrm>
            <a:off x="7261055" y="3014624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hart:data-dot"/>
          <p:cNvSpPr/>
          <p:nvPr/>
        </p:nvSpPr>
        <p:spPr>
          <a:xfrm>
            <a:off x="8392964" y="2670695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hart:data-dot"/>
          <p:cNvSpPr/>
          <p:nvPr/>
        </p:nvSpPr>
        <p:spPr>
          <a:xfrm>
            <a:off x="9524873" y="2441409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art:data-dot"/>
          <p:cNvSpPr/>
          <p:nvPr/>
        </p:nvSpPr>
        <p:spPr>
          <a:xfrm>
            <a:off x="10656781" y="2173909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hart:data-dot"/>
          <p:cNvSpPr/>
          <p:nvPr/>
        </p:nvSpPr>
        <p:spPr>
          <a:xfrm>
            <a:off x="1601512" y="4237482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chart:data-dot"/>
          <p:cNvSpPr/>
          <p:nvPr/>
        </p:nvSpPr>
        <p:spPr>
          <a:xfrm>
            <a:off x="2733421" y="404641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chart:data-dot"/>
          <p:cNvSpPr/>
          <p:nvPr/>
        </p:nvSpPr>
        <p:spPr>
          <a:xfrm>
            <a:off x="3865329" y="3855338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hart:data-dot"/>
          <p:cNvSpPr/>
          <p:nvPr/>
        </p:nvSpPr>
        <p:spPr>
          <a:xfrm>
            <a:off x="4997238" y="3664267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hart:data-dot"/>
          <p:cNvSpPr/>
          <p:nvPr/>
        </p:nvSpPr>
        <p:spPr>
          <a:xfrm>
            <a:off x="6129147" y="3473195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hart:data-dot"/>
          <p:cNvSpPr/>
          <p:nvPr/>
        </p:nvSpPr>
        <p:spPr>
          <a:xfrm>
            <a:off x="7261055" y="3091053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chart:data-dot"/>
          <p:cNvSpPr/>
          <p:nvPr/>
        </p:nvSpPr>
        <p:spPr>
          <a:xfrm>
            <a:off x="8392964" y="270891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hart:data-dot"/>
          <p:cNvSpPr/>
          <p:nvPr/>
        </p:nvSpPr>
        <p:spPr>
          <a:xfrm>
            <a:off x="9524873" y="2326767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chart:data-dot"/>
          <p:cNvSpPr/>
          <p:nvPr/>
        </p:nvSpPr>
        <p:spPr>
          <a:xfrm>
            <a:off x="10656781" y="1944624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art:axis-value"/>
          <p:cNvSpPr txBox="1"/>
          <p:nvPr/>
        </p:nvSpPr>
        <p:spPr>
          <a:xfrm>
            <a:off x="694944" y="4939284"/>
            <a:ext cx="221742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48" name="chart:axis-value"/>
          <p:cNvSpPr txBox="1"/>
          <p:nvPr/>
        </p:nvSpPr>
        <p:spPr>
          <a:xfrm>
            <a:off x="694944" y="4174997"/>
            <a:ext cx="221742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9" name="chart:axis-value"/>
          <p:cNvSpPr txBox="1"/>
          <p:nvPr/>
        </p:nvSpPr>
        <p:spPr>
          <a:xfrm>
            <a:off x="694944" y="3410711"/>
            <a:ext cx="221742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</a:t>
            </a:r>
          </a:p>
        </p:txBody>
      </p:sp>
      <p:sp>
        <p:nvSpPr>
          <p:cNvPr id="50" name="chart:axis-value"/>
          <p:cNvSpPr txBox="1"/>
          <p:nvPr/>
        </p:nvSpPr>
        <p:spPr>
          <a:xfrm>
            <a:off x="694944" y="2646426"/>
            <a:ext cx="221742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</a:t>
            </a:r>
          </a:p>
        </p:txBody>
      </p:sp>
      <p:sp>
        <p:nvSpPr>
          <p:cNvPr id="51" name="chart:axis-value"/>
          <p:cNvSpPr txBox="1"/>
          <p:nvPr/>
        </p:nvSpPr>
        <p:spPr>
          <a:xfrm>
            <a:off x="694944" y="1882140"/>
            <a:ext cx="221742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</a:t>
            </a:r>
          </a:p>
        </p:txBody>
      </p:sp>
      <p:sp>
        <p:nvSpPr>
          <p:cNvPr id="52" name="chart:category"/>
          <p:cNvSpPr txBox="1"/>
          <p:nvPr/>
        </p:nvSpPr>
        <p:spPr>
          <a:xfrm>
            <a:off x="1163574" y="5355335"/>
            <a:ext cx="967316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53" name="chart:category"/>
          <p:cNvSpPr txBox="1"/>
          <p:nvPr/>
        </p:nvSpPr>
        <p:spPr>
          <a:xfrm>
            <a:off x="2295482" y="5355335"/>
            <a:ext cx="967316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54" name="chart:category"/>
          <p:cNvSpPr txBox="1"/>
          <p:nvPr/>
        </p:nvSpPr>
        <p:spPr>
          <a:xfrm>
            <a:off x="3427391" y="5355335"/>
            <a:ext cx="967316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55" name="chart:category"/>
          <p:cNvSpPr txBox="1"/>
          <p:nvPr/>
        </p:nvSpPr>
        <p:spPr>
          <a:xfrm>
            <a:off x="4559300" y="5355335"/>
            <a:ext cx="967316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56" name="chart:category"/>
          <p:cNvSpPr txBox="1"/>
          <p:nvPr/>
        </p:nvSpPr>
        <p:spPr>
          <a:xfrm>
            <a:off x="5691208" y="5355335"/>
            <a:ext cx="967316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57" name="chart:category"/>
          <p:cNvSpPr txBox="1"/>
          <p:nvPr/>
        </p:nvSpPr>
        <p:spPr>
          <a:xfrm>
            <a:off x="6823117" y="5355335"/>
            <a:ext cx="967316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58" name="chart:category"/>
          <p:cNvSpPr txBox="1"/>
          <p:nvPr/>
        </p:nvSpPr>
        <p:spPr>
          <a:xfrm>
            <a:off x="7955026" y="5355335"/>
            <a:ext cx="967316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59" name="chart:category"/>
          <p:cNvSpPr txBox="1"/>
          <p:nvPr/>
        </p:nvSpPr>
        <p:spPr>
          <a:xfrm>
            <a:off x="9086934" y="5355335"/>
            <a:ext cx="967316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60" name="chart:category"/>
          <p:cNvSpPr txBox="1"/>
          <p:nvPr/>
        </p:nvSpPr>
        <p:spPr>
          <a:xfrm>
            <a:off x="10218843" y="5355335"/>
            <a:ext cx="967316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61" name="chart:legend"/>
          <p:cNvSpPr txBox="1"/>
          <p:nvPr/>
        </p:nvSpPr>
        <p:spPr>
          <a:xfrm>
            <a:off x="896112" y="5864352"/>
            <a:ext cx="493776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利用率</a:t>
            </a:r>
          </a:p>
        </p:txBody>
      </p:sp>
      <p:sp>
        <p:nvSpPr>
          <p:cNvPr id="62" name="chart:legend"/>
          <p:cNvSpPr txBox="1"/>
          <p:nvPr/>
        </p:nvSpPr>
        <p:spPr>
          <a:xfrm>
            <a:off x="1755648" y="5864352"/>
            <a:ext cx="457200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目標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1307592" y="5047488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1307592" y="4436059"/>
            <a:ext cx="4764595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6496240" y="4436059"/>
            <a:ext cx="47645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1307592" y="3824630"/>
            <a:ext cx="8082343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9813988" y="3824630"/>
            <a:ext cx="144684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grid"/>
          <p:cNvCxnSpPr/>
          <p:nvPr/>
        </p:nvCxnSpPr>
        <p:spPr>
          <a:xfrm>
            <a:off x="1307592" y="3213201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grid"/>
          <p:cNvCxnSpPr/>
          <p:nvPr/>
        </p:nvCxnSpPr>
        <p:spPr>
          <a:xfrm>
            <a:off x="1307592" y="2601772"/>
            <a:ext cx="1446847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grid"/>
          <p:cNvCxnSpPr/>
          <p:nvPr/>
        </p:nvCxnSpPr>
        <p:spPr>
          <a:xfrm>
            <a:off x="3178492" y="2601772"/>
            <a:ext cx="80823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grid"/>
          <p:cNvCxnSpPr/>
          <p:nvPr/>
        </p:nvCxnSpPr>
        <p:spPr>
          <a:xfrm>
            <a:off x="1307592" y="1990344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zero-axis"/>
          <p:cNvCxnSpPr/>
          <p:nvPr/>
        </p:nvCxnSpPr>
        <p:spPr>
          <a:xfrm>
            <a:off x="1307592" y="5047488"/>
            <a:ext cx="9953244" cy="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hart:data-bar"/>
          <p:cNvSpPr/>
          <p:nvPr/>
        </p:nvSpPr>
        <p:spPr>
          <a:xfrm>
            <a:off x="2669286" y="2907487"/>
            <a:ext cx="594360" cy="214000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art:data-bar"/>
          <p:cNvSpPr/>
          <p:nvPr/>
        </p:nvSpPr>
        <p:spPr>
          <a:xfrm>
            <a:off x="2669286" y="2296058"/>
            <a:ext cx="594360" cy="6114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art:data-bar"/>
          <p:cNvSpPr/>
          <p:nvPr/>
        </p:nvSpPr>
        <p:spPr>
          <a:xfrm>
            <a:off x="2669286" y="1990344"/>
            <a:ext cx="594360" cy="305714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art:data-bar"/>
          <p:cNvSpPr/>
          <p:nvPr/>
        </p:nvSpPr>
        <p:spPr>
          <a:xfrm>
            <a:off x="5987034" y="3885773"/>
            <a:ext cx="594360" cy="1161714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art:data-bar"/>
          <p:cNvSpPr/>
          <p:nvPr/>
        </p:nvSpPr>
        <p:spPr>
          <a:xfrm>
            <a:off x="5987034" y="2907487"/>
            <a:ext cx="594360" cy="97828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art:data-bar"/>
          <p:cNvSpPr/>
          <p:nvPr/>
        </p:nvSpPr>
        <p:spPr>
          <a:xfrm>
            <a:off x="5987034" y="1990344"/>
            <a:ext cx="594360" cy="917143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art:data-bar"/>
          <p:cNvSpPr/>
          <p:nvPr/>
        </p:nvSpPr>
        <p:spPr>
          <a:xfrm>
            <a:off x="9304782" y="4497202"/>
            <a:ext cx="594360" cy="550285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art:data-bar"/>
          <p:cNvSpPr/>
          <p:nvPr/>
        </p:nvSpPr>
        <p:spPr>
          <a:xfrm>
            <a:off x="9304782" y="3213201"/>
            <a:ext cx="594360" cy="1284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art:data-bar"/>
          <p:cNvSpPr/>
          <p:nvPr/>
        </p:nvSpPr>
        <p:spPr>
          <a:xfrm>
            <a:off x="9304782" y="1990344"/>
            <a:ext cx="594360" cy="1222857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art:legend-key"/>
          <p:cNvSpPr/>
          <p:nvPr/>
        </p:nvSpPr>
        <p:spPr>
          <a:xfrm>
            <a:off x="1517904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hart:legend-key"/>
          <p:cNvSpPr/>
          <p:nvPr/>
        </p:nvSpPr>
        <p:spPr>
          <a:xfrm>
            <a:off x="2542031" y="5900928"/>
            <a:ext cx="109728" cy="109728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art:axis-value"/>
          <p:cNvSpPr txBox="1"/>
          <p:nvPr/>
        </p:nvSpPr>
        <p:spPr>
          <a:xfrm>
            <a:off x="694944" y="4939284"/>
            <a:ext cx="448056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0%</a:t>
            </a:r>
          </a:p>
        </p:txBody>
      </p:sp>
      <p:sp>
        <p:nvSpPr>
          <p:cNvPr id="28" name="chart:axis-value"/>
          <p:cNvSpPr txBox="1"/>
          <p:nvPr/>
        </p:nvSpPr>
        <p:spPr>
          <a:xfrm>
            <a:off x="694944" y="4327855"/>
            <a:ext cx="448056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20%</a:t>
            </a:r>
          </a:p>
        </p:txBody>
      </p:sp>
      <p:sp>
        <p:nvSpPr>
          <p:cNvPr id="29" name="chart:axis-value"/>
          <p:cNvSpPr txBox="1"/>
          <p:nvPr/>
        </p:nvSpPr>
        <p:spPr>
          <a:xfrm>
            <a:off x="694944" y="3716426"/>
            <a:ext cx="448056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40%</a:t>
            </a:r>
          </a:p>
        </p:txBody>
      </p:sp>
      <p:sp>
        <p:nvSpPr>
          <p:cNvPr id="30" name="chart:axis-value"/>
          <p:cNvSpPr txBox="1"/>
          <p:nvPr/>
        </p:nvSpPr>
        <p:spPr>
          <a:xfrm>
            <a:off x="694944" y="3104997"/>
            <a:ext cx="448056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60%</a:t>
            </a:r>
          </a:p>
        </p:txBody>
      </p:sp>
      <p:sp>
        <p:nvSpPr>
          <p:cNvPr id="31" name="chart:axis-value"/>
          <p:cNvSpPr txBox="1"/>
          <p:nvPr/>
        </p:nvSpPr>
        <p:spPr>
          <a:xfrm>
            <a:off x="694944" y="2493568"/>
            <a:ext cx="448056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80%</a:t>
            </a:r>
          </a:p>
        </p:txBody>
      </p:sp>
      <p:sp>
        <p:nvSpPr>
          <p:cNvPr id="32" name="chart:axis-value"/>
          <p:cNvSpPr txBox="1"/>
          <p:nvPr/>
        </p:nvSpPr>
        <p:spPr>
          <a:xfrm>
            <a:off x="694944" y="1882140"/>
            <a:ext cx="448056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100%</a:t>
            </a:r>
          </a:p>
        </p:txBody>
      </p:sp>
      <p:sp>
        <p:nvSpPr>
          <p:cNvPr id="33" name="chart:category"/>
          <p:cNvSpPr txBox="1"/>
          <p:nvPr/>
        </p:nvSpPr>
        <p:spPr>
          <a:xfrm>
            <a:off x="1389888" y="5355335"/>
            <a:ext cx="3153156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34" name="chart:category"/>
          <p:cNvSpPr txBox="1"/>
          <p:nvPr/>
        </p:nvSpPr>
        <p:spPr>
          <a:xfrm>
            <a:off x="4707636" y="5355335"/>
            <a:ext cx="3153156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試行中</a:t>
            </a:r>
          </a:p>
        </p:txBody>
      </p:sp>
      <p:sp>
        <p:nvSpPr>
          <p:cNvPr id="35" name="chart:category"/>
          <p:cNvSpPr txBox="1"/>
          <p:nvPr/>
        </p:nvSpPr>
        <p:spPr>
          <a:xfrm>
            <a:off x="8025384" y="5355335"/>
            <a:ext cx="3153156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標準化後</a:t>
            </a:r>
          </a:p>
        </p:txBody>
      </p:sp>
      <p:sp>
        <p:nvSpPr>
          <p:cNvPr id="36" name="chart:legend"/>
          <p:cNvSpPr txBox="1"/>
          <p:nvPr/>
        </p:nvSpPr>
        <p:spPr>
          <a:xfrm>
            <a:off x="896112" y="5864352"/>
            <a:ext cx="457200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作成</a:t>
            </a:r>
          </a:p>
        </p:txBody>
      </p:sp>
      <p:sp>
        <p:nvSpPr>
          <p:cNvPr id="37" name="chart:legend"/>
          <p:cNvSpPr txBox="1"/>
          <p:nvPr/>
        </p:nvSpPr>
        <p:spPr>
          <a:xfrm>
            <a:off x="1719072" y="5864352"/>
            <a:ext cx="658368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レビュー</a:t>
            </a:r>
          </a:p>
        </p:txBody>
      </p:sp>
      <p:sp>
        <p:nvSpPr>
          <p:cNvPr id="38" name="chart:legend"/>
          <p:cNvSpPr txBox="1"/>
          <p:nvPr/>
        </p:nvSpPr>
        <p:spPr>
          <a:xfrm>
            <a:off x="2743199" y="5864352"/>
            <a:ext cx="658368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意思決定</a:t>
            </a:r>
          </a:p>
        </p:txBody>
      </p:sp>
      <p:sp>
        <p:nvSpPr>
          <p:cNvPr id="39" name="chart:data-value"/>
          <p:cNvSpPr txBox="1"/>
          <p:nvPr/>
        </p:nvSpPr>
        <p:spPr>
          <a:xfrm>
            <a:off x="2791015" y="3869283"/>
            <a:ext cx="350901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70%</a:t>
            </a:r>
          </a:p>
        </p:txBody>
      </p:sp>
      <p:sp>
        <p:nvSpPr>
          <p:cNvPr id="40" name="chart:data-value"/>
          <p:cNvSpPr txBox="1"/>
          <p:nvPr/>
        </p:nvSpPr>
        <p:spPr>
          <a:xfrm>
            <a:off x="2791015" y="2493568"/>
            <a:ext cx="350901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20%</a:t>
            </a:r>
          </a:p>
        </p:txBody>
      </p:sp>
      <p:sp>
        <p:nvSpPr>
          <p:cNvPr id="41" name="chart:data-value"/>
          <p:cNvSpPr txBox="1"/>
          <p:nvPr/>
        </p:nvSpPr>
        <p:spPr>
          <a:xfrm>
            <a:off x="2791015" y="1682496"/>
            <a:ext cx="350901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10%</a:t>
            </a:r>
          </a:p>
        </p:txBody>
      </p:sp>
      <p:sp>
        <p:nvSpPr>
          <p:cNvPr id="42" name="chart:data-value"/>
          <p:cNvSpPr txBox="1"/>
          <p:nvPr/>
        </p:nvSpPr>
        <p:spPr>
          <a:xfrm>
            <a:off x="6108763" y="4358426"/>
            <a:ext cx="350901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38%</a:t>
            </a:r>
          </a:p>
        </p:txBody>
      </p:sp>
      <p:sp>
        <p:nvSpPr>
          <p:cNvPr id="43" name="chart:data-value"/>
          <p:cNvSpPr txBox="1"/>
          <p:nvPr/>
        </p:nvSpPr>
        <p:spPr>
          <a:xfrm>
            <a:off x="6108763" y="3288426"/>
            <a:ext cx="350901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32%</a:t>
            </a:r>
          </a:p>
        </p:txBody>
      </p:sp>
      <p:sp>
        <p:nvSpPr>
          <p:cNvPr id="44" name="chart:data-value"/>
          <p:cNvSpPr txBox="1"/>
          <p:nvPr/>
        </p:nvSpPr>
        <p:spPr>
          <a:xfrm>
            <a:off x="6108763" y="1682496"/>
            <a:ext cx="350901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30%</a:t>
            </a:r>
          </a:p>
        </p:txBody>
      </p:sp>
      <p:sp>
        <p:nvSpPr>
          <p:cNvPr id="45" name="chart:data-value"/>
          <p:cNvSpPr txBox="1"/>
          <p:nvPr/>
        </p:nvSpPr>
        <p:spPr>
          <a:xfrm>
            <a:off x="9426511" y="4664141"/>
            <a:ext cx="350901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18%</a:t>
            </a:r>
          </a:p>
        </p:txBody>
      </p:sp>
      <p:sp>
        <p:nvSpPr>
          <p:cNvPr id="46" name="chart:data-value"/>
          <p:cNvSpPr txBox="1"/>
          <p:nvPr/>
        </p:nvSpPr>
        <p:spPr>
          <a:xfrm>
            <a:off x="9426511" y="3746997"/>
            <a:ext cx="350901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42%</a:t>
            </a:r>
          </a:p>
        </p:txBody>
      </p:sp>
      <p:sp>
        <p:nvSpPr>
          <p:cNvPr id="47" name="chart:data-value"/>
          <p:cNvSpPr txBox="1"/>
          <p:nvPr/>
        </p:nvSpPr>
        <p:spPr>
          <a:xfrm>
            <a:off x="9426511" y="1682496"/>
            <a:ext cx="350901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7:textLayout xmlns:ns1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変更前後のスクリーンショットを左右で比較する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444752"/>
            <a:ext cx="5212080" cy="35661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変更前</a:t>
            </a:r>
          </a:p>
        </p:txBody>
      </p:sp>
      <p:pic>
        <p:nvPicPr>
          <p:cNvPr id="7" name="Comparison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l="4407" r="4407"/>
          <a:stretch>
            <a:fillRect/>
          </a:stretch>
        </p:blipFill>
        <p:spPr>
          <a:xfrm>
            <a:off x="877824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6291072" y="1444752"/>
            <a:ext cx="5212080" cy="35661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5392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変更後</a:t>
            </a:r>
          </a:p>
        </p:txBody>
      </p:sp>
      <p:pic>
        <p:nvPicPr>
          <p:cNvPr id="10" name="ComparisonImage" descr="濃紺のグラデーションに幾何学的な線を重ねた背景素材"/>
          <p:cNvPicPr>
            <a:picLocks noChangeAspect="1"/>
          </p:cNvPicPr>
          <p:nvPr/>
        </p:nvPicPr>
        <p:blipFill>
          <a:blip r:embed="rId3"/>
          <a:srcRect l="286" r="286"/>
          <a:stretch>
            <a:fillRect/>
          </a:stretch>
        </p:blipFill>
        <p:spPr>
          <a:xfrm>
            <a:off x="6473952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11" name="Rectangle 1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7:textLayout xmlns:ns10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2:textLayout xmlns:ns1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7:textLayout xmlns:ns1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32:textLayout xmlns:ns1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0:textLayout xmlns:ns2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5:textLayout xmlns:ns25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0:textLayout xmlns:ns3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5:textLayout xmlns:ns3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0:textLayout xmlns:ns40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5:textLayout xmlns:ns4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0:textLayout xmlns:ns5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5:textLayout xmlns:ns55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0:textLayout xmlns:ns6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5:textLayout xmlns:ns6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0:textLayout xmlns:ns70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5:textLayout xmlns:ns7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0:textLayout xmlns:ns8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5:textLayout xmlns:ns85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0:textLayout xmlns:ns9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5:textLayout xmlns:ns9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0:textLayout xmlns:ns100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5:textLayout xmlns:ns10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0:textLayout xmlns:ns110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5:textLayout xmlns:ns115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248406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Diamond 43"/>
          <p:cNvSpPr/>
          <p:nvPr/>
        </p:nvSpPr>
        <p:spPr>
          <a:xfrm>
            <a:off x="4179951" y="235000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87393" y="292608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01903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Diamond 57"/>
          <p:cNvSpPr/>
          <p:nvPr/>
        </p:nvSpPr>
        <p:spPr>
          <a:xfrm>
            <a:off x="7643241" y="363016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7:textLayout xmlns:ns1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52:textLayout xmlns:ns15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57:textLayout xmlns:ns15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750682" y="420624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62:textLayout xmlns:ns16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7:textLayout xmlns:ns16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2:textLayout xmlns:ns17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7:textLayout xmlns:ns17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9828657" y="469087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2:textLayout xmlns:ns18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Diamond 71"/>
          <p:cNvSpPr/>
          <p:nvPr/>
        </p:nvSpPr>
        <p:spPr>
          <a:xfrm>
            <a:off x="11106531" y="491032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7:textLayout xmlns:ns18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92:textLayout xmlns:ns1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97:textLayout xmlns:ns1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7:textLayout xmlns:ns14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52:textLayout xmlns:ns1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57:textLayout xmlns:ns15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2:textLayout xmlns:ns1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67:textLayout xmlns:ns16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2:textLayout xmlns:ns17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7:textLayout xmlns:ns17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2:textLayout xmlns:ns18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87:textLayout xmlns:ns18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92:textLayout xmlns:ns19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97:textLayout xmlns:ns19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02:textLayout xmlns:ns20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07:textLayout xmlns:ns20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12:textLayout xmlns:ns21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17:textLayout xmlns:ns2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2:textLayout xmlns:ns2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7:textLayout xmlns:ns2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4:textLayout xmlns:ns34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9:textLayout xmlns:ns3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4:textLayout xmlns:ns4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4:textLayout xmlns:ns5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4:textLayout xmlns:ns6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9:textLayout xmlns:ns69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4:textLayout xmlns:ns7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9:textLayout xmlns:ns79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4:textLayout xmlns:ns8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8:textLayout xmlns:ns18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4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9:textLayout xmlns:ns2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4:textLayout xmlns:ns3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9:textLayout xmlns:ns3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4:textLayout xmlns:ns4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9:textLayout xmlns:ns5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4:textLayout xmlns:ns6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9:textLayout xmlns:ns6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4:textLayout xmlns:ns7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9:textLayout xmlns:ns7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4:textLayout xmlns:ns8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9:textLayout xmlns:ns8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4:textLayout xmlns:ns9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9:textLayout xmlns:ns9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4:textLayout xmlns:ns104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9:textLayout xmlns:ns10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4:textLayout xmlns:ns114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9:textLayout xmlns:ns119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4:textLayout xmlns:ns124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9:textLayout xmlns:ns129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3:textLayout xmlns:ns23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9:textLayout xmlns:ns2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4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3:textLayout xmlns:ns13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AWS構成図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VPC・AZ・Subnetの入れ子構造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クラウド構成図では、通信経路だけでなく配置境界も読み取れる形にする。</a:t>
            </a:r>
          </a:p>
        </p:txBody>
      </p:sp>
      <p:sp>
        <p:nvSpPr>
          <p:cNvPr id="6" name="aws-vpc-layout:vpc"/>
          <p:cNvSpPr/>
          <p:nvPr/>
        </p:nvSpPr>
        <p:spPr>
          <a:xfrm>
            <a:off x="1938528" y="1874012"/>
            <a:ext cx="9750247" cy="4353052"/>
          </a:xfrm>
          <a:prstGeom prst="rect">
            <a:avLst/>
          </a:prstGeom>
          <a:noFill/>
          <a:ln w="16510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ws-vpc-layout:vpc:label"/>
          <p:cNvSpPr txBox="1"/>
          <p:nvPr/>
        </p:nvSpPr>
        <p:spPr>
          <a:xfrm>
            <a:off x="2057400" y="1938020"/>
            <a:ext cx="1037844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10.0.0.0/16</a:t>
            </a:r>
          </a:p>
        </p:txBody>
      </p:sp>
      <p:sp>
        <p:nvSpPr>
          <p:cNvPr id="8" name="aws-vpc-layout:az:az_a"/>
          <p:cNvSpPr/>
          <p:nvPr/>
        </p:nvSpPr>
        <p:spPr>
          <a:xfrm>
            <a:off x="2212848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ws-vpc-layout:az:az_a:label"/>
          <p:cNvSpPr txBox="1"/>
          <p:nvPr/>
        </p:nvSpPr>
        <p:spPr>
          <a:xfrm>
            <a:off x="2331720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0" name="aws-vpc-layout:subnet:public_a"/>
          <p:cNvSpPr/>
          <p:nvPr/>
        </p:nvSpPr>
        <p:spPr>
          <a:xfrm>
            <a:off x="2359152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ws-vpc-layout:subnet:public_a:label"/>
          <p:cNvSpPr txBox="1"/>
          <p:nvPr/>
        </p:nvSpPr>
        <p:spPr>
          <a:xfrm>
            <a:off x="2478024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public subnet 10.0.0.0/24</a:t>
            </a:r>
          </a:p>
        </p:txBody>
      </p:sp>
      <p:sp>
        <p:nvSpPr>
          <p:cNvPr id="12" name="aws-vpc-layout:subnet:app_a"/>
          <p:cNvSpPr/>
          <p:nvPr/>
        </p:nvSpPr>
        <p:spPr>
          <a:xfrm>
            <a:off x="2359152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aws-vpc-layout:subnet:app_a:label"/>
          <p:cNvSpPr txBox="1"/>
          <p:nvPr/>
        </p:nvSpPr>
        <p:spPr>
          <a:xfrm>
            <a:off x="2478024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app subnet 10.0.10.0/24</a:t>
            </a:r>
          </a:p>
        </p:txBody>
      </p:sp>
      <p:sp>
        <p:nvSpPr>
          <p:cNvPr id="14" name="aws-vpc-layout:subnet:db_a"/>
          <p:cNvSpPr/>
          <p:nvPr/>
        </p:nvSpPr>
        <p:spPr>
          <a:xfrm>
            <a:off x="2359152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ws-vpc-layout:subnet:db_a:label"/>
          <p:cNvSpPr txBox="1"/>
          <p:nvPr/>
        </p:nvSpPr>
        <p:spPr>
          <a:xfrm>
            <a:off x="2478024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db subnet 10.0.20.0/24</a:t>
            </a:r>
          </a:p>
        </p:txBody>
      </p:sp>
      <p:sp>
        <p:nvSpPr>
          <p:cNvPr id="16" name="aws-vpc-layout:az:az_c"/>
          <p:cNvSpPr/>
          <p:nvPr/>
        </p:nvSpPr>
        <p:spPr>
          <a:xfrm>
            <a:off x="6923379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ws-vpc-layout:az:az_c:label"/>
          <p:cNvSpPr txBox="1"/>
          <p:nvPr/>
        </p:nvSpPr>
        <p:spPr>
          <a:xfrm>
            <a:off x="7042251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sp>
        <p:nvSpPr>
          <p:cNvPr id="18" name="aws-vpc-layout:subnet:public_c"/>
          <p:cNvSpPr/>
          <p:nvPr/>
        </p:nvSpPr>
        <p:spPr>
          <a:xfrm>
            <a:off x="7069683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ws-vpc-layout:subnet:public_c:label"/>
          <p:cNvSpPr txBox="1"/>
          <p:nvPr/>
        </p:nvSpPr>
        <p:spPr>
          <a:xfrm>
            <a:off x="7188555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public subnet 10.0.1.0/24</a:t>
            </a:r>
          </a:p>
        </p:txBody>
      </p:sp>
      <p:sp>
        <p:nvSpPr>
          <p:cNvPr id="20" name="aws-vpc-layout:subnet:app_c"/>
          <p:cNvSpPr/>
          <p:nvPr/>
        </p:nvSpPr>
        <p:spPr>
          <a:xfrm>
            <a:off x="7069683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ws-vpc-layout:subnet:app_c:label"/>
          <p:cNvSpPr txBox="1"/>
          <p:nvPr/>
        </p:nvSpPr>
        <p:spPr>
          <a:xfrm>
            <a:off x="7188555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app subnet 10.0.11.0/24</a:t>
            </a:r>
          </a:p>
        </p:txBody>
      </p:sp>
      <p:sp>
        <p:nvSpPr>
          <p:cNvPr id="22" name="aws-vpc-layout:subnet:db_c"/>
          <p:cNvSpPr/>
          <p:nvPr/>
        </p:nvSpPr>
        <p:spPr>
          <a:xfrm>
            <a:off x="7069683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ws-vpc-layout:subnet:db_c:label"/>
          <p:cNvSpPr txBox="1"/>
          <p:nvPr/>
        </p:nvSpPr>
        <p:spPr>
          <a:xfrm>
            <a:off x="7188555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db subnet 10.0.21.0/24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389888" y="3090164"/>
            <a:ext cx="2794177" cy="0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aws-vpc-layout:flow-label"/>
          <p:cNvSpPr txBox="1"/>
          <p:nvPr/>
        </p:nvSpPr>
        <p:spPr>
          <a:xfrm>
            <a:off x="2556090" y="2904870"/>
            <a:ext cx="461772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58385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aws-vpc-layout:flow-label"/>
          <p:cNvSpPr txBox="1"/>
          <p:nvPr/>
        </p:nvSpPr>
        <p:spPr>
          <a:xfrm>
            <a:off x="4805857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9:textLayout xmlns:ns6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68917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aws-vpc-layout:flow-label"/>
          <p:cNvSpPr txBox="1"/>
          <p:nvPr/>
        </p:nvSpPr>
        <p:spPr>
          <a:xfrm>
            <a:off x="9516389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5:textLayout xmlns:ns7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458385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aws-vpc-layout:flow-label"/>
          <p:cNvSpPr txBox="1"/>
          <p:nvPr/>
        </p:nvSpPr>
        <p:spPr>
          <a:xfrm>
            <a:off x="4805857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1:textLayout xmlns:ns81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68917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aws-vpc-layout:flow-label"/>
          <p:cNvSpPr txBox="1"/>
          <p:nvPr/>
        </p:nvSpPr>
        <p:spPr>
          <a:xfrm>
            <a:off x="9516389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732705" y="5431366"/>
            <a:ext cx="416189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aws-vpc-layout:flow-label"/>
          <p:cNvSpPr txBox="1"/>
          <p:nvPr/>
        </p:nvSpPr>
        <p:spPr>
          <a:xfrm>
            <a:off x="5614301" y="5246073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4:textLayout xmlns:ns94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pic>
        <p:nvPicPr>
          <p:cNvPr id="36" name="Picture 35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8929" y="2870707"/>
            <a:ext cx="438912" cy="43891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129773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99:textLayout xmlns:ns99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38" name="Picture 37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8929" y="4041309"/>
            <a:ext cx="438912" cy="43891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242930" y="4525941"/>
            <a:ext cx="43091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04:textLayout xmlns:ns104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A</a:t>
            </a:r>
          </a:p>
        </p:txBody>
      </p:sp>
      <p:pic>
        <p:nvPicPr>
          <p:cNvPr id="40" name="Picture 39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8929" y="5211910"/>
            <a:ext cx="438912" cy="4389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037190" y="5696542"/>
            <a:ext cx="84239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09:textLayout xmlns:ns109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Primary</a:t>
            </a:r>
          </a:p>
        </p:txBody>
      </p:sp>
      <p:pic>
        <p:nvPicPr>
          <p:cNvPr id="42" name="Picture 41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9461" y="2870707"/>
            <a:ext cx="438912" cy="4389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840304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14:textLayout xmlns:ns114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44" name="Picture 43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9461" y="4041309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948318" y="4525941"/>
            <a:ext cx="441198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19:textLayout xmlns:ns119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B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9461" y="5211910"/>
            <a:ext cx="438912" cy="43891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737434" y="5696542"/>
            <a:ext cx="86296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24:textLayout xmlns:ns124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Standby</a:t>
            </a:r>
          </a:p>
        </p:txBody>
      </p:sp>
      <p:pic>
        <p:nvPicPr>
          <p:cNvPr id="48" name="Picture 47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2870707"/>
            <a:ext cx="438912" cy="43891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84682" y="3355340"/>
            <a:ext cx="461772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29:textLayout xmlns:ns129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34:textLayout xmlns:ns134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9:textLayout xmlns:ns139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0:textLayout xmlns:ns30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5:textLayout xmlns:ns35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0:textLayout xmlns:ns40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5:textLayout xmlns:ns45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0:textLayout xmlns:ns50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5:textLayout xmlns:ns55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0:textLayout xmlns:ns60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5:textLayout xmlns:ns65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0:textLayout xmlns:ns70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5:textLayout xmlns:ns75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0:textLayout xmlns:ns80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5:textLayout xmlns:ns8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0:textLayout xmlns:ns90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5:textLayout xmlns:ns9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0:textLayout xmlns:ns100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5:textLayout xmlns:ns10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0:textLayout xmlns:ns110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5:textLayout xmlns:ns115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0:textLayout xmlns:ns120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4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9:textLayout xmlns:ns2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4:textLayout xmlns:ns3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9:textLayout xmlns:ns3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4:textLayout xmlns:ns4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9:textLayout xmlns:ns5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4:textLayout xmlns:ns6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9:textLayout xmlns:ns6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4:textLayout xmlns:ns7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9:textLayout xmlns:ns7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4:textLayout xmlns:ns8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9:textLayout xmlns:ns8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4:textLayout xmlns:ns9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9:textLayout xmlns:ns9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4:textLayout xmlns:ns104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9:textLayout xmlns:ns10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4:textLayout xmlns:ns114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9:textLayout xmlns:ns11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4:textLayout xmlns:ns124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9:textLayout xmlns:ns129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言葉の定義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RTOは、障害発生から業務再開までの目標時間を表す</a:t>
            </a:r>
          </a:p>
        </p:txBody>
      </p:sp>
      <p:pic>
        <p:nvPicPr>
          <p:cNvPr id="5" name="Picture 4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810512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07592" y="1755648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3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633472"/>
            <a:ext cx="4892040" cy="298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Recovery Time Objectiveの略です。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障害が起きてから、業務やサービスを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再開するまでに許容する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目標時間を定めます。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7296" y="1755648"/>
            <a:ext cx="9144" cy="3865880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178308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8:textLayout xmlns:ns28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起点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2061972"/>
            <a:ext cx="5544007" cy="909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3:textLayout xmlns:ns33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業務やサービスへ影響する障害が発生した時点。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3025986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3071706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8:textLayout xmlns:ns38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3350598"/>
            <a:ext cx="5544007" cy="909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3:textLayout xmlns:ns43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利用者が必要な業務を再開できる状態へ戻った時点。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4314613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4360333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8:textLayout xmlns:ns48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設計への反映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639225"/>
            <a:ext cx="5544007" cy="909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3:textLayout xmlns:ns53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復旧手順、冗長化、バックアップ方式の要求へ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落とし込む。</a:t>
            </a:r>
          </a:p>
        </p:txBody>
      </p:sp>
      <p:sp>
        <p:nvSpPr>
          <p:cNvPr id="17" name="slide-footnote:rule"/>
          <p:cNvSpPr/>
          <p:nvPr/>
        </p:nvSpPr>
        <p:spPr>
          <a:xfrm>
            <a:off x="502920" y="5822696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slide-footnote:label"/>
          <p:cNvSpPr txBox="1"/>
          <p:nvPr/>
        </p:nvSpPr>
        <p:spPr>
          <a:xfrm>
            <a:off x="502920" y="5932424"/>
            <a:ext cx="1271016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0:textLayout xmlns:ns60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1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19" name="slide-footnote:text"/>
          <p:cNvSpPr txBox="1"/>
          <p:nvPr/>
        </p:nvSpPr>
        <p:spPr>
          <a:xfrm>
            <a:off x="1920240" y="5932424"/>
            <a:ext cx="9768535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5:textLayout xmlns:ns65="urn:pptxdsl:text-layout:v1" role="body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実際に要した復旧時間の実績値ではなく、事前に合意する目標値です。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0:textLayout xmlns:ns70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75:textLayout xmlns:ns75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ネットワーク構成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物理リンクを共有しながら、用途別の通信範囲を分離する</a:t>
            </a:r>
          </a:p>
        </p:txBody>
      </p:sp>
      <p:sp>
        <p:nvSpPr>
          <p:cNvPr id="5" name="layout-background:network-lane:business"/>
          <p:cNvSpPr/>
          <p:nvPr/>
        </p:nvSpPr>
        <p:spPr>
          <a:xfrm>
            <a:off x="502920" y="2060691"/>
            <a:ext cx="11185855" cy="129844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2243571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業務VLAN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508747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sp>
        <p:nvSpPr>
          <p:cNvPr id="8" name="layout-background:network-lane:guest"/>
          <p:cNvSpPr/>
          <p:nvPr/>
        </p:nvSpPr>
        <p:spPr>
          <a:xfrm>
            <a:off x="502920" y="3450579"/>
            <a:ext cx="11185855" cy="1298448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3633459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ゲストVLAN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3898635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来訪者端末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7943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4075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6339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77141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477141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35993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35993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903273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903273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862125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62125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371049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371049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477141" y="2709915"/>
            <a:ext cx="24261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77141" y="4099803"/>
            <a:ext cx="24261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684367" y="3020811"/>
            <a:ext cx="2011680" cy="31089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業務VLAN / ゲストVLAN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903273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903273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2740113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977" y="2453883"/>
            <a:ext cx="512064" cy="51206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282913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A</a:t>
            </a:r>
          </a:p>
        </p:txBody>
      </p:sp>
      <p:sp>
        <p:nvSpPr>
          <p:cNvPr id="33" name="Oval 32"/>
          <p:cNvSpPr/>
          <p:nvPr/>
        </p:nvSpPr>
        <p:spPr>
          <a:xfrm>
            <a:off x="2740113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77" y="3843771"/>
            <a:ext cx="512064" cy="51206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282913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A</a:t>
            </a:r>
          </a:p>
        </p:txBody>
      </p:sp>
      <p:sp>
        <p:nvSpPr>
          <p:cNvPr id="36" name="Oval 35"/>
          <p:cNvSpPr/>
          <p:nvPr/>
        </p:nvSpPr>
        <p:spPr>
          <a:xfrm>
            <a:off x="5166245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109" y="3148827"/>
            <a:ext cx="512064" cy="51206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4709045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39" name="Oval 38"/>
          <p:cNvSpPr/>
          <p:nvPr/>
        </p:nvSpPr>
        <p:spPr>
          <a:xfrm>
            <a:off x="7592377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1" y="3148827"/>
            <a:ext cx="512064" cy="51206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135177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42" name="Oval 41"/>
          <p:cNvSpPr/>
          <p:nvPr/>
        </p:nvSpPr>
        <p:spPr>
          <a:xfrm>
            <a:off x="10018509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3373" y="2453883"/>
            <a:ext cx="512064" cy="51206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561309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B</a:t>
            </a:r>
          </a:p>
        </p:txBody>
      </p:sp>
      <p:sp>
        <p:nvSpPr>
          <p:cNvPr id="45" name="Oval 44"/>
          <p:cNvSpPr/>
          <p:nvPr/>
        </p:nvSpPr>
        <p:spPr>
          <a:xfrm>
            <a:off x="10018509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373" y="3843771"/>
            <a:ext cx="512064" cy="512064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561309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B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76072" y="6117336"/>
            <a:ext cx="256032" cy="0"/>
          </a:xfrm>
          <a:prstGeom prst="line">
            <a:avLst/>
          </a:prstGeom>
          <a:ln w="1905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05256" y="6035040"/>
            <a:ext cx="52692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4:textLayout xmlns:ns94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Access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651635" y="6117336"/>
            <a:ext cx="256031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980818" y="6035040"/>
            <a:ext cx="10824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9:textLayout xmlns:ns99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Trunk (複数VLAN)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4:textLayout xmlns:ns104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9:textLayout xmlns:ns109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IPパケット状態の追跡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NAT前後の送信元IPを、処理段階ごとに追跡する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NATでは送信元IPを書き換え、宛先IPは維持したまま外部へ転送する。</a:t>
            </a:r>
          </a:p>
        </p:txBody>
      </p:sp>
      <p:pic>
        <p:nvPicPr>
          <p:cNvPr id="6" name="Picture 5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823" y="1910588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56232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pic>
        <p:nvPicPr>
          <p:cNvPr id="8" name="Picture 7" descr="ether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223" y="1910588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666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ルーター内側</a:t>
            </a:r>
          </a:p>
        </p:txBody>
      </p:sp>
      <p:pic>
        <p:nvPicPr>
          <p:cNvPr id="10" name="Picture 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623" y="1910588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770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NAT処理</a:t>
            </a:r>
          </a:p>
        </p:txBody>
      </p:sp>
      <p:sp>
        <p:nvSpPr>
          <p:cNvPr id="12" name="layout-background:protocol-state-flow:stage:internet"/>
          <p:cNvSpPr/>
          <p:nvPr/>
        </p:nvSpPr>
        <p:spPr>
          <a:xfrm>
            <a:off x="7805135" y="2568956"/>
            <a:ext cx="1900671" cy="2084832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0023" y="1910588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874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インターネット区間</a:t>
            </a:r>
          </a:p>
        </p:txBody>
      </p:sp>
      <p:pic>
        <p:nvPicPr>
          <p:cNvPr id="15" name="Picture 14" descr="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0423" y="1910588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978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17" name="layout-background:protocol-state-flow:track:0"/>
          <p:cNvSpPr/>
          <p:nvPr/>
        </p:nvSpPr>
        <p:spPr>
          <a:xfrm>
            <a:off x="502920" y="2642108"/>
            <a:ext cx="11185855" cy="896112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824988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送信元IP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038602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アドレス変換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271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375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2479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583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protocol-state-flow:marker:plain"/>
          <p:cNvSpPr/>
          <p:nvPr/>
        </p:nvSpPr>
        <p:spPr>
          <a:xfrm>
            <a:off x="22579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83664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6:textLayout xmlns:ns5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83664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1:textLayout xmlns:ns6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端末のプライベートIP</a:t>
            </a:r>
          </a:p>
        </p:txBody>
      </p:sp>
      <p:sp>
        <p:nvSpPr>
          <p:cNvPr id="27" name="protocol-state-flow:marker:plain"/>
          <p:cNvSpPr/>
          <p:nvPr/>
        </p:nvSpPr>
        <p:spPr>
          <a:xfrm>
            <a:off x="42683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940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6:textLayout xmlns:ns6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940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1:textLayout xmlns:ns7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変換前の送信元</a:t>
            </a:r>
          </a:p>
        </p:txBody>
      </p:sp>
      <p:sp>
        <p:nvSpPr>
          <p:cNvPr id="30" name="protocol-state-flow:marker:internal"/>
          <p:cNvSpPr/>
          <p:nvPr/>
        </p:nvSpPr>
        <p:spPr>
          <a:xfrm>
            <a:off x="6278727" y="2879852"/>
            <a:ext cx="932688" cy="365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044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6:textLayout xmlns:ns7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044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1:textLayout xmlns:ns8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送信元を書き換え</a:t>
            </a:r>
          </a:p>
        </p:txBody>
      </p:sp>
      <p:sp>
        <p:nvSpPr>
          <p:cNvPr id="33" name="protocol-state-flow:marker:plain"/>
          <p:cNvSpPr/>
          <p:nvPr/>
        </p:nvSpPr>
        <p:spPr>
          <a:xfrm>
            <a:off x="82891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148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6:textLayout xmlns:ns8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148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1:textLayout xmlns:ns9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変換後のパケット</a:t>
            </a:r>
          </a:p>
        </p:txBody>
      </p:sp>
      <p:sp>
        <p:nvSpPr>
          <p:cNvPr id="36" name="protocol-state-flow:marker:plain"/>
          <p:cNvSpPr/>
          <p:nvPr/>
        </p:nvSpPr>
        <p:spPr>
          <a:xfrm>
            <a:off x="102995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252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6:textLayout xmlns:ns9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252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1:textLayout xmlns:ns10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外部から見える送信元</a:t>
            </a:r>
          </a:p>
        </p:txBody>
      </p:sp>
      <p:sp>
        <p:nvSpPr>
          <p:cNvPr id="39" name="layout-background:protocol-state-flow:track:1"/>
          <p:cNvSpPr/>
          <p:nvPr/>
        </p:nvSpPr>
        <p:spPr>
          <a:xfrm>
            <a:off x="502920" y="3684524"/>
            <a:ext cx="11185855" cy="896112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3867404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6:textLayout xmlns:ns106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4081018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1:textLayout xmlns:ns111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変化なし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271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2375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2479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2583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protocol-state-flow:marker:plain"/>
          <p:cNvSpPr/>
          <p:nvPr/>
        </p:nvSpPr>
        <p:spPr>
          <a:xfrm>
            <a:off x="22579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83664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0:textLayout xmlns:ns12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83664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5:textLayout xmlns:ns12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49" name="protocol-state-flow:marker:plain"/>
          <p:cNvSpPr/>
          <p:nvPr/>
        </p:nvSpPr>
        <p:spPr>
          <a:xfrm>
            <a:off x="42683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8940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30:textLayout xmlns:ns13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940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35:textLayout xmlns:ns13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2" name="protocol-state-flow:marker:internal"/>
          <p:cNvSpPr/>
          <p:nvPr/>
        </p:nvSpPr>
        <p:spPr>
          <a:xfrm>
            <a:off x="6278727" y="3922268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044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0:textLayout xmlns:ns14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044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5:textLayout xmlns:ns14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5" name="protocol-state-flow:marker:plain"/>
          <p:cNvSpPr/>
          <p:nvPr/>
        </p:nvSpPr>
        <p:spPr>
          <a:xfrm>
            <a:off x="82891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148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50:textLayout xmlns:ns15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148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55:textLayout xmlns:ns15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外部へ転送</a:t>
            </a:r>
          </a:p>
        </p:txBody>
      </p:sp>
      <p:sp>
        <p:nvSpPr>
          <p:cNvPr id="58" name="protocol-state-flow:marker:plain"/>
          <p:cNvSpPr/>
          <p:nvPr/>
        </p:nvSpPr>
        <p:spPr>
          <a:xfrm>
            <a:off x="102995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9252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0:textLayout xmlns:ns16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252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5:textLayout xmlns:ns16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自分宛てとして受信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0:textLayout xmlns:ns170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75:textLayout xmlns:ns175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プロトコル構造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TCPセグメントを分解し、制御情報とデータの位置を読む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フィールドを位置で捉え、パケットキャプチャの値を役割へ結び付ける。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" y="2294636"/>
            <a:ext cx="9784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91640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送信元Port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2496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85465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31185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2041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5011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70731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1587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30750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6470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7326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36488" y="2111756"/>
            <a:ext cx="589788" cy="841248"/>
          </a:xfrm>
          <a:prstGeom prst="rect">
            <a:avLst/>
          </a:prstGeom>
          <a:solidFill>
            <a:srgbClr val="F1E3DF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82208" y="2221484"/>
            <a:ext cx="49834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3064" y="2724404"/>
            <a:ext cx="5166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 bit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6276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1996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Window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2852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5822" y="2111756"/>
            <a:ext cx="4422952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1542" y="2221484"/>
            <a:ext cx="4331512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2:textLayout xmlns:ns8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Payload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02398" y="2724404"/>
            <a:ext cx="4349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512 bit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685800" y="2971292"/>
            <a:ext cx="3392081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02920" y="3209035"/>
            <a:ext cx="5669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" y="3209035"/>
            <a:ext cx="297271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受信側が並び順と欠落を判断する番号。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4481474" y="2971292"/>
            <a:ext cx="702145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298594" y="3209035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37506" y="3209035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7:textLayout xmlns:ns10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次に受信したい位置を相手へ通知する。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031382" y="2971292"/>
            <a:ext cx="2245766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094268" y="3209035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2:textLayout xmlns:ns1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33180" y="3209035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7:textLayout xmlns:ns11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接続開始・終了などの状態を示す。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7:textLayout xmlns:ns1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設定と確認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設定例と確認コマンドを並べ、変更後の状態まで検証する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コマンドの実行ではなく、期待状態の確認までを作業単位とする。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11756"/>
            <a:ext cx="6903720" cy="4014723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94636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設定例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14676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service: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image: example/app:2.4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replicas: 3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healthcheck: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  path: /health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393438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5:textLayout xmlns:ns35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確認コマンド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713477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0:textLayout xmlns:ns40="urn:pptxdsl:text-layout:v1" role="compact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deploy --file service.yml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status service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logs service --tail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2130044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確認する状態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90688" y="2541524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0688" y="269697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4:textLayout xmlns:ns5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2678684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稼働数が指定したreplicasと一致している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3" y="349491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90688" y="3549777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4:textLayout xmlns:ns6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3531489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9:textLayout xmlns:ns69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healthcheckが成功し、トラフィックを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受けられる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3" y="4347717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4402581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6:textLayout xmlns:ns7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3" y="4384293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1:textLayout xmlns:ns81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直近ログに起動失敗や設定エラーがない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3023" y="520052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90688" y="525538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6:textLayout xmlns:ns8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5237098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1:textLayout xmlns:ns91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切り戻し用の直前バージョンを特定できる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6:textLayout xmlns:ns9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1:textLayout xmlns:ns101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理解度チェック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判断理由を選び、運用設計の理解を確認する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19067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9067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8884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監視通知を設計するとき、最初に決めるものはどれか。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193218"/>
            <a:ext cx="23340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検知したい利用者影響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23310" y="2193218"/>
            <a:ext cx="17785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通知メールの色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66410" y="21932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担当者の座席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24712" y="26930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208" y="28211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8211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8028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変更後の確認として最も適切なものはどれか。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コマンドが終了したこと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08476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期待状態と実測値の一致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1076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手順書のページ数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" y="36074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1208" y="37355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37355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" y="37172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例外対応を残すときに必要な情報はどれか。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" y="40220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適用条件と承認者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52978" y="40220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作成者の好み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10912" y="4022018"/>
            <a:ext cx="1408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画面の配色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必要なデータ、関係部門のレビュー体制、既存基盤の安定稼働を着手条件とする。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20316"/>
            <a:ext cx="5437479" cy="56692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2111756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7864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2920" y="2587244"/>
            <a:ext cx="5437479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31520" y="289356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1832" y="319074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31520" y="348792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1832" y="3785107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1520" y="408228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1832" y="437946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" y="4676647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1295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1295" y="2020316"/>
            <a:ext cx="5437479" cy="56692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34175" y="2111756"/>
            <a:ext cx="384048" cy="384048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4175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6239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251295" y="2587244"/>
            <a:ext cx="54374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479895" y="289356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90207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690207" y="319074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479895" y="348792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90207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690207" y="3785107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479895" y="408228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90207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690207" y="437946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479895" y="4676647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90207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6つの判断材料を同じ粒度で比較する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各項目を同格に並べ、採用条件と実行上の論点を確認する。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対象業務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頻度が高く構成の共通性が高い資料から導入する。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8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3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9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既存フローを活用し、部門ごとに順次導入できる。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9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導入負荷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初期教育と運用窓口の準備を展開計画へ含める。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主要リスク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例外資料と固有要件は標準化の対象から切り分ける。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判断基準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品質、作成時間、運用負荷を測定して展開可否を決める。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8372"/>
            <a:ext cx="4526280" cy="512064"/>
          </a:xfrm>
          <a:prstGeom prst="roundRect">
            <a:avLst>
              <a:gd name="adj" fmla="val 6000"/>
            </a:avLst>
          </a:prstGeom>
          <a:solidFill>
            <a:srgbClr val="182C4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31152" y="2188372"/>
            <a:ext cx="4757623" cy="512064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188372"/>
            <a:ext cx="4197096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744" y="2188372"/>
            <a:ext cx="442843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307244"/>
            <a:ext cx="153619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773588"/>
            <a:ext cx="4526280" cy="31089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31152" y="2773588"/>
            <a:ext cx="4757623" cy="31089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029200" y="3084484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48272" y="3084484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67512" y="3395380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095744" y="3395380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029200" y="3706276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748272" y="3706276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67512" y="4017172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095744" y="4017172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29200" y="4328068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748272" y="4328068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67512" y="4638964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095744" y="4638964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029200" y="4949860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748272" y="4949860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67512" y="5260756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095744" y="5260756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029200" y="5571652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748272" y="5571652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2773588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14032" y="2773588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395380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14032" y="3395380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4017172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14032" y="4017172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4638964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2:textLayout xmlns:ns8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4032" y="4638964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5260756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4032" y="5260756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51" name="Oval 50"/>
          <p:cNvSpPr/>
          <p:nvPr/>
        </p:nvSpPr>
        <p:spPr>
          <a:xfrm>
            <a:off x="4983480" y="3038764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885432" y="3038764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983480" y="3660556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885432" y="3660556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983480" y="4282348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885432" y="4282348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983480" y="4904140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885432" y="4904140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983480" y="5525932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885432" y="5525932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9224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500823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36231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1778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9224" y="2157984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3524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24712" y="2688336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49224" y="2807208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3524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24712" y="3337560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49224" y="3456432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3524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データが複数の管理先へ分散している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24712" y="3986784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49224" y="4105656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63524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24712" y="4636008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49224" y="4754880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63524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4712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36231" y="2157984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199571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204143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00823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0823" y="2688336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7336231" y="2807208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199571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04143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00823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500823" y="3337560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336231" y="3456432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199571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04143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00823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500823" y="3986784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7336231" y="4105656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199571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204143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00823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500823" y="4636008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7336231" y="4754880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199571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204143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00823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sp>
        <p:nvSpPr>
          <p:cNvPr id="69" name="Oval 68"/>
          <p:cNvSpPr/>
          <p:nvPr/>
        </p:nvSpPr>
        <p:spPr>
          <a:xfrm>
            <a:off x="4818888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818888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818888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818888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818888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299655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299655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299655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299655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299655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3:textLayout xmlns:ns13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障害対応フロー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障害対応スイムレーン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担当境界と引き継ぎ点を明示し、対応漏れを防止する。</a:t>
            </a:r>
          </a:p>
        </p:txBody>
      </p:sp>
      <p:sp>
        <p:nvSpPr>
          <p:cNvPr id="6" name="qa-surface-on-canvas:swimlane-stage:detect"/>
          <p:cNvSpPr/>
          <p:nvPr/>
        </p:nvSpPr>
        <p:spPr>
          <a:xfrm>
            <a:off x="1499616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8" name="qa-surface-on-canvas:swimlane-stage:verify"/>
          <p:cNvSpPr/>
          <p:nvPr/>
        </p:nvSpPr>
        <p:spPr>
          <a:xfrm>
            <a:off x="4087368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15384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sp>
        <p:nvSpPr>
          <p:cNvPr id="10" name="qa-surface-on-canvas:swimlane-stage:recover"/>
          <p:cNvSpPr/>
          <p:nvPr/>
        </p:nvSpPr>
        <p:spPr>
          <a:xfrm>
            <a:off x="6675120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03136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sp>
        <p:nvSpPr>
          <p:cNvPr id="12" name="qa-surface-on-canvas:swimlane-stage:close"/>
          <p:cNvSpPr/>
          <p:nvPr/>
        </p:nvSpPr>
        <p:spPr>
          <a:xfrm>
            <a:off x="9262872" y="1892300"/>
            <a:ext cx="2587752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0888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" y="223062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99616" y="223062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" y="223062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38328" y="309930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38328" y="309930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99616" y="309930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" y="309930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38328" y="396798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38328" y="396798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99616" y="396798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" y="396798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NW担当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38328" y="483666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38328" y="483666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99616" y="483666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" y="483666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38328" y="570534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499616" y="2230628"/>
            <a:ext cx="10351008" cy="0"/>
          </a:xfrm>
          <a:prstGeom prst="line">
            <a:avLst/>
          </a:prstGeom>
          <a:ln w="1079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499616" y="2230628"/>
            <a:ext cx="0" cy="3474720"/>
          </a:xfrm>
          <a:prstGeom prst="line">
            <a:avLst/>
          </a:prstGeom>
          <a:ln w="10160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087368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675120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62872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793492" y="289356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93492" y="3099308"/>
            <a:ext cx="0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793492" y="3099308"/>
            <a:ext cx="0" cy="2057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246120" y="3533648"/>
            <a:ext cx="969264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246120" y="3533648"/>
            <a:ext cx="804672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050792" y="3533648"/>
            <a:ext cx="0" cy="868679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050792" y="4402327"/>
            <a:ext cx="235458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088564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191506" y="4402327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863554" y="376224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863554" y="3967988"/>
            <a:ext cx="1603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879592" y="3967988"/>
            <a:ext cx="0" cy="205739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476238" y="4402327"/>
            <a:ext cx="16230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638544" y="4402327"/>
            <a:ext cx="0" cy="868681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638544" y="5271008"/>
            <a:ext cx="621792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677656" y="5271008"/>
            <a:ext cx="38404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9061704" y="3853688"/>
            <a:ext cx="0" cy="141732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7470648" y="3853688"/>
            <a:ext cx="159105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470648" y="3762248"/>
            <a:ext cx="0" cy="914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923276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919972" y="3533648"/>
            <a:ext cx="306324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9226296" y="2664968"/>
            <a:ext cx="0" cy="86868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226296" y="2664968"/>
            <a:ext cx="307467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583037" y="266496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2340864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95728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① 障害申告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340864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395728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② 一次確認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15384" y="3305048"/>
            <a:ext cx="873180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70248" y="3305048"/>
            <a:ext cx="7634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③ 監視確認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86250" y="4173727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41114" y="4173727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④ 機器確認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282946" y="4173727"/>
            <a:ext cx="1193292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337809" y="4173727"/>
            <a:ext cx="1083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⑤ 回線切り分け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180004" y="3305048"/>
            <a:ext cx="1367099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34868" y="3305048"/>
            <a:ext cx="12573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⑥ エスカレーション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60336" y="5042408"/>
            <a:ext cx="1417320" cy="457200"/>
          </a:xfrm>
          <a:prstGeom prst="rect">
            <a:avLst/>
          </a:prstGeom>
          <a:solidFill>
            <a:srgbClr val="EAF0EF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315200" y="5042408"/>
            <a:ext cx="13075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7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機器・回線調査／復旧対応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018020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72884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⑦ 復旧作業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33763" y="2436368"/>
            <a:ext cx="1049274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588627" y="2436368"/>
            <a:ext cx="93954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⑧ 利用者連絡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14716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69580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⑨ 結果確認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674477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729341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⑩ クローズ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587855" y="2912546"/>
            <a:ext cx="9015984" cy="2185416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5871" y="2930834"/>
            <a:ext cx="1024128" cy="201168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sp>
        <p:nvSpPr>
          <p:cNvPr id="8" name="Rectangle 7"/>
          <p:cNvSpPr/>
          <p:nvPr/>
        </p:nvSpPr>
        <p:spPr>
          <a:xfrm>
            <a:off x="1587855" y="5107106"/>
            <a:ext cx="9015984" cy="960119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15871" y="5125394"/>
            <a:ext cx="1024128" cy="201168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376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8376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equence-lifeline:ops"/>
          <p:cNvCxnSpPr/>
          <p:nvPr/>
        </p:nvCxnSpPr>
        <p:spPr>
          <a:xfrm>
            <a:off x="202676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1830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1830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equence-lifeline:monitor"/>
          <p:cNvCxnSpPr/>
          <p:nvPr/>
        </p:nvCxnSpPr>
        <p:spPr>
          <a:xfrm>
            <a:off x="406130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5284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5284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equence-lifeline:branch"/>
          <p:cNvCxnSpPr/>
          <p:nvPr/>
        </p:nvCxnSpPr>
        <p:spPr>
          <a:xfrm>
            <a:off x="609584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8738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48738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equence-lifeline:center"/>
          <p:cNvCxnSpPr/>
          <p:nvPr/>
        </p:nvCxnSpPr>
        <p:spPr>
          <a:xfrm>
            <a:off x="813038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52192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52192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equence-lifeline:carrier"/>
          <p:cNvCxnSpPr/>
          <p:nvPr/>
        </p:nvCxnSpPr>
        <p:spPr>
          <a:xfrm>
            <a:off x="1016492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2026767" y="272966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sequence-message-label:detect"/>
          <p:cNvSpPr txBox="1"/>
          <p:nvPr/>
        </p:nvSpPr>
        <p:spPr>
          <a:xfrm>
            <a:off x="2257653" y="2482778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26767" y="3168578"/>
            <a:ext cx="406908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equence-message-label:request"/>
          <p:cNvSpPr txBox="1"/>
          <p:nvPr/>
        </p:nvSpPr>
        <p:spPr>
          <a:xfrm>
            <a:off x="3274923" y="2921690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9:textLayout xmlns:ns59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2026767" y="3607490"/>
            <a:ext cx="406908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sequence-message-label:reply"/>
          <p:cNvSpPr txBox="1"/>
          <p:nvPr/>
        </p:nvSpPr>
        <p:spPr>
          <a:xfrm>
            <a:off x="3274923" y="3360602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6:textLayout xmlns:ns6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061307" y="4046402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sequence-message-label:logs"/>
          <p:cNvSpPr txBox="1"/>
          <p:nvPr/>
        </p:nvSpPr>
        <p:spPr>
          <a:xfrm>
            <a:off x="4292193" y="379951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5847" y="4485314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sequence-message-label:isolate"/>
          <p:cNvSpPr txBox="1"/>
          <p:nvPr/>
        </p:nvSpPr>
        <p:spPr>
          <a:xfrm>
            <a:off x="6326733" y="4238426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130387" y="492422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sequence-message-label:carrier"/>
          <p:cNvSpPr txBox="1"/>
          <p:nvPr/>
        </p:nvSpPr>
        <p:spPr>
          <a:xfrm>
            <a:off x="8361273" y="4677338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4:textLayout xmlns:ns84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8130387" y="5363138"/>
            <a:ext cx="203454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sequence-message-label:recover"/>
          <p:cNvSpPr txBox="1"/>
          <p:nvPr/>
        </p:nvSpPr>
        <p:spPr>
          <a:xfrm>
            <a:off x="8361273" y="5116250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1:textLayout xmlns:ns9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2026767" y="5802050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sequence-message-label:report"/>
          <p:cNvSpPr txBox="1"/>
          <p:nvPr/>
        </p:nvSpPr>
        <p:spPr>
          <a:xfrm>
            <a:off x="2257653" y="5555162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6108192"/>
            <a:ext cx="34747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凡例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33271" y="6190488"/>
            <a:ext cx="256033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344168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要求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993391" y="6190488"/>
            <a:ext cx="256033" cy="0"/>
          </a:xfrm>
          <a:prstGeom prst="line">
            <a:avLst/>
          </a:prstGeom>
          <a:ln w="12700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04287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5:textLayout xmlns:ns115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応答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0:textLayout xmlns:ns120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5:textLayout xmlns:ns125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参考資料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確認に使用した情報源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参照先をタイトルと実URLで示し、原典へ移動できるようにする。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9576" y="19288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ferences:index[0]"/>
          <p:cNvSpPr/>
          <p:nvPr/>
        </p:nvSpPr>
        <p:spPr>
          <a:xfrm>
            <a:off x="521208" y="22031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22031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" y="20203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製品ドキュメント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80015" y="20203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3167" y="20203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概要・仕様</a:t>
            </a:r>
          </a:p>
        </p:txBody>
      </p:sp>
      <p:sp>
        <p:nvSpPr>
          <p:cNvPr id="12" name="references:url[0]"/>
          <p:cNvSpPr txBox="1"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https://example.com/docs/product-overview</a:t>
            </a:r>
          </a:p>
        </p:txBody>
      </p:sp>
      <p:sp>
        <p:nvSpPr>
          <p:cNvPr id="13" name="references:link[0]">
            <a:hlinkClick r:id="rId2"/>
          </p:cNvPr>
          <p:cNvSpPr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9576" y="28432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ferences:index[1]"/>
          <p:cNvSpPr/>
          <p:nvPr/>
        </p:nvSpPr>
        <p:spPr>
          <a:xfrm>
            <a:off x="521208" y="31175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" y="31175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[2]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9576" y="29347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運用ガイド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80015" y="29347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53167" y="29347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監視・障害対応</a:t>
            </a:r>
          </a:p>
        </p:txBody>
      </p:sp>
      <p:sp>
        <p:nvSpPr>
          <p:cNvPr id="20" name="references:url[1]"/>
          <p:cNvSpPr txBox="1"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https://example.com/docs/operations-guide</a:t>
            </a:r>
          </a:p>
        </p:txBody>
      </p:sp>
      <p:sp>
        <p:nvSpPr>
          <p:cNvPr id="21" name="references:link[1]">
            <a:hlinkClick r:id="rId3"/>
          </p:cNvPr>
          <p:cNvSpPr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79576" y="37576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ferences:index[2]"/>
          <p:cNvSpPr/>
          <p:nvPr/>
        </p:nvSpPr>
        <p:spPr>
          <a:xfrm>
            <a:off x="521208" y="40319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208" y="40319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[3]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9576" y="3849116"/>
            <a:ext cx="1050919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料金ページ</a:t>
            </a:r>
          </a:p>
        </p:txBody>
      </p:sp>
      <p:sp>
        <p:nvSpPr>
          <p:cNvPr id="26" name="references:url[2]"/>
          <p:cNvSpPr txBox="1"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https://example.com/pricing</a:t>
            </a:r>
          </a:p>
        </p:txBody>
      </p:sp>
      <p:sp>
        <p:nvSpPr>
          <p:cNvPr id="27" name="references:link[2]">
            <a:hlinkClick r:id="rId4"/>
          </p:cNvPr>
          <p:cNvSpPr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