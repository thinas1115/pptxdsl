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従来 (分)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120</c:v>
                </c:pt>
                <c:pt idx="2">
                  <c:v>240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生成後 (分)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Sheet1!$A$2:$A$5</c:f>
              <c:strCache>
                <c:ptCount val="4"/>
                <c:pt idx="0">
                  <c:v>週次報告</c:v>
                </c:pt>
                <c:pt idx="1">
                  <c:v>月次レビュー</c:v>
                </c:pt>
                <c:pt idx="2">
                  <c:v>調査サマリ</c:v>
                </c:pt>
                <c:pt idx="3">
                  <c:v>役員向け抜粋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</c:v>
                </c:pt>
                <c:pt idx="1">
                  <c:v>42</c:v>
                </c:pt>
                <c:pt idx="2">
                  <c:v>85</c:v>
                </c:pt>
                <c:pt idx="3">
                  <c:v>28</c:v>
                </c:pt>
              </c:numCache>
            </c:numRef>
          </c:val>
        </c:ser>
        <c:dLbls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利用率</c:v>
                </c:pt>
              </c:strCache>
            </c:strRef>
          </c:tx>
          <c:spPr>
            <a:ln w="25400">
              <a:solidFill>
                <a:srgbClr val="666E70"/>
              </a:solidFill>
            </a:ln>
          </c:spPr>
          <c:marker>
            <c:spPr>
              <a:solidFill>
                <a:srgbClr val="666E70"/>
              </a:solidFill>
              <a:ln>
                <a:solidFill>
                  <a:srgbClr val="666E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31</c:v>
                </c:pt>
                <c:pt idx="4">
                  <c:v>44</c:v>
                </c:pt>
                <c:pt idx="5">
                  <c:v>52</c:v>
                </c:pt>
                <c:pt idx="6">
                  <c:v>61</c:v>
                </c:pt>
                <c:pt idx="7">
                  <c:v>67</c:v>
                </c:pt>
                <c:pt idx="8">
                  <c:v>74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目標</c:v>
                </c:pt>
              </c:strCache>
            </c:strRef>
          </c:tx>
          <c:spPr>
            <a:ln w="25400">
              <a:solidFill>
                <a:srgbClr val="0D7870"/>
              </a:solidFill>
            </a:ln>
          </c:spPr>
          <c:marker>
            <c:spPr>
              <a:solidFill>
                <a:srgbClr val="0D7870"/>
              </a:solidFill>
              <a:ln>
                <a:solidFill>
                  <a:srgbClr val="0D7870"/>
                </a:solidFill>
              </a:ln>
            </c:spPr>
          </c:marker>
          <c:cat>
            <c:strRef>
              <c:f>Sheet1!$A$2:$A$10</c:f>
              <c:strCache>
                <c:ptCount val="9"/>
                <c:pt idx="0">
                  <c:v>4月</c:v>
                </c:pt>
                <c:pt idx="1">
                  <c:v>5月</c:v>
                </c:pt>
                <c:pt idx="2">
                  <c:v>6月</c:v>
                </c:pt>
                <c:pt idx="3">
                  <c:v>7月</c:v>
                </c:pt>
                <c:pt idx="4">
                  <c:v>8月</c:v>
                </c:pt>
                <c:pt idx="5">
                  <c:v>9月</c:v>
                </c:pt>
                <c:pt idx="6">
                  <c:v>10月</c:v>
                </c:pt>
                <c:pt idx="7">
                  <c:v>11月</c:v>
                </c:pt>
                <c:pt idx="8">
                  <c:v>12月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  <c:pt idx="4">
                  <c:v>40</c:v>
                </c:pt>
                <c:pt idx="5">
                  <c:v>50</c:v>
                </c:pt>
                <c:pt idx="6">
                  <c:v>60</c:v>
                </c:pt>
                <c:pt idx="7">
                  <c:v>70</c:v>
                </c:pt>
                <c:pt idx="8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作成</c:v>
                </c:pt>
              </c:strCache>
            </c:strRef>
          </c:tx>
          <c:spPr>
            <a:solidFill>
              <a:srgbClr val="666E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70</c:v>
                </c:pt>
                <c:pt idx="1">
                  <c:v>38</c:v>
                </c:pt>
                <c:pt idx="2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レビュー</c:v>
                </c:pt>
              </c:strCache>
            </c:strRef>
          </c:tx>
          <c:spPr>
            <a:solidFill>
              <a:srgbClr val="0D7870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20</c:v>
                </c:pt>
                <c:pt idx="1">
                  <c:v>32</c:v>
                </c:pt>
                <c:pt idx="2">
                  <c:v>42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意思決定</c:v>
                </c:pt>
              </c:strCache>
            </c:strRef>
          </c:tx>
          <c:spPr>
            <a:solidFill>
              <a:srgbClr val="C7583E"/>
            </a:solidFill>
          </c:spPr>
          <c:cat>
            <c:strRef>
              <c:f>Sheet1!$A$2:$A$4</c:f>
              <c:strCache>
                <c:ptCount val="3"/>
                <c:pt idx="0">
                  <c:v>導入前</c:v>
                </c:pt>
                <c:pt idx="1">
                  <c:v>試行中</c:v>
                </c:pt>
                <c:pt idx="2">
                  <c:v>標準化後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</c:v>
                </c:pt>
                <c:pt idx="1">
                  <c:v>30</c:v>
                </c:pt>
                <c:pt idx="2">
                  <c:v>40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6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7620">
              <a:solidFill>
                <a:srgbClr val="D1CFC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Yu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12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Relationship Id="rId5" Type="http://schemas.openxmlformats.org/officeDocument/2006/relationships/image" Target="../media/image16.png"/><Relationship Id="rId6" Type="http://schemas.openxmlformats.org/officeDocument/2006/relationships/image" Target="../media/image22.png"/><Relationship Id="rId7" Type="http://schemas.openxmlformats.org/officeDocument/2006/relationships/image" Target="../media/image7.png"/><Relationship Id="rId8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Cover Background" descr="cover-background.png"/>
          <p:cNvPicPr>
            <a:picLocks noChangeAspect="1"/>
          </p:cNvPicPr>
          <p:nvPr/>
        </p:nvPicPr>
        <p:blipFill>
          <a:blip r:embed="rId2"/>
          <a:srcRect t="25" b="2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572768"/>
            <a:ext cx="736092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社内スライド</a:t>
            </a:r>
          </a:p>
          <a:p>
            <a:pPr algn="l">
              <a:lnSpc>
                <a:spcPct val="108000"/>
              </a:lnSpc>
            </a:pPr>
            <a:r>
              <a:rPr sz="4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パターンライブラリ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9536" y="3163824"/>
            <a:ext cx="7315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意思決定からシステム構成まで、28の標準レイアウトを検証</a:t>
            </a:r>
          </a:p>
        </p:txBody>
      </p:sp>
      <p:sp>
        <p:nvSpPr>
          <p:cNvPr id="6" name="Rectangle 5"/>
          <p:cNvSpPr/>
          <p:nvPr/>
        </p:nvSpPr>
        <p:spPr>
          <a:xfrm>
            <a:off x="8641080" y="1536192"/>
            <a:ext cx="10972" cy="3186684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79408" y="166420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79408" y="197510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2026年7月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8" y="2752344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ORGANIZATION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79408" y="3063239"/>
            <a:ext cx="2148840" cy="40690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業務企画本部</a:t>
            </a:r>
          </a:p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業務改善推進部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9408" y="3973068"/>
            <a:ext cx="2057400" cy="2286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80" b="1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AUTHOR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9408" y="4283964"/>
            <a:ext cx="2148840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業務改善検討チーム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検討手順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意思決定資料は、論点を3段階で組み立てる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69533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判断したい論点を1文で定義し、読み手と目的を揃える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1353312" y="2193544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554901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事実と制約を整理し、選択肢ごとの違いを比較する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53312" y="2978912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40269"/>
            <a:ext cx="420624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推奨案と実施条件を示し、次の判断につなげる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53312" y="3764279"/>
            <a:ext cx="7094601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判断材料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移行判断では、費用・影響・運用条件を揃える</a:t>
            </a:r>
          </a:p>
        </p:txBody>
      </p:sp>
      <p:sp>
        <p:nvSpPr>
          <p:cNvPr id="5" name="Oval 4"/>
          <p:cNvSpPr/>
          <p:nvPr/>
        </p:nvSpPr>
        <p:spPr>
          <a:xfrm>
            <a:off x="950976" y="1853658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初期費用と継続費用を分け、比較期間を統一する</a:t>
            </a:r>
          </a:p>
        </p:txBody>
      </p:sp>
      <p:sp>
        <p:nvSpPr>
          <p:cNvPr id="7" name="Oval 6"/>
          <p:cNvSpPr/>
          <p:nvPr/>
        </p:nvSpPr>
        <p:spPr>
          <a:xfrm>
            <a:off x="950976" y="2639026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利用部門・既存業務・周辺システムへの影響を確認する</a:t>
            </a:r>
          </a:p>
        </p:txBody>
      </p:sp>
      <p:sp>
        <p:nvSpPr>
          <p:cNvPr id="9" name="Oval 8"/>
          <p:cNvSpPr/>
          <p:nvPr/>
        </p:nvSpPr>
        <p:spPr>
          <a:xfrm>
            <a:off x="950976" y="3424394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移行中の停止時間と、切り戻し条件を明確にする</a:t>
            </a:r>
          </a:p>
        </p:txBody>
      </p:sp>
      <p:sp>
        <p:nvSpPr>
          <p:cNvPr id="11" name="Oval 10"/>
          <p:cNvSpPr/>
          <p:nvPr/>
        </p:nvSpPr>
        <p:spPr>
          <a:xfrm>
            <a:off x="950976" y="4209762"/>
            <a:ext cx="128016" cy="128016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運用開始後の責任分界と問い合わせ窓口を決める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実施準備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リリース前に、残タスクと完了条件を確認する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905256" y="1807938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782334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1737360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本番手順と切り戻し手順のレビュー</a:t>
            </a:r>
          </a:p>
        </p:txBody>
      </p:sp>
      <p:sp>
        <p:nvSpPr>
          <p:cNvPr id="8" name="Rectangle 7"/>
          <p:cNvSpPr/>
          <p:nvPr/>
        </p:nvSpPr>
        <p:spPr>
          <a:xfrm>
            <a:off x="905256" y="2593306"/>
            <a:ext cx="219456" cy="219456"/>
          </a:xfrm>
          <a:prstGeom prst="rect">
            <a:avLst/>
          </a:prstGeom>
          <a:solidFill>
            <a:srgbClr val="0D7870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5256" y="2567702"/>
            <a:ext cx="219456" cy="22860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3312" y="2522728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566062"/>
                </a:solidFill>
                <a:latin typeface="Yu Gothic"/>
                <a:ea typeface="Yu Gothic"/>
                <a:cs typeface="Yu Gothic"/>
              </a:rPr>
              <a:t>関係部門への実施日時と影響範囲の連絡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5256" y="3378674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53312" y="3308096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監視項目・通知先・初動担当の最終確認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05256" y="4164042"/>
            <a:ext cx="219456" cy="219456"/>
          </a:xfrm>
          <a:prstGeom prst="rect">
            <a:avLst/>
          </a:prstGeom>
          <a:solidFill>
            <a:srgbClr val="F7F5EF"/>
          </a:solidFill>
          <a:ln w="9525">
            <a:solidFill>
              <a:srgbClr val="666E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53312" y="4093464"/>
            <a:ext cx="8823960" cy="383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20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リリース判定会議での承認取得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結論と根拠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全社展開の推奨案と、効果・実現性・導入リスクを示す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65376"/>
            <a:ext cx="5303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837944"/>
            <a:ext cx="3611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推奨案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9888" y="2560320"/>
            <a:ext cx="3749039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標準テンプレートを対象部門へ</a:t>
            </a:r>
          </a:p>
          <a:p>
            <a:pPr algn="l">
              <a:lnSpc>
                <a:spcPct val="128000"/>
              </a:lnSpc>
            </a:pPr>
            <a:r>
              <a:rPr sz="16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段階展開する。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0448" y="1883664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865376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期待効果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304288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作成とレビューの手戻りを減らし、提出品質を揃える。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907791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70448" y="3081528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063240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実現性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502152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既存フローを流用し、部門ごとに順次導入できる。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105656"/>
            <a:ext cx="4791456" cy="10972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4279392"/>
            <a:ext cx="457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261104"/>
            <a:ext cx="479145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導入リスク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700016"/>
            <a:ext cx="475488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初期教育と運用窓口を用意し、例外資料は個別対応とする。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KPIスナップショット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KPIは数値を主役にし、判断材料を添える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作成時間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-72%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週次報告の作成時間が平均45分から13分に短縮。下書き作成の自動化が主因。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233672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43984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手直し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4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8分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生成後の確認と語尾修正に平均8分。テンプレート崩れは検出なし。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64424" y="1865376"/>
            <a:ext cx="10972" cy="2414016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3310127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再利用率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212848"/>
            <a:ext cx="3310127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64%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2944368"/>
            <a:ext cx="3310127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一度作った構造化データを翌週も流用でき、定型資料ほど効果が高い。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Before / After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導入前後の違いを、同じ観点で比較する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719072"/>
            <a:ext cx="5212080" cy="324307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導入前</a:t>
            </a:r>
          </a:p>
        </p:txBody>
      </p:sp>
      <p:sp>
        <p:nvSpPr>
          <p:cNvPr id="8" name="Rectangle 7"/>
          <p:cNvSpPr/>
          <p:nvPr/>
        </p:nvSpPr>
        <p:spPr>
          <a:xfrm>
            <a:off x="1042416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担当者ごとにスライド構成がばらつき、レビュー観点も揃わない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44752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4752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グラフや表の貼り付け後に、余白・フォント・禁則を手作業で直す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44752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過去資料をコピーして使うため、古い文言や注記が残りやすい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1719072"/>
            <a:ext cx="5212080" cy="324307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8544" y="1984248"/>
            <a:ext cx="4517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目標状態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304288"/>
            <a:ext cx="451713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38544" y="2779776"/>
            <a:ext cx="4517136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38544" y="2953512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944368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入力schemaに沿って文言を作るため、構成の揺れを抑えられる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501136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8544" y="3592576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3583432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rendererが余白・フォント・描画順を決め、提出前の確認に集中できる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040880" y="4140200"/>
            <a:ext cx="4206240" cy="7315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38544" y="4231640"/>
            <a:ext cx="310896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0" y="4222496"/>
            <a:ext cx="4206240" cy="474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品質ゲートで重なりやはみ出しを検知し、修正箇所を特定しやすい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選定理由と見送り理由を、同じ粒度で比較する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890979"/>
          <a:ext cx="11185852" cy="35112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79167"/>
                <a:gridCol w="2693004"/>
                <a:gridCol w="3313759"/>
                <a:gridCol w="2899922"/>
              </a:tblGrid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方式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向いている用途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強み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FFFFFC"/>
                          </a:solidFill>
                          <a:latin typeface="Yu Gothic"/>
                          <a:ea typeface="Yu Gothic"/>
                          <a:cs typeface="Yu Gothic"/>
                        </a:rPr>
                        <a:t>注意点</a:t>
                      </a:r>
                    </a:p>
                  </a:txBody>
                  <a:tcPr anchor="ctr" marL="82296" marR="82296" marT="36576" marB="36576">
                    <a:solidFill>
                      <a:srgbClr val="182C43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renderer カタログ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社内標準資料・定型報告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品質を詰めた型を再利用できる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新しい型は実装が必要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万能宣言レイアウト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図の大量バリエーション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座標指定を減らせる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エンジンが複雑化しやすい</a:t>
                      </a:r>
                    </a:p>
                  </a:txBody>
                  <a:tcPr anchor="ctr" marL="82296" marR="82296" marT="36576" marB="36576">
                    <a:solidFill>
                      <a:srgbClr val="FFFFFC"/>
                    </a:solidFill>
                  </a:tcPr>
                </a:tc>
              </a:tr>
              <a:tr h="950976"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1" lang="ja-JP">
                          <a:solidFill>
                            <a:srgbClr val="182C43"/>
                          </a:solidFill>
                          <a:latin typeface="Yu Gothic"/>
                          <a:ea typeface="Yu Gothic"/>
                          <a:cs typeface="Yu Gothic"/>
                        </a:rPr>
                        <a:t>手作業PPT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一点物の重要提案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細部まで作り込める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15000"/>
                        </a:lnSpc>
                      </a:pPr>
                      <a:r>
                        <a:rPr sz="1350" b="0" lang="ja-JP">
                          <a:solidFill>
                            <a:srgbClr val="202729"/>
                          </a:solidFill>
                          <a:latin typeface="Yu Gothic"/>
                          <a:ea typeface="Yu Gothic"/>
                          <a:cs typeface="Yu Gothic"/>
                        </a:rPr>
                        <a:t>再現性と量産性が低い</a:t>
                      </a:r>
                    </a:p>
                  </a:txBody>
                  <a:tcPr anchor="ctr" marL="82296" marR="82296" marT="36576" marB="36576">
                    <a:solidFill>
                      <a:srgbClr val="ECEAE4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効果測定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資料作成時間を最大72%短縮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09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利用推移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月次利用率は、試行開始から継続的に上昇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値は検証用のサンプルデータ。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工数内訳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自動化後は、作成よりレビューへ時間を配分できる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645920"/>
          <a:ext cx="10789920" cy="437997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構成比を示すサンプル。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画面イメージ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画面キャプチャを、スライドの主役として大きく見せる</a:t>
            </a:r>
          </a:p>
        </p:txBody>
      </p:sp>
      <p:pic>
        <p:nvPicPr>
          <p:cNvPr id="5" name="ContentImage" descr="GitHubで公開されているpptxdslリポジトリのトップ画面"/>
          <p:cNvPicPr>
            <a:picLocks noChangeAspect="1"/>
          </p:cNvPicPr>
          <p:nvPr/>
        </p:nvPicPr>
        <p:blipFill>
          <a:blip r:embed="rId2"/>
          <a:srcRect t="7889" b="7889"/>
          <a:stretch>
            <a:fillRect/>
          </a:stretch>
        </p:blipFill>
        <p:spPr>
          <a:xfrm>
            <a:off x="658368" y="1499616"/>
            <a:ext cx="10874959" cy="4727448"/>
          </a:xfrm>
          <a:prstGeom prst="rect">
            <a:avLst/>
          </a:prstGeom>
          <a:effectLst>
            <a:outerShdw blurRad="76200" dist="50800" dir="2700000" algn="ctr" rotWithShape="0">
              <a:srgbClr val="000000">
                <a:alpha val="28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標準プロセス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資料生成は5つの工程で品質を担保する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784908" y="2212848"/>
            <a:ext cx="8573414" cy="3200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1444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1444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入力整理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目的・読み手・必須メッセージを整理する。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資料要件</a:t>
            </a:r>
          </a:p>
        </p:txBody>
      </p:sp>
      <p:sp>
        <p:nvSpPr>
          <p:cNvPr id="12" name="Oval 11"/>
          <p:cNvSpPr/>
          <p:nvPr/>
        </p:nvSpPr>
        <p:spPr>
          <a:xfrm>
            <a:off x="3644798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4798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48025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構造化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2033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schemaに沿ってスライド種別と文言を作る。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3745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3745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schema</a:t>
            </a:r>
          </a:p>
        </p:txBody>
      </p:sp>
      <p:sp>
        <p:nvSpPr>
          <p:cNvPr id="18" name="Oval 17"/>
          <p:cNvSpPr/>
          <p:nvPr/>
        </p:nvSpPr>
        <p:spPr>
          <a:xfrm>
            <a:off x="5788152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88152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91379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55387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rendererがPPTXを決定論的に出力する。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7099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OUTPUT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7099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PPTX</a:t>
            </a:r>
          </a:p>
        </p:txBody>
      </p:sp>
      <p:sp>
        <p:nvSpPr>
          <p:cNvPr id="24" name="Oval 23"/>
          <p:cNvSpPr/>
          <p:nvPr/>
        </p:nvSpPr>
        <p:spPr>
          <a:xfrm>
            <a:off x="7931505" y="1947672"/>
            <a:ext cx="566928" cy="566928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31505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34732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98740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機械検知と目視で崩れを確認する。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0452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CHECK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80452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機械 + 目視</a:t>
            </a:r>
          </a:p>
        </p:txBody>
      </p:sp>
      <p:sp>
        <p:nvSpPr>
          <p:cNvPr id="30" name="Oval 29"/>
          <p:cNvSpPr/>
          <p:nvPr/>
        </p:nvSpPr>
        <p:spPr>
          <a:xfrm>
            <a:off x="10074859" y="1947672"/>
            <a:ext cx="566928" cy="566928"/>
          </a:xfrm>
          <a:prstGeom prst="ellipse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74859" y="2029967"/>
            <a:ext cx="5669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78086" y="2688336"/>
            <a:ext cx="1960473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2094" y="3255264"/>
            <a:ext cx="1832457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contentを直して再生成し、提出する。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23806" y="4818888"/>
            <a:ext cx="1869033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STATE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23806" y="5084064"/>
            <a:ext cx="186903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提出可能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承認フロー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通常の承認経路と差戻しを、迷わず追える形で示す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994660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843016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691372" y="2517343"/>
            <a:ext cx="51206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8691372" y="2517343"/>
            <a:ext cx="256032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947404" y="2517343"/>
            <a:ext cx="0" cy="1316736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947404" y="3834079"/>
            <a:ext cx="25603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371582" y="4327855"/>
            <a:ext cx="0" cy="384048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4674870" y="4711903"/>
            <a:ext cx="569671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674870" y="3011119"/>
            <a:ext cx="0" cy="17007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58368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6384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申請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必要事項を登録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06724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4740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形式確認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43884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不足項目を確認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43884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事務局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55080" y="2023567"/>
            <a:ext cx="2336292" cy="987552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83096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内容審査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妥当性とリスクを確認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審査部門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3436" y="2023567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1452" y="2142439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40596" y="2480767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承認内容に沿って着手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40596" y="2764231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実施部門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03436" y="3340303"/>
            <a:ext cx="2336292" cy="9875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31452" y="3459175"/>
            <a:ext cx="20802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修正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40596" y="3797503"/>
            <a:ext cx="206197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2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指摘事項を反映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40596" y="4080967"/>
            <a:ext cx="20619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申請部門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88527" y="2439682"/>
            <a:ext cx="317754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承認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1948" y="3756418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要修正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07770" y="4634242"/>
            <a:ext cx="430911" cy="155321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再申請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展開計画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12か月で型の整備から全社標準へ移行する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78892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69080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553712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328416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5740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3911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型の定義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" y="225856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主要パターンを選定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3232404" y="209854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248406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標準レイアウトを定義</a:t>
            </a:r>
          </a:p>
        </p:txBody>
      </p:sp>
      <p:sp>
        <p:nvSpPr>
          <p:cNvPr id="44" name="Diamond 43"/>
          <p:cNvSpPr/>
          <p:nvPr/>
        </p:nvSpPr>
        <p:spPr>
          <a:xfrm>
            <a:off x="4179951" y="235000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668915" y="247345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型レビュー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58368" y="278892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768096" y="285292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33856" y="283464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6" y="305409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rendererを整備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25062" y="289407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287393" y="292608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生成・検証機能を実装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68096" y="3337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33856" y="3319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現場検証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" y="353872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複数部門で試行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310378" y="3378708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01903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パイロット運用</a:t>
            </a:r>
          </a:p>
        </p:txBody>
      </p:sp>
      <p:sp>
        <p:nvSpPr>
          <p:cNvPr id="58" name="Diamond 57"/>
          <p:cNvSpPr/>
          <p:nvPr/>
        </p:nvSpPr>
        <p:spPr>
          <a:xfrm>
            <a:off x="7643241" y="363016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205" y="375361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展開判断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58368" y="4069080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768096" y="413308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33856" y="411480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改善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33856" y="4334256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利用結果を反映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7388352" y="4174236"/>
            <a:ext cx="201396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7750682" y="4206240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品質・操作性を改善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658368" y="455371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TextBox 66"/>
          <p:cNvSpPr txBox="1"/>
          <p:nvPr/>
        </p:nvSpPr>
        <p:spPr>
          <a:xfrm>
            <a:off x="768096" y="461772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" y="459943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" y="4818888"/>
            <a:ext cx="1938527" cy="16459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全社手順へ組込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9466326" y="4658868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9828657" y="469087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標準運用へ移行</a:t>
            </a:r>
          </a:p>
        </p:txBody>
      </p:sp>
      <p:sp>
        <p:nvSpPr>
          <p:cNvPr id="72" name="Diamond 71"/>
          <p:cNvSpPr/>
          <p:nvPr/>
        </p:nvSpPr>
        <p:spPr>
          <a:xfrm>
            <a:off x="11106531" y="4910328"/>
            <a:ext cx="118872" cy="118872"/>
          </a:xfrm>
          <a:prstGeom prst="diamond">
            <a:avLst/>
          </a:prstGeom>
          <a:solidFill>
            <a:srgbClr val="C758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353065" y="5033772"/>
            <a:ext cx="1140942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658368" y="53218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tangle 7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年間プログラム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5つの改善テーマと並行作業を、年間計画として俯瞰する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591056"/>
            <a:ext cx="2542032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655064"/>
            <a:ext cx="221284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テーマ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1591056"/>
            <a:ext cx="8311896" cy="402336"/>
          </a:xfrm>
          <a:prstGeom prst="rect">
            <a:avLst/>
          </a:prstGeom>
          <a:solidFill>
            <a:srgbClr val="182C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9305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85716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6月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78374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7月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8月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369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9月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5634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10月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9005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11月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3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12月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34322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26980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19638" y="1655064"/>
            <a:ext cx="69265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1993392"/>
            <a:ext cx="10853928" cy="457200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" y="2478024"/>
            <a:ext cx="10853928" cy="768096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8368" y="3273552"/>
            <a:ext cx="10853928" cy="1078992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379976"/>
            <a:ext cx="10853928" cy="45720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864608"/>
            <a:ext cx="10853928" cy="768096"/>
          </a:xfrm>
          <a:prstGeom prst="rect">
            <a:avLst/>
          </a:prstGeom>
          <a:solidFill>
            <a:srgbClr val="FFFF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320040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89305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58571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278374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971031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66369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735634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8049005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741663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434322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126980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19638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512296" y="1993392"/>
            <a:ext cx="0" cy="3639312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58368" y="199339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68096" y="209397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" y="207568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利用部門の拡大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405568" y="2098548"/>
            <a:ext cx="166763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594735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対象業務の選定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427338" y="2098548"/>
            <a:ext cx="3052954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9309163" y="213055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追加部門へ展開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658368" y="247802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768096" y="2578608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33856" y="2560320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デザイン標準化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32404" y="2583180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3594735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利用要件の整理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617720" y="2894076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326379" y="2926079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共通仕様の策定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310378" y="2583180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019038" y="2615184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試行版の検証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658368" y="3273552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68096" y="3374136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33856" y="3355848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運用基盤の再設計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232404" y="3378708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3248406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現状調査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4617720" y="3378708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326379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移行方針の策定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5310378" y="3689604"/>
            <a:ext cx="2706623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6019038" y="372160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新環境の構築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003036" y="4000500"/>
            <a:ext cx="628650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5816155" y="4032504"/>
            <a:ext cx="1002411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運用リハーサル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695694" y="4000500"/>
            <a:ext cx="132130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855142" y="4032504"/>
            <a:ext cx="1002410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773667" y="3378708"/>
            <a:ext cx="2706625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482328" y="3410712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旧環境の停止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58368" y="4379976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68096" y="4480560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33856" y="4462272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外部サービス連携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3925062" y="4485132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TextBox 72"/>
          <p:cNvSpPr txBox="1"/>
          <p:nvPr/>
        </p:nvSpPr>
        <p:spPr>
          <a:xfrm>
            <a:off x="394106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方式検討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310378" y="4485132"/>
            <a:ext cx="2013966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672708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接続開発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388352" y="4485132"/>
            <a:ext cx="628649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7058024" y="4517136"/>
            <a:ext cx="1289304" cy="246888"/>
          </a:xfrm>
          <a:prstGeom prst="rect">
            <a:avLst/>
          </a:prstGeom>
          <a:solidFill>
            <a:srgbClr val="ECEAE4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段階展開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58368" y="4864608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768096" y="4965192"/>
            <a:ext cx="347472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33856" y="4946904"/>
            <a:ext cx="1938527" cy="256032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データ活用基盤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3925062" y="4969764"/>
            <a:ext cx="1321308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3941064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要件定義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17720" y="5280660"/>
            <a:ext cx="2706624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326379" y="5312664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基盤構築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388352" y="4969764"/>
            <a:ext cx="1321307" cy="0"/>
          </a:xfrm>
          <a:prstGeom prst="line">
            <a:avLst/>
          </a:prstGeom>
          <a:ln w="1778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7404353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利用検証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8773667" y="4969764"/>
            <a:ext cx="2013967" cy="0"/>
          </a:xfrm>
          <a:prstGeom prst="line">
            <a:avLst/>
          </a:prstGeom>
          <a:ln w="17780">
            <a:solidFill>
              <a:srgbClr val="C7583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9135999" y="5001768"/>
            <a:ext cx="1289304" cy="246888"/>
          </a:xfrm>
          <a:prstGeom prst="rect">
            <a:avLst/>
          </a:prstGeom>
          <a:solidFill>
            <a:srgbClr val="FFFFFC"/>
          </a:solidFill>
        </p:spPr>
        <p:txBody>
          <a:bodyPr wrap="non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全社展開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58368" y="5632704"/>
            <a:ext cx="10853928" cy="0"/>
          </a:xfrm>
          <a:prstGeom prst="line">
            <a:avLst/>
          </a:prstGeom>
          <a:ln w="762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月途中の開始・終了は1/4月単位で表現する。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優先度整理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提出品質と再利用性から、整備優先度を決める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6192" y="2029968"/>
            <a:ext cx="9601200" cy="3675887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36792" y="2029968"/>
            <a:ext cx="4800600" cy="1837943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00784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個別対応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0" y="5321808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再利用候補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00784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品質改善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19456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優先整備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536192" y="5705856"/>
            <a:ext cx="9601200" cy="0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1536192" y="2029968"/>
            <a:ext cx="0" cy="3675888"/>
          </a:xfrm>
          <a:prstGeom prst="line">
            <a:avLst/>
          </a:prstGeom>
          <a:ln w="2222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851392" y="585216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再利用性 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7904" y="168249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↑ 提出品質</a:t>
            </a:r>
          </a:p>
        </p:txBody>
      </p:sp>
      <p:sp>
        <p:nvSpPr>
          <p:cNvPr id="15" name="Oval 14"/>
          <p:cNvSpPr/>
          <p:nvPr/>
        </p:nvSpPr>
        <p:spPr>
          <a:xfrm>
            <a:off x="3127248" y="3436680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311896" y="2775021"/>
            <a:ext cx="274320" cy="274320"/>
          </a:xfrm>
          <a:prstGeom prst="ellipse">
            <a:avLst/>
          </a:prstGeom>
          <a:solidFill>
            <a:srgbClr val="C7583E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927848" y="3142609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623559" y="3289645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759451" y="2407432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319272" y="4392411"/>
            <a:ext cx="274320" cy="274320"/>
          </a:xfrm>
          <a:prstGeom prst="ellipse">
            <a:avLst/>
          </a:prstGeom>
          <a:solidFill>
            <a:srgbClr val="0D7870"/>
          </a:solidFill>
          <a:ln w="12700">
            <a:solidFill>
              <a:srgbClr val="FFFFF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50008" y="3125784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タイトル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34656" y="2464125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lang="ja-JP">
                <a:solidFill>
                  <a:srgbClr val="C7583E"/>
                </a:solidFill>
                <a:latin typeface="Yu Gothic"/>
                <a:ea typeface="Yu Gothic"/>
                <a:cs typeface="Yu Gothic"/>
              </a:rPr>
              <a:t>要点列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50608" y="344436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比較表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7" y="3554821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ロードマップ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82211" y="2096536"/>
            <a:ext cx="1828800" cy="2834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542032" y="4081515"/>
            <a:ext cx="1828800" cy="2834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自由配置図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位置づけはテンプレート整備の優先度を示すサンプル。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推進体制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責任者から各チームまで、指揮系統を明確にする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3974439" y="2880360"/>
            <a:ext cx="4242816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3974439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8217255" y="2596896"/>
            <a:ext cx="0" cy="283464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095847" y="2880360"/>
            <a:ext cx="0" cy="283464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853145" y="4215383"/>
            <a:ext cx="8485404" cy="0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095847" y="3931920"/>
            <a:ext cx="0" cy="283463"/>
          </a:xfrm>
          <a:prstGeom prst="line">
            <a:avLst/>
          </a:prstGeom>
          <a:ln w="13970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853145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681613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10081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8549" y="4215383"/>
            <a:ext cx="0" cy="283465"/>
          </a:xfrm>
          <a:prstGeom prst="line">
            <a:avLst/>
          </a:prstGeom>
          <a:ln w="13970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2008479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6495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プロジェクト責任者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36495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方針・予算を決定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51295" y="1828800"/>
            <a:ext cx="3931920" cy="768096"/>
          </a:xfrm>
          <a:prstGeom prst="rect">
            <a:avLst/>
          </a:prstGeom>
          <a:solidFill>
            <a:srgbClr val="182C43"/>
          </a:solidFill>
          <a:ln w="952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79311" y="1892807"/>
            <a:ext cx="367588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システム責任者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9311" y="2157984"/>
            <a:ext cx="367588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DFEBE8"/>
                </a:solidFill>
                <a:latin typeface="Yu Gothic"/>
                <a:ea typeface="Yu Gothic"/>
                <a:cs typeface="Yu Gothic"/>
              </a:rPr>
              <a:t>システム方針を決定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1327" y="3163824"/>
            <a:ext cx="3749039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49343" y="3227832"/>
            <a:ext cx="349300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プロジェクトマネージャー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9343" y="3493008"/>
            <a:ext cx="3493007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計画・課題・品質を統括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業務チーム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業務要件・受入を担当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422827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550843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開発チーム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50843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設計・開発・試験を担当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51295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9311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基盤チーム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9311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基盤・ネットワークを担当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9763" y="4498848"/>
            <a:ext cx="2517571" cy="768096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07779" y="4562856"/>
            <a:ext cx="226153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移行・運用チーム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07779" y="4828032"/>
            <a:ext cx="2261539" cy="40233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移行・運用設計を担当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主要コンポーネントとデータの流れを短く示す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39849"/>
            <a:ext cx="6390170" cy="4306823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594713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783433"/>
            <a:ext cx="3713721" cy="1819655"/>
          </a:xfrm>
          <a:prstGeom prst="rect">
            <a:avLst/>
          </a:prstGeom>
          <a:noFill/>
          <a:ln w="15875">
            <a:prstDash val="dash"/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38297"/>
            <a:ext cx="101955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VPC (private)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15537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37779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219759" y="2371953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219759" y="2371953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434175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434175" y="3853281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219759" y="3853281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219759" y="485912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81999" y="3615537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32073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44721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7592" y="4200753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ブラウザ</a:t>
            </a:r>
          </a:p>
        </p:txBody>
      </p:sp>
      <p:pic>
        <p:nvPicPr>
          <p:cNvPr id="22" name="Picture 21" descr="a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32073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47998" y="3944721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01707" y="4200753"/>
            <a:ext cx="492633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内部LB</a:t>
            </a:r>
          </a:p>
        </p:txBody>
      </p:sp>
      <p:pic>
        <p:nvPicPr>
          <p:cNvPr id="25" name="Picture 24" descr="farg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32073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44721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ECS Fargate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12333" y="4200753"/>
            <a:ext cx="13670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生成API (python-pptx)</a:t>
            </a:r>
          </a:p>
        </p:txBody>
      </p:sp>
      <p:pic>
        <p:nvPicPr>
          <p:cNvPr id="28" name="Picture 27" descr="bedro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2088489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5300" y="2701137"/>
            <a:ext cx="135674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Bedrock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4152" y="2957169"/>
            <a:ext cx="143903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Claude (構成JSON生成)</a:t>
            </a:r>
          </a:p>
        </p:txBody>
      </p:sp>
      <p:pic>
        <p:nvPicPr>
          <p:cNvPr id="31" name="Picture 30" descr="s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60207" y="3332073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881327" y="3944721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1592" y="4200753"/>
            <a:ext cx="126415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テンプレート/成果物</a:t>
            </a:r>
          </a:p>
        </p:txBody>
      </p:sp>
      <p:pic>
        <p:nvPicPr>
          <p:cNvPr id="34" name="Picture 33" descr="cloudwatch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60207" y="4575657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7845323" y="5188305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5897" y="5444337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ログ・監査証跡</a:t>
            </a:r>
          </a:p>
        </p:txBody>
      </p:sp>
      <p:pic>
        <p:nvPicPr>
          <p:cNvPr id="37" name="Picture 36" descr="us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3332073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237165" y="3944721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5443" y="4200753"/>
            <a:ext cx="832104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ダウンロード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378936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27151" y="2793720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構成生成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51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読み書き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3378936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署名URL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AWSアイコンは slidegen/assets/icons/aws/ から読み込む。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19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高密度構成図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高密度なAWS構成も、グリッド仕様で自動配置する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656652" y="1342430"/>
            <a:ext cx="8707511" cy="4753051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66380" y="1397294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957706" y="2384846"/>
            <a:ext cx="6084829" cy="350580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067434" y="2439710"/>
            <a:ext cx="161620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VPC (private subnets)</a:t>
            </a:r>
          </a:p>
        </p:txBody>
      </p:sp>
      <p:sp>
        <p:nvSpPr>
          <p:cNvPr id="9" name="Rectangle 8"/>
          <p:cNvSpPr/>
          <p:nvPr/>
        </p:nvSpPr>
        <p:spPr>
          <a:xfrm>
            <a:off x="4360042" y="3573566"/>
            <a:ext cx="1673352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9770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46273" y="3573566"/>
            <a:ext cx="1693925" cy="2295143"/>
          </a:xfrm>
          <a:prstGeom prst="rect">
            <a:avLst/>
          </a:prstGeom>
          <a:noFill/>
          <a:ln w="15875">
            <a:prstDash val="dash"/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56001" y="3628430"/>
            <a:ext cx="41262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AZ-c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38528" y="2979206"/>
            <a:ext cx="112160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398459" y="2311694"/>
            <a:ext cx="0" cy="329184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736787" y="2979206"/>
            <a:ext cx="291986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5196718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96718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994977" y="3317534"/>
            <a:ext cx="0" cy="45720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994977" y="3774734"/>
            <a:ext cx="1798259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93236" y="3774734"/>
            <a:ext cx="0" cy="109728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250314" y="4222790"/>
            <a:ext cx="608076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50314" y="4222790"/>
            <a:ext cx="0" cy="100584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250314" y="5228630"/>
            <a:ext cx="608076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793236" y="4561118"/>
            <a:ext cx="0" cy="4572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8793236" y="4606838"/>
            <a:ext cx="95669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749927" y="4606838"/>
            <a:ext cx="0" cy="62179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131564" y="5228630"/>
            <a:ext cx="61836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5535046" y="5228630"/>
            <a:ext cx="2919862" cy="0"/>
          </a:xfrm>
          <a:prstGeom prst="line">
            <a:avLst/>
          </a:prstGeom>
          <a:ln w="19050">
            <a:prstDash val="dash"/>
            <a:solidFill>
              <a:srgbClr val="6C7372"/>
            </a:solidFill>
            <a:tailEnd type="triangle" w="med" len="med"/>
            <a:head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131564" y="4222790"/>
            <a:ext cx="819531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9951095" y="2979206"/>
            <a:ext cx="0" cy="1243584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951095" y="2979206"/>
            <a:ext cx="30207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042535" y="5228630"/>
            <a:ext cx="210632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4" name="Picture 33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2695742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91565" y="3308390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社内ユーザー</a:t>
            </a:r>
          </a:p>
        </p:txBody>
      </p:sp>
      <p:pic>
        <p:nvPicPr>
          <p:cNvPr id="36" name="Picture 35" descr="route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4995" y="1689902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18411" y="2302550"/>
            <a:ext cx="76009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Route 53</a:t>
            </a:r>
          </a:p>
        </p:txBody>
      </p:sp>
      <p:pic>
        <p:nvPicPr>
          <p:cNvPr id="38" name="Picture 37" descr="cloudfro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14995" y="2695742"/>
            <a:ext cx="566928" cy="5669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930972" y="3308390"/>
            <a:ext cx="934974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CloudFront</a:t>
            </a:r>
          </a:p>
        </p:txBody>
      </p:sp>
      <p:pic>
        <p:nvPicPr>
          <p:cNvPr id="40" name="Picture 39" descr="al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1513" y="2695742"/>
            <a:ext cx="566928" cy="566928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6794952" y="3308390"/>
            <a:ext cx="40005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ALB</a:t>
            </a:r>
          </a:p>
        </p:txBody>
      </p:sp>
      <p:pic>
        <p:nvPicPr>
          <p:cNvPr id="42" name="Picture 41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13254" y="3939326"/>
            <a:ext cx="566928" cy="56692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852675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4" name="Picture 43" descr="farg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9772" y="3939326"/>
            <a:ext cx="566928" cy="56692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8449193" y="4551974"/>
            <a:ext cx="68808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Fargate</a:t>
            </a:r>
          </a:p>
        </p:txBody>
      </p:sp>
      <p:pic>
        <p:nvPicPr>
          <p:cNvPr id="46" name="Picture 45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13254" y="4945166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4616074" y="5557814"/>
            <a:ext cx="1161288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(primary)</a:t>
            </a:r>
          </a:p>
        </p:txBody>
      </p:sp>
      <p:pic>
        <p:nvPicPr>
          <p:cNvPr id="48" name="Picture 47" descr="rd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09772" y="4945166"/>
            <a:ext cx="566928" cy="56692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02305" y="5557814"/>
            <a:ext cx="1181862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RDS (standby)</a:t>
            </a:r>
          </a:p>
        </p:txBody>
      </p:sp>
      <p:pic>
        <p:nvPicPr>
          <p:cNvPr id="50" name="Picture 49" descr="s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2695742"/>
            <a:ext cx="566928" cy="566928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0129151" y="3308390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82860" y="3564422"/>
            <a:ext cx="101727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成果物/静的配信</a:t>
            </a:r>
          </a:p>
        </p:txBody>
      </p:sp>
      <p:pic>
        <p:nvPicPr>
          <p:cNvPr id="53" name="Picture 52" descr="cloudwatch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08031" y="4945166"/>
            <a:ext cx="566928" cy="566928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10093147" y="5557814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37165" y="5813846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38339" y="2523149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名前解決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40114" y="2742605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825813" y="4992029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同期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720209" y="351984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20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Fluentアイコン構成図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SSO・監査・バックアップを含む業務システム構成を表現する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60038" y="2652674"/>
            <a:ext cx="7714411" cy="3063239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69766" y="2707538"/>
            <a:ext cx="108127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データセンター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38528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935626" y="3484778"/>
            <a:ext cx="2320442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594396" y="2268626"/>
            <a:ext cx="0" cy="877824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932724" y="3484778"/>
            <a:ext cx="2320443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594396" y="3823106"/>
            <a:ext cx="0" cy="4572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6095847" y="3868826"/>
            <a:ext cx="1498549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5847" y="3868826"/>
            <a:ext cx="0" cy="859536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095847" y="4728362"/>
            <a:ext cx="1160221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29823" y="3484778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1484178" y="3484778"/>
            <a:ext cx="0" cy="1243584"/>
          </a:xfrm>
          <a:prstGeom prst="line">
            <a:avLst/>
          </a:prstGeom>
          <a:ln w="15875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10929823" y="4728362"/>
            <a:ext cx="554355" cy="0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8" name="Picture 17" descr="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201314"/>
            <a:ext cx="566928" cy="5669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168717" y="3813962"/>
            <a:ext cx="86296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利用者端末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07592" y="406999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社内LAN</a:t>
            </a:r>
          </a:p>
        </p:txBody>
      </p:sp>
      <p:pic>
        <p:nvPicPr>
          <p:cNvPr id="21" name="Picture 20" descr="ke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0932" y="1646834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06932" y="2259482"/>
            <a:ext cx="57492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ID基盤</a:t>
            </a:r>
          </a:p>
        </p:txBody>
      </p:sp>
      <p:pic>
        <p:nvPicPr>
          <p:cNvPr id="23" name="Picture 22" descr="shie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3834" y="3201314"/>
            <a:ext cx="566928" cy="56692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3934358" y="3813962"/>
            <a:ext cx="132588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ファイアウォール</a:t>
            </a:r>
          </a:p>
        </p:txBody>
      </p:sp>
      <p:pic>
        <p:nvPicPr>
          <p:cNvPr id="25" name="Picture 24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0932" y="320131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6998322" y="3813962"/>
            <a:ext cx="1192149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業務Webサーバ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40066" y="4069994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アプリ本体</a:t>
            </a:r>
          </a:p>
        </p:txBody>
      </p:sp>
      <p:pic>
        <p:nvPicPr>
          <p:cNvPr id="28" name="Picture 27" descr="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3201314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0196017" y="3813962"/>
            <a:ext cx="79095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DBサーバ</a:t>
            </a:r>
          </a:p>
        </p:txBody>
      </p:sp>
      <p:pic>
        <p:nvPicPr>
          <p:cNvPr id="30" name="Picture 29" descr="moni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10932" y="4444898"/>
            <a:ext cx="566928" cy="56692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240066" y="5057546"/>
            <a:ext cx="70866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ログ収集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63510" y="5313578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監査用</a:t>
            </a:r>
          </a:p>
        </p:txBody>
      </p:sp>
      <p:pic>
        <p:nvPicPr>
          <p:cNvPr id="33" name="Picture 32" descr="sto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08031" y="4444898"/>
            <a:ext cx="566928" cy="56692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0082860" y="5057546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バックアップ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98887" y="5313578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日次保管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42145" y="3248177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25232" y="2754401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認証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23782" y="324817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SQL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14" y="3632225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監査ログ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15014" y="4025417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日次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053328"/>
            <a:ext cx="11185855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同梱のMicrosoft Fluent UIアイコンを使用。ライセンスはslidegen/assets/CREDITS.mdを参照。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21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イベント駆動構成図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受付と処理を分離し、保存・監視へ非同期分岐する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2906191" y="1589227"/>
            <a:ext cx="8437397" cy="4471416"/>
          </a:xfrm>
          <a:prstGeom prst="rect">
            <a:avLst/>
          </a:prstGeom>
          <a:noFill/>
          <a:ln w="15875">
            <a:solidFill>
              <a:srgbClr val="6C737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5919" y="1644091"/>
            <a:ext cx="854964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6C7372"/>
                </a:solidFill>
                <a:latin typeface="Yu Gothic"/>
                <a:ea typeface="Yu Gothic"/>
                <a:cs typeface="Yu Gothic"/>
              </a:rPr>
              <a:t>AWS Cloud</a:t>
            </a:r>
          </a:p>
        </p:txBody>
      </p:sp>
      <p:sp>
        <p:nvSpPr>
          <p:cNvPr id="7" name="Rectangle 6"/>
          <p:cNvSpPr/>
          <p:nvPr/>
        </p:nvSpPr>
        <p:spPr>
          <a:xfrm>
            <a:off x="3180511" y="2832811"/>
            <a:ext cx="6023267" cy="3063239"/>
          </a:xfrm>
          <a:prstGeom prst="rect">
            <a:avLst/>
          </a:prstGeom>
          <a:noFill/>
          <a:ln w="15875">
            <a:solidFill>
              <a:srgbClr val="182C4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0239" y="2887675"/>
            <a:ext cx="186309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Asynchronous Processing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938528" y="3664915"/>
            <a:ext cx="1571167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186351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434175" y="3664915"/>
            <a:ext cx="1571168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681999" y="3546043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9467583" y="2421331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467583" y="2421331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681999" y="3783787"/>
            <a:ext cx="785584" cy="0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9467583" y="3783787"/>
            <a:ext cx="0" cy="1124712"/>
          </a:xfrm>
          <a:prstGeom prst="line">
            <a:avLst/>
          </a:prstGeom>
          <a:ln w="15875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9467583" y="4908499"/>
            <a:ext cx="785584" cy="0"/>
          </a:xfrm>
          <a:prstGeom prst="line">
            <a:avLst/>
          </a:prstGeom>
          <a:ln w="15875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343671" y="4003243"/>
            <a:ext cx="0" cy="566928"/>
          </a:xfrm>
          <a:prstGeom prst="line">
            <a:avLst/>
          </a:prstGeom>
          <a:ln w="15875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Picture 18" descr="us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736" y="3381451"/>
            <a:ext cx="566928" cy="5669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91565" y="3994099"/>
            <a:ext cx="1017270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業務システム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2426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イベント送信元</a:t>
            </a:r>
          </a:p>
        </p:txBody>
      </p:sp>
      <p:pic>
        <p:nvPicPr>
          <p:cNvPr id="22" name="Picture 21" descr="gl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59" y="3381451"/>
            <a:ext cx="566928" cy="56692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519411" y="3994099"/>
            <a:ext cx="65722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受付API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693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検証・受付</a:t>
            </a:r>
          </a:p>
        </p:txBody>
      </p:sp>
      <p:pic>
        <p:nvPicPr>
          <p:cNvPr id="25" name="Picture 24" descr="sq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383" y="3381451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571782" y="3994099"/>
            <a:ext cx="1048131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SQS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18073" y="4250131"/>
            <a:ext cx="95554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処理待ちキュー</a:t>
            </a:r>
          </a:p>
        </p:txBody>
      </p:sp>
      <p:pic>
        <p:nvPicPr>
          <p:cNvPr id="28" name="Picture 27" descr="ser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60207" y="3381451"/>
            <a:ext cx="566928" cy="56692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57883" y="3994099"/>
            <a:ext cx="1171575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非同期ワーカー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89341" y="4250131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変換・集計</a:t>
            </a:r>
          </a:p>
        </p:txBody>
      </p:sp>
      <p:pic>
        <p:nvPicPr>
          <p:cNvPr id="31" name="Picture 30" descr="dynamod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08031" y="2137867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0113721" y="2750515"/>
            <a:ext cx="95554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DynamoDB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98887" y="3006547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処理状態</a:t>
            </a:r>
          </a:p>
        </p:txBody>
      </p:sp>
      <p:pic>
        <p:nvPicPr>
          <p:cNvPr id="34" name="Picture 33" descr="s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308031" y="4625035"/>
            <a:ext cx="566928" cy="56692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10129151" y="5237683"/>
            <a:ext cx="924687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Amazon S3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60609" y="5493715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pic>
        <p:nvPicPr>
          <p:cNvPr id="37" name="Picture 36" descr="cloudwatc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60207" y="4625035"/>
            <a:ext cx="566928" cy="56692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845323" y="5237683"/>
            <a:ext cx="996696" cy="19024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CloudWatch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89341" y="5493715"/>
            <a:ext cx="708660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900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監視・ログ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7508" y="3428314"/>
            <a:ext cx="513207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HTTPS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02771" y="3428314"/>
            <a:ext cx="338328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受付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88873" y="3428314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非同期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74975" y="2902534"/>
            <a:ext cx="585216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状態更新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36697" y="4264990"/>
            <a:ext cx="461772" cy="16230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成果物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22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対象範囲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実施範囲と対象外を分け、責任境界を明確にする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実施範囲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94360" y="1975104"/>
            <a:ext cx="540090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635508" y="2372868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対象業務の要件整理と新しい運用フローの設計</a:t>
            </a:r>
          </a:p>
        </p:txBody>
      </p:sp>
      <p:sp>
        <p:nvSpPr>
          <p:cNvPr id="9" name="Oval 8"/>
          <p:cNvSpPr/>
          <p:nvPr/>
        </p:nvSpPr>
        <p:spPr>
          <a:xfrm>
            <a:off x="635508" y="3049524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既存システムとのインターフェース設計・実装</a:t>
            </a:r>
          </a:p>
        </p:txBody>
      </p:sp>
      <p:sp>
        <p:nvSpPr>
          <p:cNvPr id="11" name="Oval 10"/>
          <p:cNvSpPr/>
          <p:nvPr/>
        </p:nvSpPr>
        <p:spPr>
          <a:xfrm>
            <a:off x="635508" y="3726180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本番移行と初期運用期間の問い合わせ対応</a:t>
            </a:r>
          </a:p>
        </p:txBody>
      </p:sp>
      <p:sp>
        <p:nvSpPr>
          <p:cNvPr id="13" name="Oval 12"/>
          <p:cNvSpPr/>
          <p:nvPr/>
        </p:nvSpPr>
        <p:spPr>
          <a:xfrm>
            <a:off x="635508" y="4402836"/>
            <a:ext cx="100584" cy="100584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利用部門向けの操作説明と運用手順の整備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1609344"/>
            <a:ext cx="540090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対象外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79311" y="1975104"/>
            <a:ext cx="5400904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420459" y="2372868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35343" y="2139696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端末・ネットワーク機器の調達と設置</a:t>
            </a:r>
          </a:p>
        </p:txBody>
      </p:sp>
      <p:sp>
        <p:nvSpPr>
          <p:cNvPr id="19" name="Oval 18"/>
          <p:cNvSpPr/>
          <p:nvPr/>
        </p:nvSpPr>
        <p:spPr>
          <a:xfrm>
            <a:off x="6420459" y="3049524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35343" y="2816352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今回の対象外となる周辺システムの機能改修</a:t>
            </a:r>
          </a:p>
        </p:txBody>
      </p:sp>
      <p:sp>
        <p:nvSpPr>
          <p:cNvPr id="21" name="Oval 20"/>
          <p:cNvSpPr/>
          <p:nvPr/>
        </p:nvSpPr>
        <p:spPr>
          <a:xfrm>
            <a:off x="6420459" y="3726180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35343" y="3493008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初期運用期間終了後の長期保守業務</a:t>
            </a:r>
          </a:p>
        </p:txBody>
      </p:sp>
      <p:sp>
        <p:nvSpPr>
          <p:cNvPr id="23" name="Oval 22"/>
          <p:cNvSpPr/>
          <p:nvPr/>
        </p:nvSpPr>
        <p:spPr>
          <a:xfrm>
            <a:off x="6420459" y="4402836"/>
            <a:ext cx="100584" cy="100584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35343" y="4169664"/>
            <a:ext cx="5090007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移行元データの名寄せと内容補正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5605272"/>
            <a:ext cx="11002975" cy="548640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751576"/>
            <a:ext cx="74980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前提条件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45920" y="5696712"/>
            <a:ext cx="9741103" cy="3566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必要なデータを所定形式で受領できる / 関係部門のレビュー担当を確保できる / 既存基盤が計画期間中も安定稼働する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23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経営判断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背景・判断・提案を整理し、意思決定を1枚で支援する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005840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005840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部門ごとに資料の構成と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確認方法が異なり、作成と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レビューの双方に手戻りが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発生している。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1746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74666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判断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874666" y="2777764"/>
            <a:ext cx="2945282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874666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全資料を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一律化するのではなく、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頻出する業務パターンから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標準化する方が導入負荷を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抑えられる。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40572" y="2366284"/>
            <a:ext cx="365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43492" y="2357140"/>
            <a:ext cx="294528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提案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43492" y="2777764"/>
            <a:ext cx="2945283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743492" y="2905780"/>
            <a:ext cx="2917850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対象部門で標準レイアウトを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試行し、品質・作成時間・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運用負荷を測定して展開可否を</a:t>
            </a:r>
          </a:p>
          <a:p>
            <a:pPr algn="l">
              <a:lnSpc>
                <a:spcPct val="122000"/>
              </a:lnSpc>
            </a:pPr>
            <a:r>
              <a:rPr sz="14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判断する。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496836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" y="4633996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5608" y="4597420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限定導入で効果と運用条件を確認した後、対象業務を段階的に拡大する。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24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方式比較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現行方式と標準方式を、同じ評価軸で比較する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" y="1673534"/>
            <a:ext cx="4663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現行方式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30567" y="1673534"/>
            <a:ext cx="478505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標準方式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4103" y="1691822"/>
            <a:ext cx="12618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評価軸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72" y="2066726"/>
            <a:ext cx="4663440" cy="0"/>
          </a:xfrm>
          <a:prstGeom prst="line">
            <a:avLst/>
          </a:prstGeom>
          <a:ln w="1143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830567" y="2066726"/>
            <a:ext cx="4785056" cy="0"/>
          </a:xfrm>
          <a:prstGeom prst="line">
            <a:avLst/>
          </a:prstGeom>
          <a:ln w="13970">
            <a:solidFill>
              <a:srgbClr val="0D78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5404103" y="2185598"/>
            <a:ext cx="1261872" cy="3401568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2185598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30567" y="2185598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8952" y="2185598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担当者ごとの個別対応が多い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04103" y="2185598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運用負荷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3447" y="2185598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共通手順により確認作業を削減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" y="2880542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30567" y="2880542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2880542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初期設定は少なく短期導入しやすい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04103" y="2880542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導入速度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13447" y="2880542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初期整備後は再利用によって展開を加速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" y="3575486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30567" y="3575486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952" y="3575486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個別要望へ即時に対応できる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3575486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柔軟性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13447" y="3575486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共通部品と例外ルールを組み合わせる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6072" y="4270430"/>
            <a:ext cx="4663440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30567" y="4270430"/>
            <a:ext cx="4785055" cy="621792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8952" y="4270430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担当者の経験により差が生じる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4103" y="4270430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品質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13447" y="4270430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標準検証により品質と一貫性を維持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6072" y="4965374"/>
            <a:ext cx="4663440" cy="621792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830567" y="4965374"/>
            <a:ext cx="4785055" cy="62179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952" y="4965374"/>
            <a:ext cx="4297679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対象拡大に比例して運用負荷が増える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04103" y="4965374"/>
            <a:ext cx="126187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拡張性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447" y="4965374"/>
            <a:ext cx="441929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共通基盤を再利用して対象を追加できる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短期の立ち上げは現行方式、中長期の横展開は標準方式が優位となる。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25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対応関係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主要課題と施策をひも付け、対応漏れを確認する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主要課題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73391" y="1645920"/>
            <a:ext cx="4069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対応施策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718304" y="2686050"/>
            <a:ext cx="2755087" cy="0"/>
          </a:xfrm>
          <a:prstGeom prst="line">
            <a:avLst/>
          </a:prstGeom>
          <a:ln w="17780">
            <a:solidFill>
              <a:srgbClr val="0D78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4718304" y="3984498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18304" y="3984498"/>
            <a:ext cx="2755087" cy="649224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718304" y="3335274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718304" y="5282946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45720">
            <a:solidFill>
              <a:srgbClr val="F7F5E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718304" y="4633722"/>
            <a:ext cx="2755087" cy="0"/>
          </a:xfrm>
          <a:prstGeom prst="line">
            <a:avLst/>
          </a:prstGeom>
          <a:ln w="12700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649224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3524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手作業が多く処理時間が長い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3524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承認完了までの待ち時間が長い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3524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データが複数の管理先へ分散している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3524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8136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進捗と課題の把握に時間がかかる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3524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成果物の品質にばらつきがある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73391" y="2420874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1199571" y="2571750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204143" y="2576322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7983" y="2420874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定型作業の標準化と自動化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73391" y="3070098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1199571" y="3220974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04143" y="3225546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37983" y="3070098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承認条件と判断権限の見直し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73391" y="3719322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1199571" y="3870198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204143" y="3874770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637983" y="3719322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データ管理先の統合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473391" y="4368546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1199571" y="4519422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204143" y="4523994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37983" y="4368546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進捗・課題ダッシュボードの整備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473391" y="5017770"/>
            <a:ext cx="4069080" cy="530352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1199571" y="5168646"/>
            <a:ext cx="228600" cy="228600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204143" y="5173218"/>
            <a:ext cx="219456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850" b="1" lang="ja-JP">
                <a:solidFill>
                  <a:srgbClr val="FFFFFC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37983" y="5017770"/>
            <a:ext cx="3465576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レビュー基準と品質ゲートの整備</a:t>
            </a:r>
          </a:p>
        </p:txBody>
      </p:sp>
      <p:sp>
        <p:nvSpPr>
          <p:cNvPr id="59" name="Oval 58"/>
          <p:cNvSpPr/>
          <p:nvPr/>
        </p:nvSpPr>
        <p:spPr>
          <a:xfrm>
            <a:off x="4681728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4681728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4681728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4681728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4681728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436815" y="2649474"/>
            <a:ext cx="73152" cy="73152"/>
          </a:xfrm>
          <a:prstGeom prst="ellipse">
            <a:avLst/>
          </a:prstGeom>
          <a:solidFill>
            <a:srgbClr val="0D78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436815" y="3298698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436815" y="3947922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436815" y="4597146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436815" y="5246370"/>
            <a:ext cx="73152" cy="73152"/>
          </a:xfrm>
          <a:prstGeom prst="ellipse">
            <a:avLst/>
          </a:prstGeom>
          <a:solidFill>
            <a:srgbClr val="666E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26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障害対応フロー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担当境界と引き継ぎ点を明確にし、対応漏れを防ぐ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48840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検知・申告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52111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確認・切り分け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478959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55383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対応・復旧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82231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58655" y="1670608"/>
            <a:ext cx="2256967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確認・完了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285503" y="1579168"/>
            <a:ext cx="0" cy="3584448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94360" y="1588312"/>
            <a:ext cx="34747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1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凡例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33271" y="1698040"/>
            <a:ext cx="292609" cy="0"/>
          </a:xfrm>
          <a:prstGeom prst="line">
            <a:avLst/>
          </a:prstGeom>
          <a:ln w="14604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399032" y="1615744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順方向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33271" y="1890064"/>
            <a:ext cx="292609" cy="0"/>
          </a:xfrm>
          <a:prstGeom prst="line">
            <a:avLst/>
          </a:prstGeom>
          <a:ln w="14604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399032" y="1807768"/>
            <a:ext cx="56692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lang="ja-JP">
                <a:solidFill>
                  <a:srgbClr val="202729"/>
                </a:solidFill>
                <a:latin typeface="Yu Gothic"/>
                <a:ea typeface="Yu Gothic"/>
                <a:cs typeface="Yu Gothic"/>
              </a:rPr>
              <a:t>差戻し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018080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2648" y="2018080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利用部門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2804464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502920" y="2804464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804464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3590848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02920" y="3590848"/>
            <a:ext cx="11185855" cy="786384"/>
          </a:xfrm>
          <a:prstGeom prst="rect">
            <a:avLst/>
          </a:prstGeom>
          <a:solidFill>
            <a:srgbClr val="ECEA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3590848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ネットワーク担当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4377232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502920" y="4377232"/>
            <a:ext cx="11185855" cy="786384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377232"/>
            <a:ext cx="1371600" cy="7863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2920" y="5163616"/>
            <a:ext cx="11185855" cy="0"/>
          </a:xfrm>
          <a:prstGeom prst="line">
            <a:avLst/>
          </a:prstGeom>
          <a:ln w="8255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063707" y="2411272"/>
            <a:ext cx="415252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478959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7895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5644019" y="3197656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11781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781647" y="3197656"/>
            <a:ext cx="201168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466979" y="3984040"/>
            <a:ext cx="83050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515053" y="3453688"/>
            <a:ext cx="568814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083867" y="4240072"/>
            <a:ext cx="0" cy="27432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8870251" y="4770424"/>
            <a:ext cx="2140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9084335" y="3545128"/>
            <a:ext cx="0" cy="1225296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8652681" y="3545128"/>
            <a:ext cx="43165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 flipV="1">
            <a:off x="8652681" y="3453688"/>
            <a:ext cx="0" cy="9144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184919" y="3197656"/>
            <a:ext cx="100584" cy="0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9285503" y="2411272"/>
            <a:ext cx="0" cy="786384"/>
          </a:xfrm>
          <a:prstGeom prst="line">
            <a:avLst/>
          </a:prstGeom>
          <a:ln w="14604"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285503" y="2411272"/>
            <a:ext cx="100584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86526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H="1">
            <a:off x="5111781" y="5255056"/>
            <a:ext cx="3540900" cy="0"/>
          </a:xfrm>
          <a:prstGeom prst="line">
            <a:avLst/>
          </a:prstGeom>
          <a:ln w="14604">
            <a:prstDash val="dash"/>
            <a:solidFill>
              <a:srgbClr val="6C737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5111781" y="3453688"/>
            <a:ext cx="0" cy="1801368"/>
          </a:xfrm>
          <a:prstGeom prst="line">
            <a:avLst/>
          </a:prstGeom>
          <a:ln w="14604">
            <a:prstDash val="dash"/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450563" y="2411272"/>
            <a:ext cx="73152" cy="0"/>
          </a:xfrm>
          <a:prstGeom prst="line">
            <a:avLst/>
          </a:prstGeom>
          <a:ln w="14604">
            <a:solidFill>
              <a:srgbClr val="6C7372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2490939" y="2155240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582379" y="2155240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障害申告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95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709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一次確認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17171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08611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監視確認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4211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85651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機器確認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982815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074255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7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エスカレーション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297483" y="3728008"/>
            <a:ext cx="1572768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88923" y="3728008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回線切り分け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97483" y="4514392"/>
            <a:ext cx="1572768" cy="512064"/>
          </a:xfrm>
          <a:prstGeom prst="rect">
            <a:avLst/>
          </a:prstGeom>
          <a:solidFill>
            <a:srgbClr val="DFEBE8"/>
          </a:solidFill>
          <a:ln w="9525">
            <a:solidFill>
              <a:srgbClr val="0D78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388923" y="4514392"/>
            <a:ext cx="1389888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回線調査・復旧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120443" y="2941624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211883" y="2941624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結果確認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386087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477527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利用者連絡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0523715" y="2155240"/>
            <a:ext cx="1064475" cy="512064"/>
          </a:xfrm>
          <a:prstGeom prst="rect">
            <a:avLst/>
          </a:prstGeom>
          <a:solidFill>
            <a:srgbClr val="FFFFFC"/>
          </a:solidFill>
          <a:ln w="9525">
            <a:solidFill>
              <a:srgbClr val="D1CF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15155" y="2155240"/>
            <a:ext cx="8815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クローズ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工程だけでなく、誰が受け取り、どこへ引き継ぐかを同時に確認する。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27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246888"/>
            <a:ext cx="43891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変更作業シーケンス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12648"/>
            <a:ext cx="1088136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7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関係者・機器・確認ポイントを、実行順に整理する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728216" y="2628900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94360" y="2519172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調査フェーズ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728216" y="4686300"/>
            <a:ext cx="8735263" cy="0"/>
          </a:xfrm>
          <a:prstGeom prst="line">
            <a:avLst/>
          </a:prstGeom>
          <a:ln w="889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94360" y="4576572"/>
            <a:ext cx="1005840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8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復旧フェーズ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376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運用担当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31060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2676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1830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監視システム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34514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06130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5284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拠点ルータ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7968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09584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8738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センタールータ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41422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13038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521921" y="1591056"/>
            <a:ext cx="12860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回線事業者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9448769" y="2011680"/>
            <a:ext cx="1432316" cy="0"/>
          </a:xfrm>
          <a:prstGeom prst="line">
            <a:avLst/>
          </a:prstGeom>
          <a:ln w="10160">
            <a:solidFill>
              <a:srgbClr val="D1CFC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164927" y="2011680"/>
            <a:ext cx="0" cy="3557016"/>
          </a:xfrm>
          <a:prstGeom prst="line">
            <a:avLst/>
          </a:prstGeom>
          <a:ln w="9525">
            <a:prstDash val="dash"/>
            <a:solidFill>
              <a:srgbClr val="666E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H="1">
            <a:off x="2026767" y="242316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257653" y="21762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障害検知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026767" y="2834640"/>
            <a:ext cx="406908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274923" y="25877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確認依頼</a:t>
            </a:r>
          </a:p>
        </p:txBody>
      </p:sp>
      <p:cxnSp>
        <p:nvCxnSpPr>
          <p:cNvPr id="28" name="Connector 27"/>
          <p:cNvCxnSpPr/>
          <p:nvPr/>
        </p:nvCxnSpPr>
        <p:spPr>
          <a:xfrm flipH="1">
            <a:off x="2026767" y="3246120"/>
            <a:ext cx="406908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274923" y="299923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疎通結果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061307" y="365760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292193" y="341071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ログ確認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095847" y="406908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326733" y="382219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区間切り分け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130387" y="448056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361273" y="423367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回線確認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8130387" y="4892040"/>
            <a:ext cx="2034540" cy="0"/>
          </a:xfrm>
          <a:prstGeom prst="line">
            <a:avLst/>
          </a:prstGeom>
          <a:ln w="13335">
            <a:prstDash val="dash"/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361273" y="4645152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復旧連絡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2026767" y="5303520"/>
            <a:ext cx="2034540" cy="0"/>
          </a:xfrm>
          <a:prstGeom prst="line">
            <a:avLst/>
          </a:prstGeom>
          <a:ln w="13335">
            <a:solidFill>
              <a:srgbClr val="666E7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2257653" y="5056631"/>
            <a:ext cx="1572768" cy="219456"/>
          </a:xfrm>
          <a:prstGeom prst="rect">
            <a:avLst/>
          </a:prstGeom>
          <a:solidFill>
            <a:srgbClr val="F7F5EF"/>
          </a:solidFill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正常性確認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696712"/>
            <a:ext cx="11185855" cy="530352"/>
          </a:xfrm>
          <a:prstGeom prst="rect">
            <a:avLst/>
          </a:prstGeom>
          <a:solidFill>
            <a:srgbClr val="DFE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5833872"/>
            <a:ext cx="5669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1" lang="ja-JP">
                <a:solidFill>
                  <a:srgbClr val="0D7870"/>
                </a:solidFill>
                <a:latin typeface="Yu Gothic"/>
                <a:ea typeface="Yu Gothic"/>
                <a:cs typeface="Yu Gothic"/>
              </a:rPr>
              <a:t>示唆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35608" y="5797296"/>
            <a:ext cx="10015423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メッセージの順序と送受信者を分けて確認し、作業前の認識差を減らす。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6327648"/>
            <a:ext cx="10881360" cy="9144"/>
          </a:xfrm>
          <a:prstGeom prst="rect">
            <a:avLst/>
          </a:prstGeom>
          <a:solidFill>
            <a:srgbClr val="D1CF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6409944"/>
            <a:ext cx="713232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社内スライドパターン検証ギャラリー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05872" y="6382512"/>
            <a:ext cx="113385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1" lang="ja-JP">
                <a:solidFill>
                  <a:srgbClr val="182C43"/>
                </a:solidFill>
                <a:latin typeface="Yu Gothic"/>
                <a:ea typeface="Yu Gothic"/>
                <a:cs typeface="Yu Gothic"/>
              </a:rPr>
              <a:t>28</a:t>
            </a:r>
            <a:r>
              <a:rPr sz="819" b="0" lang="ja-JP">
                <a:solidFill>
                  <a:srgbClr val="666E70"/>
                </a:solidFill>
                <a:latin typeface="Yu Gothic"/>
                <a:ea typeface="Yu Gothic"/>
                <a:cs typeface="Yu Gothic"/>
              </a:rPr>
              <a:t>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