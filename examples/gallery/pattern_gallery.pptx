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docs/product-overview" TargetMode="External"/><Relationship Id="rId3" Type="http://schemas.openxmlformats.org/officeDocument/2006/relationships/hyperlink" Target="https://example.com/docs/operations-guide" TargetMode="External"/><Relationship Id="rId4" Type="http://schemas.openxmlformats.org/officeDocument/2006/relationships/hyperlink" Target="https://example.com/prici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ver Background" descr="cover-background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572768"/>
            <a:ext cx="736092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社内スライド</a:t>
            </a:r>
          </a:p>
          <a:p>
            <a:pPr algn="l">
              <a:lnSpc>
                <a:spcPct val="108000"/>
              </a:lnSpc>
            </a:pPr>
            <a:r>
              <a:rPr sz="42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パターンライブラリ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163824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0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意思決定から技術研修まで、27のTypeを37枚で検証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1080" y="1536192"/>
            <a:ext cx="10972" cy="3186684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79408" y="1664208"/>
            <a:ext cx="2057400" cy="228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1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9408" y="1975104"/>
            <a:ext cx="2148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2026年7月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79408" y="2752344"/>
            <a:ext cx="2057400" cy="228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1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8" y="3063239"/>
            <a:ext cx="2148840" cy="4069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業務企画本部</a:t>
            </a:r>
          </a:p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業務改善推進部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3973068"/>
            <a:ext cx="2057400" cy="2286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1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AUTHOR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4283964"/>
            <a:ext cx="21488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業務改善検討チーム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029968"/>
            <a:ext cx="4663440" cy="297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第2章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601976"/>
            <a:ext cx="95554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導入計画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449320"/>
            <a:ext cx="955548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試験導入から展開判断まで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02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検討手順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意思決定資料は、論点を3段階で組み立てる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69533"/>
            <a:ext cx="420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5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737360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判断したい論点を1文で定義し、読み手と目的を揃える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1353312" y="2193544"/>
            <a:ext cx="7094601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54901"/>
            <a:ext cx="420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5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522728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事実と制約を整理し、選択肢ごとの違いを比較する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53312" y="2978912"/>
            <a:ext cx="7094601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40269"/>
            <a:ext cx="4206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5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308096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推奨案と実施条件を示し、次の判断につなげる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312" y="3764279"/>
            <a:ext cx="7094601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03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判断材料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移行判断では、費用・影響・運用条件を揃える</a:t>
            </a:r>
          </a:p>
        </p:txBody>
      </p:sp>
      <p:sp>
        <p:nvSpPr>
          <p:cNvPr id="5" name="Oval 4"/>
          <p:cNvSpPr/>
          <p:nvPr/>
        </p:nvSpPr>
        <p:spPr>
          <a:xfrm>
            <a:off x="950976" y="1853658"/>
            <a:ext cx="128016" cy="128016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1737360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初期費用と継続費用を分け、比較期間を統一する</a:t>
            </a:r>
          </a:p>
        </p:txBody>
      </p:sp>
      <p:sp>
        <p:nvSpPr>
          <p:cNvPr id="7" name="Oval 6"/>
          <p:cNvSpPr/>
          <p:nvPr/>
        </p:nvSpPr>
        <p:spPr>
          <a:xfrm>
            <a:off x="950976" y="2639026"/>
            <a:ext cx="128016" cy="128016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2522728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利用部門・既存業務・周辺システムへの影響を確認する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950976" y="3424394"/>
            <a:ext cx="128016" cy="128016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3308096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移行中の停止時間と、切り戻し条件を明確にする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4209762"/>
            <a:ext cx="128016" cy="128016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4093464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運用開始後の責任分界と問い合わせ窓口を決める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04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実施準備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リリース前に、残タスクと完了条件を確認する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1807938"/>
            <a:ext cx="219456" cy="219456"/>
          </a:xfrm>
          <a:prstGeom prst="rect">
            <a:avLst/>
          </a:prstGeom>
          <a:solidFill>
            <a:srgbClr val="0D7870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782334"/>
            <a:ext cx="21945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37360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566062"/>
                </a:solidFill>
                <a:latin typeface="Yu Gothic"/>
                <a:ea typeface="Yu Gothic"/>
                <a:cs typeface="Yu Gothic"/>
              </a:rPr>
              <a:t>本番手順と切り戻し手順のレビュー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" y="2593306"/>
            <a:ext cx="219456" cy="219456"/>
          </a:xfrm>
          <a:prstGeom prst="rect">
            <a:avLst/>
          </a:prstGeom>
          <a:solidFill>
            <a:srgbClr val="0D7870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567702"/>
            <a:ext cx="21945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522728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566062"/>
                </a:solidFill>
                <a:latin typeface="Yu Gothic"/>
                <a:ea typeface="Yu Gothic"/>
                <a:cs typeface="Yu Gothic"/>
              </a:rPr>
              <a:t>関係部門への実施日時と影響範囲の連絡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" y="3378674"/>
            <a:ext cx="219456" cy="219456"/>
          </a:xfrm>
          <a:prstGeom prst="rect">
            <a:avLst/>
          </a:prstGeom>
          <a:solidFill>
            <a:srgbClr val="F7F5EF"/>
          </a:solidFill>
          <a:ln w="9525">
            <a:solidFill>
              <a:srgbClr val="66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3308096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監視項目・通知先・初動担当の最終確認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" y="4164042"/>
            <a:ext cx="219456" cy="219456"/>
          </a:xfrm>
          <a:prstGeom prst="rect">
            <a:avLst/>
          </a:prstGeom>
          <a:solidFill>
            <a:srgbClr val="F7F5EF"/>
          </a:solidFill>
          <a:ln w="9525">
            <a:solidFill>
              <a:srgbClr val="666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4093464"/>
            <a:ext cx="8823960" cy="383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リリース判定会議での承認取得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05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KPIスナップショット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KPIは数値を主役にし、判断材料を添える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33101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作成時間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33101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-72%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44368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週次報告の作成時間が平均45分から13分に短縮。下書き作成の自動化が主因。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3672" y="1865376"/>
            <a:ext cx="10972" cy="2414016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828800"/>
            <a:ext cx="33101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手直し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2212848"/>
            <a:ext cx="33101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8分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2944368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生成後の確認と語尾修正に平均8分。テンプレート崩れは検出なし。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4424" y="1865376"/>
            <a:ext cx="10972" cy="2414016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828800"/>
            <a:ext cx="33101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再利用率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212848"/>
            <a:ext cx="3310127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64%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944368"/>
            <a:ext cx="33101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一度作った構造化データを翌週も流用でき、定型資料ほど効果が高い。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06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Before /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導入前後の違いを、同じ観点で比較する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719072"/>
            <a:ext cx="5212080" cy="324307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1984248"/>
            <a:ext cx="4517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現状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304288"/>
            <a:ext cx="4517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導入前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2416" y="2779776"/>
            <a:ext cx="4517136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95351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944368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担当者ごとにスライド構成がばらつき、レビュー観点も揃わない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4752" y="3501136"/>
            <a:ext cx="4206240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59257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583432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グラフや表の貼り付け後に、余白・フォント・禁則を手作業で直す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4752" y="4140200"/>
            <a:ext cx="4206240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23164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4222496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過去資料をコピーして使うため、古い文言や注記が残りやすい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719072"/>
            <a:ext cx="5212080" cy="3243072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1984248"/>
            <a:ext cx="45171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目標状態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304288"/>
            <a:ext cx="45171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導入後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38544" y="2779776"/>
            <a:ext cx="4517136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295351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944368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入力schemaに沿って文言を作るため、構成の揺れを抑えられる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501136"/>
            <a:ext cx="4206240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59257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583432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rendererが余白・フォント・描画順を決め、提出前の確認に集中できる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4140200"/>
            <a:ext cx="4206240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4231640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222496"/>
            <a:ext cx="4206240" cy="474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品質ゲートで重なりやはみ出しを検知し、修正箇所を特定しやすい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07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方式比較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選定理由と見送り理由を、同じ粒度で比較する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90979"/>
          <a:ext cx="11185852" cy="3511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9167"/>
                <a:gridCol w="2693004"/>
                <a:gridCol w="3313759"/>
                <a:gridCol w="2899922"/>
              </a:tblGrid>
              <a:tr h="65836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方式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向いている用途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強み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FFFFFC"/>
                          </a:solidFill>
                          <a:latin typeface="Yu Gothic"/>
                          <a:ea typeface="Yu Gothic"/>
                          <a:cs typeface="Yu Gothic"/>
                        </a:rPr>
                        <a:t>注意点</a:t>
                      </a:r>
                    </a:p>
                  </a:txBody>
                  <a:tcPr anchor="ctr" marL="82296" marR="82296" marT="36576" marB="36576">
                    <a:solidFill>
                      <a:srgbClr val="182C43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renderer カタログ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社内標準資料・定型報告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品質を詰めた型を再利用できる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新しい型は実装が必要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万能宣言レイアウト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図の大量バリエーション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座標指定を減らせる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エンジンが複雑化しやすい</a:t>
                      </a:r>
                    </a:p>
                  </a:txBody>
                  <a:tcPr anchor="ctr" marL="82296" marR="82296" marT="36576" marB="36576">
                    <a:solidFill>
                      <a:srgbClr val="FAF9F5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1" lang="ja-JP">
                          <a:solidFill>
                            <a:srgbClr val="182C43"/>
                          </a:solidFill>
                          <a:latin typeface="Yu Gothic"/>
                          <a:ea typeface="Yu Gothic"/>
                          <a:cs typeface="Yu Gothic"/>
                        </a:rPr>
                        <a:t>手作業PPT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一点物の重要提案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細部まで作り込める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350" b="0" lang="ja-JP">
                          <a:solidFill>
                            <a:srgbClr val="202729"/>
                          </a:solidFill>
                          <a:latin typeface="Yu Gothic"/>
                          <a:ea typeface="Yu Gothic"/>
                          <a:cs typeface="Yu Gothic"/>
                        </a:rPr>
                        <a:t>再現性と量産性が低い</a:t>
                      </a:r>
                    </a:p>
                  </a:txBody>
                  <a:tcPr anchor="ctr" marL="82296" marR="82296" marT="36576" marB="36576"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08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効果測定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資料作成時間を最大72%短縮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41448" y="1783080"/>
            <a:ext cx="0" cy="370332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76856" y="5559552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54296" y="1783080"/>
            <a:ext cx="0" cy="370332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89704" y="5559552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67144" y="1783080"/>
            <a:ext cx="0" cy="370332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02552" y="5559552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200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79992" y="1783080"/>
            <a:ext cx="0" cy="370332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15400" y="5559552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300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292840" y="1783080"/>
            <a:ext cx="0" cy="370332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28248" y="5559552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400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41448" y="5486400"/>
            <a:ext cx="8851392" cy="0"/>
          </a:xfrm>
          <a:prstGeom prst="line">
            <a:avLst/>
          </a:prstGeom>
          <a:ln w="10160">
            <a:solidFill>
              <a:srgbClr val="66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210883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4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週次報告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2026539"/>
            <a:ext cx="995781" cy="20116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2093" y="2008251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45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1448" y="2264283"/>
            <a:ext cx="287670" cy="201168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3982" y="2245995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03466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4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月次レビュー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41448" y="2952369"/>
            <a:ext cx="2655417" cy="20116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51729" y="2934081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41448" y="3190113"/>
            <a:ext cx="929396" cy="201168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5708" y="3171825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960495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4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調査サマリ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41448" y="3878199"/>
            <a:ext cx="5310835" cy="20116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7147" y="3859911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240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41448" y="4115943"/>
            <a:ext cx="1880920" cy="201168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7232" y="4097655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886324"/>
            <a:ext cx="1389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4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役員向け抜粋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41448" y="4804028"/>
            <a:ext cx="1991563" cy="20116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7875" y="4785741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90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41448" y="5041772"/>
            <a:ext cx="619597" cy="201168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15909" y="5023484"/>
            <a:ext cx="5120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35607" y="5788152"/>
            <a:ext cx="109728" cy="10972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199" y="572414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従来 (分)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7" y="5788152"/>
            <a:ext cx="109728" cy="109728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572414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生成後 (分)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値は検証用のサンプルデータ。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09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利用推移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月次利用率は、試行開始から継続的に上昇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17319" y="5138927"/>
            <a:ext cx="9848089" cy="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6695" y="5056631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19" y="4299966"/>
            <a:ext cx="9848089" cy="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96695" y="4217670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19" y="3461003"/>
            <a:ext cx="9848089" cy="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96695" y="3378707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40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19" y="2622041"/>
            <a:ext cx="9848089" cy="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6695" y="2539746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60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19" y="1783079"/>
            <a:ext cx="9848089" cy="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6695" y="1700783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80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19" y="1783080"/>
            <a:ext cx="0" cy="3355847"/>
          </a:xfrm>
          <a:prstGeom prst="line">
            <a:avLst/>
          </a:prstGeom>
          <a:ln w="10160">
            <a:solidFill>
              <a:srgbClr val="66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17319" y="5138927"/>
            <a:ext cx="9848089" cy="0"/>
          </a:xfrm>
          <a:prstGeom prst="line">
            <a:avLst/>
          </a:prstGeom>
          <a:ln w="10160">
            <a:solidFill>
              <a:srgbClr val="66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06423" y="5230367"/>
            <a:ext cx="621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4月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7435" y="5230367"/>
            <a:ext cx="621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5月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8446" y="5230367"/>
            <a:ext cx="621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6月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9457" y="5230367"/>
            <a:ext cx="621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7月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0468" y="5230367"/>
            <a:ext cx="621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8月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1479" y="5230367"/>
            <a:ext cx="621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9月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2490" y="5230367"/>
            <a:ext cx="621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10月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3501" y="5230367"/>
            <a:ext cx="621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11月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4512" y="5230367"/>
            <a:ext cx="621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12月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417319" y="4383862"/>
            <a:ext cx="1231012" cy="251688"/>
          </a:xfrm>
          <a:prstGeom prst="line">
            <a:avLst/>
          </a:prstGeom>
          <a:ln w="22860">
            <a:solidFill>
              <a:srgbClr val="0D7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648331" y="4090225"/>
            <a:ext cx="1231010" cy="293637"/>
          </a:xfrm>
          <a:prstGeom prst="line">
            <a:avLst/>
          </a:prstGeom>
          <a:ln w="22860">
            <a:solidFill>
              <a:srgbClr val="0D7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79341" y="3838536"/>
            <a:ext cx="1231012" cy="251689"/>
          </a:xfrm>
          <a:prstGeom prst="line">
            <a:avLst/>
          </a:prstGeom>
          <a:ln w="22860">
            <a:solidFill>
              <a:srgbClr val="0D7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110353" y="3293211"/>
            <a:ext cx="1231011" cy="545325"/>
          </a:xfrm>
          <a:prstGeom prst="line">
            <a:avLst/>
          </a:prstGeom>
          <a:ln w="22860">
            <a:solidFill>
              <a:srgbClr val="0D7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341364" y="2957626"/>
            <a:ext cx="1231011" cy="335585"/>
          </a:xfrm>
          <a:prstGeom prst="line">
            <a:avLst/>
          </a:prstGeom>
          <a:ln w="22860">
            <a:solidFill>
              <a:srgbClr val="0D7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572375" y="2580093"/>
            <a:ext cx="1231011" cy="377533"/>
          </a:xfrm>
          <a:prstGeom prst="line">
            <a:avLst/>
          </a:prstGeom>
          <a:ln w="22860">
            <a:solidFill>
              <a:srgbClr val="0D7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803386" y="2328405"/>
            <a:ext cx="1231011" cy="251688"/>
          </a:xfrm>
          <a:prstGeom prst="line">
            <a:avLst/>
          </a:prstGeom>
          <a:ln w="22860">
            <a:solidFill>
              <a:srgbClr val="0D7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034397" y="2034768"/>
            <a:ext cx="1231011" cy="293637"/>
          </a:xfrm>
          <a:prstGeom prst="line">
            <a:avLst/>
          </a:prstGeom>
          <a:ln w="22860">
            <a:solidFill>
              <a:srgbClr val="0D7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371599" y="4589830"/>
            <a:ext cx="91440" cy="91440"/>
          </a:xfrm>
          <a:prstGeom prst="ellipse">
            <a:avLst/>
          </a:prstGeom>
          <a:solidFill>
            <a:srgbClr val="0D7870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602611" y="4338142"/>
            <a:ext cx="91440" cy="91440"/>
          </a:xfrm>
          <a:prstGeom prst="ellipse">
            <a:avLst/>
          </a:prstGeom>
          <a:solidFill>
            <a:srgbClr val="0D7870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33622" y="4044505"/>
            <a:ext cx="91440" cy="91440"/>
          </a:xfrm>
          <a:prstGeom prst="ellipse">
            <a:avLst/>
          </a:prstGeom>
          <a:solidFill>
            <a:srgbClr val="0D7870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64633" y="3792816"/>
            <a:ext cx="91440" cy="91440"/>
          </a:xfrm>
          <a:prstGeom prst="ellipse">
            <a:avLst/>
          </a:prstGeom>
          <a:solidFill>
            <a:srgbClr val="0D7870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95644" y="3247491"/>
            <a:ext cx="91440" cy="91440"/>
          </a:xfrm>
          <a:prstGeom prst="ellipse">
            <a:avLst/>
          </a:prstGeom>
          <a:solidFill>
            <a:srgbClr val="0D7870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26654" y="2911906"/>
            <a:ext cx="91440" cy="91440"/>
          </a:xfrm>
          <a:prstGeom prst="ellipse">
            <a:avLst/>
          </a:prstGeom>
          <a:solidFill>
            <a:srgbClr val="0D7870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757666" y="2534373"/>
            <a:ext cx="91440" cy="91440"/>
          </a:xfrm>
          <a:prstGeom prst="ellipse">
            <a:avLst/>
          </a:prstGeom>
          <a:solidFill>
            <a:srgbClr val="0D7870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988677" y="2282685"/>
            <a:ext cx="91440" cy="91440"/>
          </a:xfrm>
          <a:prstGeom prst="ellipse">
            <a:avLst/>
          </a:prstGeom>
          <a:solidFill>
            <a:srgbClr val="0D7870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219688" y="1989048"/>
            <a:ext cx="91440" cy="91440"/>
          </a:xfrm>
          <a:prstGeom prst="ellipse">
            <a:avLst/>
          </a:prstGeom>
          <a:solidFill>
            <a:srgbClr val="0D7870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1417319" y="4090225"/>
            <a:ext cx="1231012" cy="209741"/>
          </a:xfrm>
          <a:prstGeom prst="line">
            <a:avLst/>
          </a:prstGeom>
          <a:ln w="22860">
            <a:solidFill>
              <a:srgbClr val="182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648331" y="3880484"/>
            <a:ext cx="1231010" cy="209741"/>
          </a:xfrm>
          <a:prstGeom prst="line">
            <a:avLst/>
          </a:prstGeom>
          <a:ln w="22860">
            <a:solidFill>
              <a:srgbClr val="182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79341" y="3670744"/>
            <a:ext cx="1231012" cy="209740"/>
          </a:xfrm>
          <a:prstGeom prst="line">
            <a:avLst/>
          </a:prstGeom>
          <a:ln w="22860">
            <a:solidFill>
              <a:srgbClr val="182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110353" y="3461003"/>
            <a:ext cx="1231011" cy="209741"/>
          </a:xfrm>
          <a:prstGeom prst="line">
            <a:avLst/>
          </a:prstGeom>
          <a:ln w="22860">
            <a:solidFill>
              <a:srgbClr val="182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6341364" y="3041522"/>
            <a:ext cx="1231011" cy="419481"/>
          </a:xfrm>
          <a:prstGeom prst="line">
            <a:avLst/>
          </a:prstGeom>
          <a:ln w="22860">
            <a:solidFill>
              <a:srgbClr val="182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7572375" y="2622041"/>
            <a:ext cx="1231011" cy="419481"/>
          </a:xfrm>
          <a:prstGeom prst="line">
            <a:avLst/>
          </a:prstGeom>
          <a:ln w="22860">
            <a:solidFill>
              <a:srgbClr val="182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803386" y="2202560"/>
            <a:ext cx="1231011" cy="419481"/>
          </a:xfrm>
          <a:prstGeom prst="line">
            <a:avLst/>
          </a:prstGeom>
          <a:ln w="22860">
            <a:solidFill>
              <a:srgbClr val="182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034397" y="1783079"/>
            <a:ext cx="1231011" cy="419481"/>
          </a:xfrm>
          <a:prstGeom prst="line">
            <a:avLst/>
          </a:prstGeom>
          <a:ln w="22860">
            <a:solidFill>
              <a:srgbClr val="182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371599" y="4254246"/>
            <a:ext cx="91440" cy="91440"/>
          </a:xfrm>
          <a:prstGeom prst="ellipse">
            <a:avLst/>
          </a:prstGeom>
          <a:solidFill>
            <a:srgbClr val="182C43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602611" y="4044505"/>
            <a:ext cx="91440" cy="91440"/>
          </a:xfrm>
          <a:prstGeom prst="ellipse">
            <a:avLst/>
          </a:prstGeom>
          <a:solidFill>
            <a:srgbClr val="182C43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833622" y="3834764"/>
            <a:ext cx="91440" cy="91440"/>
          </a:xfrm>
          <a:prstGeom prst="ellipse">
            <a:avLst/>
          </a:prstGeom>
          <a:solidFill>
            <a:srgbClr val="182C43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064633" y="3625024"/>
            <a:ext cx="91440" cy="91440"/>
          </a:xfrm>
          <a:prstGeom prst="ellipse">
            <a:avLst/>
          </a:prstGeom>
          <a:solidFill>
            <a:srgbClr val="182C43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295644" y="3415283"/>
            <a:ext cx="91440" cy="91440"/>
          </a:xfrm>
          <a:prstGeom prst="ellipse">
            <a:avLst/>
          </a:prstGeom>
          <a:solidFill>
            <a:srgbClr val="182C43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526654" y="2995802"/>
            <a:ext cx="91440" cy="91440"/>
          </a:xfrm>
          <a:prstGeom prst="ellipse">
            <a:avLst/>
          </a:prstGeom>
          <a:solidFill>
            <a:srgbClr val="182C43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757666" y="2576322"/>
            <a:ext cx="91440" cy="91440"/>
          </a:xfrm>
          <a:prstGeom prst="ellipse">
            <a:avLst/>
          </a:prstGeom>
          <a:solidFill>
            <a:srgbClr val="182C43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988677" y="2156840"/>
            <a:ext cx="91440" cy="91440"/>
          </a:xfrm>
          <a:prstGeom prst="ellipse">
            <a:avLst/>
          </a:prstGeom>
          <a:solidFill>
            <a:srgbClr val="182C43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219688" y="1737359"/>
            <a:ext cx="91440" cy="91440"/>
          </a:xfrm>
          <a:prstGeom prst="ellipse">
            <a:avLst/>
          </a:prstGeom>
          <a:solidFill>
            <a:srgbClr val="182C43"/>
          </a:solidFill>
          <a:ln w="7620">
            <a:solidFill>
              <a:srgbClr val="FFF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35607" y="5788152"/>
            <a:ext cx="109728" cy="10972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00199" y="572414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利用率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10127" y="5788152"/>
            <a:ext cx="109728" cy="109728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74720" y="572414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目標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値は検証用のサンプルデータ。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10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工数内訳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自動化後は、作成よりレビューへ時間を配分できる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17319" y="5138927"/>
            <a:ext cx="9848089" cy="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6695" y="5056631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19" y="4299966"/>
            <a:ext cx="9848089" cy="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96695" y="4217670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50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19" y="3461003"/>
            <a:ext cx="9848089" cy="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96695" y="3378707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19" y="2622041"/>
            <a:ext cx="9848089" cy="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6695" y="2539746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150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19" y="1783079"/>
            <a:ext cx="9848089" cy="0"/>
          </a:xfrm>
          <a:prstGeom prst="line">
            <a:avLst/>
          </a:prstGeom>
          <a:ln w="6985">
            <a:solidFill>
              <a:srgbClr val="D1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6695" y="1700783"/>
            <a:ext cx="3291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78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200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17319" y="1783080"/>
            <a:ext cx="0" cy="3355847"/>
          </a:xfrm>
          <a:prstGeom prst="line">
            <a:avLst/>
          </a:prstGeom>
          <a:ln w="10160">
            <a:solidFill>
              <a:srgbClr val="66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17319" y="5138927"/>
            <a:ext cx="9848089" cy="0"/>
          </a:xfrm>
          <a:prstGeom prst="line">
            <a:avLst/>
          </a:prstGeom>
          <a:ln w="10160">
            <a:solidFill>
              <a:srgbClr val="666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44751" y="5230367"/>
            <a:ext cx="32278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導入前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93491" y="3964381"/>
            <a:ext cx="530352" cy="1174546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93491" y="3628796"/>
            <a:ext cx="530352" cy="335584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3491" y="3461003"/>
            <a:ext cx="530352" cy="167792"/>
          </a:xfrm>
          <a:prstGeom prst="rect">
            <a:avLst/>
          </a:prstGeom>
          <a:solidFill>
            <a:srgbClr val="C7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5230367"/>
            <a:ext cx="32278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試行中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6188" y="4501316"/>
            <a:ext cx="530352" cy="637611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76188" y="3964381"/>
            <a:ext cx="530352" cy="536935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76188" y="3461003"/>
            <a:ext cx="530352" cy="503377"/>
          </a:xfrm>
          <a:prstGeom prst="rect">
            <a:avLst/>
          </a:prstGeom>
          <a:solidFill>
            <a:srgbClr val="C7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0144" y="5230367"/>
            <a:ext cx="32278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標準化後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58884" y="4836901"/>
            <a:ext cx="530352" cy="302026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58884" y="4132173"/>
            <a:ext cx="530352" cy="704728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58884" y="3461003"/>
            <a:ext cx="530352" cy="671169"/>
          </a:xfrm>
          <a:prstGeom prst="rect">
            <a:avLst/>
          </a:prstGeom>
          <a:solidFill>
            <a:srgbClr val="C7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35607" y="5788152"/>
            <a:ext cx="109728" cy="10972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199" y="572414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作成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0127" y="5788152"/>
            <a:ext cx="109728" cy="109728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572414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レビュー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648" y="5788152"/>
            <a:ext cx="109728" cy="109728"/>
          </a:xfrm>
          <a:prstGeom prst="rect">
            <a:avLst/>
          </a:prstGeom>
          <a:solidFill>
            <a:srgbClr val="C7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5724144"/>
            <a:ext cx="15727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意思決定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構成比を示すサンプル。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11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画面イメージ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画面キャプチャを、スライドの主役として大きく見せる</a:t>
            </a:r>
          </a:p>
        </p:txBody>
      </p:sp>
      <p:pic>
        <p:nvPicPr>
          <p:cNvPr id="5" name="ContentImage" descr="GitHubで公開されているpptxdslリポジトリのトップ画面"/>
          <p:cNvPicPr>
            <a:picLocks noChangeAspect="1"/>
          </p:cNvPicPr>
          <p:nvPr/>
        </p:nvPicPr>
        <p:blipFill>
          <a:blip r:embed="rId2"/>
          <a:srcRect t="7889" b="7889"/>
          <a:stretch>
            <a:fillRect/>
          </a:stretch>
        </p:blipFill>
        <p:spPr>
          <a:xfrm>
            <a:off x="658368" y="1499616"/>
            <a:ext cx="10874959" cy="4727448"/>
          </a:xfrm>
          <a:prstGeom prst="rect">
            <a:avLst/>
          </a:prstGeom>
          <a:effectLst>
            <a:outerShdw blurRad="76200" dist="50800" dir="2700000" algn="ctr" rotWithShape="0">
              <a:srgbClr val="000000">
                <a:alpha val="28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12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画面比較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変更前後のスクリーンショットを左右で比較する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1444752"/>
            <a:ext cx="5212080" cy="35661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66420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変更前</a:t>
            </a:r>
          </a:p>
        </p:txBody>
      </p:sp>
      <p:pic>
        <p:nvPicPr>
          <p:cNvPr id="7" name="ComparisonImage" descr="GitHubで公開されているpptxdslリポジトリのトップ画面"/>
          <p:cNvPicPr>
            <a:picLocks noChangeAspect="1"/>
          </p:cNvPicPr>
          <p:nvPr/>
        </p:nvPicPr>
        <p:blipFill>
          <a:blip r:embed="rId2"/>
          <a:srcRect l="4407" r="4407"/>
          <a:stretch>
            <a:fillRect/>
          </a:stretch>
        </p:blipFill>
        <p:spPr>
          <a:xfrm>
            <a:off x="877824" y="2084832"/>
            <a:ext cx="4846320" cy="2743200"/>
          </a:xfrm>
          <a:prstGeom prst="rect">
            <a:avLst/>
          </a:prstGeom>
          <a:effectLst>
            <a:outerShdw blurRad="76200" dist="50800" dir="2700000" algn="ctr" rotWithShape="0">
              <a:srgbClr val="000000">
                <a:alpha val="28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6291072" y="1444752"/>
            <a:ext cx="5212080" cy="3566160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66420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変更後</a:t>
            </a:r>
          </a:p>
        </p:txBody>
      </p:sp>
      <p:pic>
        <p:nvPicPr>
          <p:cNvPr id="10" name="ComparisonImage" descr="濃紺のグラデーションに幾何学的な線を重ねた背景素材"/>
          <p:cNvPicPr>
            <a:picLocks noChangeAspect="1"/>
          </p:cNvPicPr>
          <p:nvPr/>
        </p:nvPicPr>
        <p:blipFill>
          <a:blip r:embed="rId3"/>
          <a:srcRect l="286" r="286"/>
          <a:stretch>
            <a:fillRect/>
          </a:stretch>
        </p:blipFill>
        <p:spPr>
          <a:xfrm>
            <a:off x="6473952" y="2084832"/>
            <a:ext cx="4846320" cy="2743200"/>
          </a:xfrm>
          <a:prstGeom prst="rect">
            <a:avLst/>
          </a:prstGeom>
          <a:effectLst>
            <a:outerShdw blurRad="76200" dist="50800" dir="2700000" algn="ctr" rotWithShape="0">
              <a:srgbClr val="000000">
                <a:alpha val="28000"/>
              </a:srgbClr>
            </a:outerShdw>
          </a:effectLst>
        </p:spPr>
      </p:pic>
      <p:sp>
        <p:nvSpPr>
          <p:cNvPr id="11" name="Rectangle 1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13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標準プロセス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資料生成は5つの工程で品質を担保する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4908" y="2212848"/>
            <a:ext cx="8573414" cy="3200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1444" y="1947672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1444" y="2029967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88336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入力整理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55264"/>
            <a:ext cx="183245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目的・読み手・必須メッセージを整理する。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818888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084064"/>
            <a:ext cx="18690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資料要件</a:t>
            </a:r>
          </a:p>
        </p:txBody>
      </p:sp>
      <p:sp>
        <p:nvSpPr>
          <p:cNvPr id="12" name="Oval 11"/>
          <p:cNvSpPr/>
          <p:nvPr/>
        </p:nvSpPr>
        <p:spPr>
          <a:xfrm>
            <a:off x="3644798" y="1947672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4798" y="2029967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025" y="2688336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構造化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2033" y="3255264"/>
            <a:ext cx="183245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schemaに沿ってスライド種別と文言を作る。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3745" y="4818888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3745" y="5084064"/>
            <a:ext cx="18690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schema</a:t>
            </a:r>
          </a:p>
        </p:txBody>
      </p:sp>
      <p:sp>
        <p:nvSpPr>
          <p:cNvPr id="18" name="Oval 17"/>
          <p:cNvSpPr/>
          <p:nvPr/>
        </p:nvSpPr>
        <p:spPr>
          <a:xfrm>
            <a:off x="5788152" y="1947672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2029967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1379" y="2688336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5387" y="3255264"/>
            <a:ext cx="183245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rendererがPPTXを決定論的に出力する。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7099" y="4818888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7099" y="5084064"/>
            <a:ext cx="18690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PPTX</a:t>
            </a:r>
          </a:p>
        </p:txBody>
      </p:sp>
      <p:sp>
        <p:nvSpPr>
          <p:cNvPr id="24" name="Oval 23"/>
          <p:cNvSpPr/>
          <p:nvPr/>
        </p:nvSpPr>
        <p:spPr>
          <a:xfrm>
            <a:off x="7931505" y="1947672"/>
            <a:ext cx="566928" cy="566928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1505" y="2029967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4732" y="2688336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検証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8740" y="3255264"/>
            <a:ext cx="183245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機械検知と目視で崩れを確認する。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0452" y="4818888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0452" y="5084064"/>
            <a:ext cx="18690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機械 + 目視</a:t>
            </a:r>
          </a:p>
        </p:txBody>
      </p:sp>
      <p:sp>
        <p:nvSpPr>
          <p:cNvPr id="30" name="Oval 29"/>
          <p:cNvSpPr/>
          <p:nvPr/>
        </p:nvSpPr>
        <p:spPr>
          <a:xfrm>
            <a:off x="10074859" y="1947672"/>
            <a:ext cx="566928" cy="56692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4859" y="2029967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8086" y="2688336"/>
            <a:ext cx="196047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提出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2094" y="3255264"/>
            <a:ext cx="183245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contentを直して再生成し、提出する。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3806" y="4818888"/>
            <a:ext cx="186903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3806" y="5084064"/>
            <a:ext cx="18690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提出可能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14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承認フロー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通常の承認経路と差戻しを、迷わず追える形で示す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94660" y="2517343"/>
            <a:ext cx="51206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43016" y="2517343"/>
            <a:ext cx="51206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691372" y="2517343"/>
            <a:ext cx="51206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91372" y="2517343"/>
            <a:ext cx="256032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47404" y="2517343"/>
            <a:ext cx="0" cy="1316736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47404" y="3834079"/>
            <a:ext cx="25603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371582" y="4327855"/>
            <a:ext cx="0" cy="384048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674870" y="4711903"/>
            <a:ext cx="5696712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674870" y="3011119"/>
            <a:ext cx="0" cy="1700784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58368" y="2023567"/>
            <a:ext cx="2336292" cy="987552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142439"/>
            <a:ext cx="20802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申請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480767"/>
            <a:ext cx="2061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必要事項を登録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764231"/>
            <a:ext cx="20619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申請部門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6724" y="2023567"/>
            <a:ext cx="2336292" cy="987552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4740" y="2142439"/>
            <a:ext cx="20802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形式確認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3884" y="2480767"/>
            <a:ext cx="2061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不足項目を確認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3884" y="2764231"/>
            <a:ext cx="20619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事務局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023567"/>
            <a:ext cx="2336292" cy="987552"/>
          </a:xfrm>
          <a:prstGeom prst="rect">
            <a:avLst/>
          </a:prstGeom>
          <a:solidFill>
            <a:srgbClr val="DFEBE8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2142439"/>
            <a:ext cx="20802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内容審査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480767"/>
            <a:ext cx="2061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妥当性とリスクを確認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764231"/>
            <a:ext cx="20619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審査部門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3436" y="2023567"/>
            <a:ext cx="2336292" cy="987552"/>
          </a:xfrm>
          <a:prstGeom prst="rect">
            <a:avLst/>
          </a:prstGeom>
          <a:solidFill>
            <a:srgbClr val="FAF9F5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1452" y="2142439"/>
            <a:ext cx="20802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実施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0596" y="2480767"/>
            <a:ext cx="2061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承認内容に沿って着手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0596" y="2764231"/>
            <a:ext cx="20619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実施部門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03436" y="3340303"/>
            <a:ext cx="2336292" cy="987552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1452" y="3459175"/>
            <a:ext cx="20802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修正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0596" y="3797503"/>
            <a:ext cx="20619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指摘事項を反映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0596" y="4080967"/>
            <a:ext cx="206197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申請部門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8527" y="2439682"/>
            <a:ext cx="317754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承認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1948" y="3756418"/>
            <a:ext cx="430911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要修正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7770" y="4634242"/>
            <a:ext cx="430911" cy="155321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再申請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15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展開計画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12か月で型の整備から全社標準へ移行する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2542032" cy="40233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55064"/>
            <a:ext cx="2212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テーマ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91056"/>
            <a:ext cx="8311896" cy="40233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4月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3058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5月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5716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8374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7月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8月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3690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9月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6348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10月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9005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11月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663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12月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322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26980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2月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9638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3月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1993392"/>
            <a:ext cx="10853928" cy="768096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788920"/>
            <a:ext cx="10853928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273552"/>
            <a:ext cx="10853928" cy="768096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069080"/>
            <a:ext cx="10853928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53712"/>
            <a:ext cx="10853928" cy="768096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200400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93058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85716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78374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71031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63690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56348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49005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41663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434322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126980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19638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512296" y="1993392"/>
            <a:ext cx="0" cy="3328416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58368" y="1993392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8096" y="2057400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2039112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型の定義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" y="2258568"/>
            <a:ext cx="193852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主要パターンを選定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232404" y="2098548"/>
            <a:ext cx="1321308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248406" y="2130552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標準レイアウトを定義</a:t>
            </a:r>
          </a:p>
        </p:txBody>
      </p:sp>
      <p:sp>
        <p:nvSpPr>
          <p:cNvPr id="44" name="Diamond 43"/>
          <p:cNvSpPr/>
          <p:nvPr/>
        </p:nvSpPr>
        <p:spPr>
          <a:xfrm>
            <a:off x="4179951" y="2350008"/>
            <a:ext cx="118872" cy="118872"/>
          </a:xfrm>
          <a:prstGeom prst="diamond">
            <a:avLst/>
          </a:prstGeom>
          <a:solidFill>
            <a:srgbClr val="C7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68915" y="2473452"/>
            <a:ext cx="1140942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型レビュー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58368" y="2788920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68096" y="2852928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" y="2834640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実装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" y="3054096"/>
            <a:ext cx="193852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rendererを整備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925062" y="2894076"/>
            <a:ext cx="2013965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287393" y="2926080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生成・検証機能を実装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" y="3273552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68096" y="3337560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" y="3319272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現場検証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3856" y="3538728"/>
            <a:ext cx="193852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複数部門で試行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310378" y="3378708"/>
            <a:ext cx="2706623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019038" y="3410712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パイロット運用</a:t>
            </a:r>
          </a:p>
        </p:txBody>
      </p:sp>
      <p:sp>
        <p:nvSpPr>
          <p:cNvPr id="58" name="Diamond 57"/>
          <p:cNvSpPr/>
          <p:nvPr/>
        </p:nvSpPr>
        <p:spPr>
          <a:xfrm>
            <a:off x="7643241" y="3630168"/>
            <a:ext cx="118872" cy="118872"/>
          </a:xfrm>
          <a:prstGeom prst="diamond">
            <a:avLst/>
          </a:prstGeom>
          <a:solidFill>
            <a:srgbClr val="C7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205" y="3753612"/>
            <a:ext cx="1140942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展開判断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58368" y="4069080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68096" y="4133088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" y="4114800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改善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" y="4334256"/>
            <a:ext cx="193852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利用結果を反映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388352" y="4174236"/>
            <a:ext cx="2013965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750682" y="4206240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品質・操作性を改善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58368" y="4553712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68096" y="4617720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3856" y="4599432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標準化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" y="4818888"/>
            <a:ext cx="193852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全社手順へ組込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466326" y="4658868"/>
            <a:ext cx="2013966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9828657" y="4690872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標準運用へ移行</a:t>
            </a:r>
          </a:p>
        </p:txBody>
      </p:sp>
      <p:sp>
        <p:nvSpPr>
          <p:cNvPr id="72" name="Diamond 71"/>
          <p:cNvSpPr/>
          <p:nvPr/>
        </p:nvSpPr>
        <p:spPr>
          <a:xfrm>
            <a:off x="11106531" y="4910328"/>
            <a:ext cx="118872" cy="118872"/>
          </a:xfrm>
          <a:prstGeom prst="diamond">
            <a:avLst/>
          </a:prstGeom>
          <a:solidFill>
            <a:srgbClr val="C75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53065" y="5033772"/>
            <a:ext cx="1140942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標準化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58368" y="5321808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16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年間プログラム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5つの改善テーマと並行作業を、年間計画として俯瞰する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91056"/>
            <a:ext cx="2542032" cy="40233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55064"/>
            <a:ext cx="22128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テーマ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91056"/>
            <a:ext cx="8311896" cy="40233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4月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93058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5月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5716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8374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7月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8月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3690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9月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6348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10月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9005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11月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1663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12月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322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26980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2月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19638" y="1655064"/>
            <a:ext cx="69265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3月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1993392"/>
            <a:ext cx="10853928" cy="4572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2478024"/>
            <a:ext cx="10853928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273552"/>
            <a:ext cx="10853928" cy="1078992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379976"/>
            <a:ext cx="10853928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864608"/>
            <a:ext cx="10853928" cy="768096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200400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93058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85716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78374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71031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63690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56348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49005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41663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434322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126980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19638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512296" y="1993392"/>
            <a:ext cx="0" cy="363931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58368" y="1993392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68096" y="2093976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2075688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利用部門の拡大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405568" y="2098548"/>
            <a:ext cx="1667637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594735" y="2130552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対象業務の選定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27338" y="2098548"/>
            <a:ext cx="3052954" cy="0"/>
          </a:xfrm>
          <a:prstGeom prst="line">
            <a:avLst/>
          </a:prstGeom>
          <a:ln w="17780"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309163" y="2130552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追加部門へ展開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2478024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8096" y="2578608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" y="2560320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デザイン標準化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232404" y="2583180"/>
            <a:ext cx="2013966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594735" y="2615184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利用要件の整理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617720" y="2894076"/>
            <a:ext cx="2706624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326379" y="2926079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共通仕様の策定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310378" y="2583180"/>
            <a:ext cx="2706623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019038" y="2615184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試行版の検証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3273552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68096" y="3374136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" y="3355848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運用基盤の再設計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232404" y="3378708"/>
            <a:ext cx="1321308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248406" y="3410712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現状調査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617720" y="3378708"/>
            <a:ext cx="2706624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26379" y="3410712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移行方針の策定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310378" y="3689604"/>
            <a:ext cx="2706623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019038" y="3721608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新環境の構築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003036" y="4000500"/>
            <a:ext cx="628650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816155" y="4032504"/>
            <a:ext cx="1002411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運用リハーサル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695694" y="4000500"/>
            <a:ext cx="1321307" cy="0"/>
          </a:xfrm>
          <a:prstGeom prst="line">
            <a:avLst/>
          </a:prstGeom>
          <a:ln w="17780"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855142" y="4032504"/>
            <a:ext cx="1002410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本番移行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773667" y="3378708"/>
            <a:ext cx="2706625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482328" y="3410712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旧環境の停止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58368" y="4379976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68096" y="4480560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3856" y="4462272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外部サービス連携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925062" y="4485132"/>
            <a:ext cx="1321308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941064" y="4517136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方式検討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310378" y="4485132"/>
            <a:ext cx="2013966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672708" y="4517136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接続開発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388352" y="4485132"/>
            <a:ext cx="628649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058024" y="4517136"/>
            <a:ext cx="1289304" cy="246888"/>
          </a:xfrm>
          <a:prstGeom prst="rect">
            <a:avLst/>
          </a:prstGeom>
          <a:solidFill>
            <a:srgbClr val="ECEAE4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段階展開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58368" y="4864608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68096" y="4965192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33856" y="4946904"/>
            <a:ext cx="1938527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データ活用基盤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3925062" y="4969764"/>
            <a:ext cx="1321308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941064" y="5001768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要件定義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617720" y="5280660"/>
            <a:ext cx="2706624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326379" y="5312664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基盤構築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388352" y="4969764"/>
            <a:ext cx="1321307" cy="0"/>
          </a:xfrm>
          <a:prstGeom prst="line">
            <a:avLst/>
          </a:prstGeom>
          <a:ln w="1778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404353" y="5001768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利用検証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773667" y="4969764"/>
            <a:ext cx="2013967" cy="0"/>
          </a:xfrm>
          <a:prstGeom prst="line">
            <a:avLst/>
          </a:prstGeom>
          <a:ln w="17780">
            <a:solidFill>
              <a:srgbClr val="C758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135999" y="5001768"/>
            <a:ext cx="1289304" cy="246888"/>
          </a:xfrm>
          <a:prstGeom prst="rect">
            <a:avLst/>
          </a:prstGeom>
          <a:solidFill>
            <a:srgbClr val="FAF9F5"/>
          </a:solidFill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全社展開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58368" y="5632704"/>
            <a:ext cx="10853928" cy="0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月途中の開始・終了は1/4月単位で表現する。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17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優先度整理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提出品質と再利用性から、整備優先度を決める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192" y="2029968"/>
            <a:ext cx="9601200" cy="3675887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36792" y="2029968"/>
            <a:ext cx="4800600" cy="1837943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00784" y="53218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個別対応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53218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再利用候補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21945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品質改善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1945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優先整備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36192" y="5705856"/>
            <a:ext cx="9601200" cy="0"/>
          </a:xfrm>
          <a:prstGeom prst="line">
            <a:avLst/>
          </a:prstGeom>
          <a:ln w="2222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536192" y="2029968"/>
            <a:ext cx="0" cy="3675888"/>
          </a:xfrm>
          <a:prstGeom prst="line">
            <a:avLst/>
          </a:prstGeom>
          <a:ln w="2222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851392" y="585216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50" b="1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再利用性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168249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↑ 提出品質</a:t>
            </a:r>
          </a:p>
        </p:txBody>
      </p:sp>
      <p:sp>
        <p:nvSpPr>
          <p:cNvPr id="15" name="Oval 14"/>
          <p:cNvSpPr/>
          <p:nvPr/>
        </p:nvSpPr>
        <p:spPr>
          <a:xfrm>
            <a:off x="3127248" y="3436680"/>
            <a:ext cx="274320" cy="274320"/>
          </a:xfrm>
          <a:prstGeom prst="ellipse">
            <a:avLst/>
          </a:prstGeom>
          <a:solidFill>
            <a:srgbClr val="0D7870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11896" y="2775021"/>
            <a:ext cx="274320" cy="274320"/>
          </a:xfrm>
          <a:prstGeom prst="ellipse">
            <a:avLst/>
          </a:prstGeom>
          <a:solidFill>
            <a:srgbClr val="C7583E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27848" y="3142609"/>
            <a:ext cx="274320" cy="274320"/>
          </a:xfrm>
          <a:prstGeom prst="ellipse">
            <a:avLst/>
          </a:prstGeom>
          <a:solidFill>
            <a:srgbClr val="0D7870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23559" y="3289645"/>
            <a:ext cx="274320" cy="274320"/>
          </a:xfrm>
          <a:prstGeom prst="ellipse">
            <a:avLst/>
          </a:prstGeom>
          <a:solidFill>
            <a:srgbClr val="0D7870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59451" y="2407432"/>
            <a:ext cx="274320" cy="274320"/>
          </a:xfrm>
          <a:prstGeom prst="ellipse">
            <a:avLst/>
          </a:prstGeom>
          <a:solidFill>
            <a:srgbClr val="0D7870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19272" y="4392411"/>
            <a:ext cx="274320" cy="274320"/>
          </a:xfrm>
          <a:prstGeom prst="ellipse">
            <a:avLst/>
          </a:prstGeom>
          <a:solidFill>
            <a:srgbClr val="0D7870"/>
          </a:solidFill>
          <a:ln w="12700">
            <a:solidFill>
              <a:srgbClr val="FFFF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0008" y="3125784"/>
            <a:ext cx="18288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タイトル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2464125"/>
            <a:ext cx="18288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要点列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3444361"/>
            <a:ext cx="18288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比較表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7" y="3554821"/>
            <a:ext cx="18288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ロードマップ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2211" y="2096536"/>
            <a:ext cx="1828800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高密度構成図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4081515"/>
            <a:ext cx="1828800" cy="283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自由配置図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位置づけはテンプレート整備の優先度を示すサンプル。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18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推進体制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責任者から各チームまで、指揮系統を明確にする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74439" y="2880360"/>
            <a:ext cx="4242816" cy="0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974439" y="2596896"/>
            <a:ext cx="0" cy="283464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17255" y="2596896"/>
            <a:ext cx="0" cy="283464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95847" y="2880360"/>
            <a:ext cx="0" cy="283464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853145" y="4215383"/>
            <a:ext cx="8485404" cy="0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5847" y="3931920"/>
            <a:ext cx="0" cy="283463"/>
          </a:xfrm>
          <a:prstGeom prst="line">
            <a:avLst/>
          </a:prstGeom>
          <a:ln w="13970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53145" y="4215383"/>
            <a:ext cx="0" cy="283465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81613" y="4215383"/>
            <a:ext cx="0" cy="283465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10081" y="4215383"/>
            <a:ext cx="0" cy="283465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38549" y="4215383"/>
            <a:ext cx="0" cy="283465"/>
          </a:xfrm>
          <a:prstGeom prst="line">
            <a:avLst/>
          </a:prstGeom>
          <a:ln w="1397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008479" y="1828800"/>
            <a:ext cx="3931920" cy="768096"/>
          </a:xfrm>
          <a:prstGeom prst="rect">
            <a:avLst/>
          </a:prstGeom>
          <a:solidFill>
            <a:srgbClr val="182C43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6495" y="1892807"/>
            <a:ext cx="367588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プロジェクト責任者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6495" y="2157984"/>
            <a:ext cx="367588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方針・予算を決定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1295" y="1828800"/>
            <a:ext cx="3931920" cy="768096"/>
          </a:xfrm>
          <a:prstGeom prst="rect">
            <a:avLst/>
          </a:prstGeom>
          <a:solidFill>
            <a:srgbClr val="182C43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9311" y="1892807"/>
            <a:ext cx="367588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システム責任者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9311" y="2157984"/>
            <a:ext cx="367588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DFEBE8"/>
                </a:solidFill>
                <a:latin typeface="Yu Gothic"/>
                <a:ea typeface="Yu Gothic"/>
                <a:cs typeface="Yu Gothic"/>
              </a:rPr>
              <a:t>システム方針を決定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1327" y="3163824"/>
            <a:ext cx="3749039" cy="768096"/>
          </a:xfrm>
          <a:prstGeom prst="rect">
            <a:avLst/>
          </a:prstGeom>
          <a:solidFill>
            <a:srgbClr val="FAF9F5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9343" y="3227832"/>
            <a:ext cx="3493007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プロジェクトマネージャー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9343" y="3493008"/>
            <a:ext cx="349300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計画・課題・品質を統括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498848"/>
            <a:ext cx="2517571" cy="768096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4562856"/>
            <a:ext cx="22615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業務チーム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4828032"/>
            <a:ext cx="2261539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業務要件・受入を担当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2827" y="4498848"/>
            <a:ext cx="2517571" cy="768096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0843" y="4562856"/>
            <a:ext cx="22615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開発チーム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0843" y="4828032"/>
            <a:ext cx="2261539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設計・開発・試験を担当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1295" y="4498848"/>
            <a:ext cx="2517571" cy="768096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9311" y="4562856"/>
            <a:ext cx="22615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基盤チーム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9311" y="4828032"/>
            <a:ext cx="2261539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基盤・ネットワークを担当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79763" y="4498848"/>
            <a:ext cx="2517571" cy="768096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7779" y="4562856"/>
            <a:ext cx="22615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移行・運用チーム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779" y="4828032"/>
            <a:ext cx="2261539" cy="40233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移行・運用設計を担当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19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主要コンポーネントとデータの流れを短く示す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2906191" y="1539849"/>
            <a:ext cx="6390170" cy="4306823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5919" y="1594713"/>
            <a:ext cx="8549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AWS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0511" y="2783433"/>
            <a:ext cx="3713721" cy="1819655"/>
          </a:xfrm>
          <a:prstGeom prst="rect">
            <a:avLst/>
          </a:prstGeom>
          <a:noFill/>
          <a:ln w="15875">
            <a:prstDash val="dash"/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0239" y="2838297"/>
            <a:ext cx="10195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VPC (private)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38528" y="3615537"/>
            <a:ext cx="1571167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86351" y="3615537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34175" y="3377793"/>
            <a:ext cx="785584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219759" y="2371953"/>
            <a:ext cx="0" cy="100584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219759" y="2371953"/>
            <a:ext cx="78558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34175" y="3615537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34175" y="3853281"/>
            <a:ext cx="785584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19759" y="3853281"/>
            <a:ext cx="0" cy="100584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19759" y="4859121"/>
            <a:ext cx="78558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81999" y="3615537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3332073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1565" y="3944721"/>
            <a:ext cx="101727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社内ユーザー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200753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ブラウザ</a:t>
            </a:r>
          </a:p>
        </p:txBody>
      </p:sp>
      <p:pic>
        <p:nvPicPr>
          <p:cNvPr id="22" name="Picture 21" descr="a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59" y="3332073"/>
            <a:ext cx="566928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47998" y="3944721"/>
            <a:ext cx="40005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ALB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1707" y="4200753"/>
            <a:ext cx="492633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内部LB</a:t>
            </a:r>
          </a:p>
        </p:txBody>
      </p:sp>
      <p:pic>
        <p:nvPicPr>
          <p:cNvPr id="25" name="Picture 24" descr="far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383" y="3332073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71782" y="3944721"/>
            <a:ext cx="1048131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ECS Fargate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12333" y="4200753"/>
            <a:ext cx="13670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生成API (python-pptx)</a:t>
            </a:r>
          </a:p>
        </p:txBody>
      </p:sp>
      <p:pic>
        <p:nvPicPr>
          <p:cNvPr id="28" name="Picture 27" descr="bedr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0207" y="2088489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65300" y="2701137"/>
            <a:ext cx="1356741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Amazon Bedrock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4152" y="2957169"/>
            <a:ext cx="143903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Claude (構成JSON生成)</a:t>
            </a:r>
          </a:p>
        </p:txBody>
      </p:sp>
      <p:pic>
        <p:nvPicPr>
          <p:cNvPr id="31" name="Picture 30" descr="s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0207" y="3332073"/>
            <a:ext cx="566928" cy="566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81327" y="3944721"/>
            <a:ext cx="92468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Amazon S3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1592" y="4200753"/>
            <a:ext cx="126415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テンプレート/成果物</a:t>
            </a:r>
          </a:p>
        </p:txBody>
      </p:sp>
      <p:pic>
        <p:nvPicPr>
          <p:cNvPr id="34" name="Picture 33" descr="cloudwat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0207" y="4575657"/>
            <a:ext cx="566928" cy="5669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45323" y="5188305"/>
            <a:ext cx="99669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CloudWatch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5897" y="5444337"/>
            <a:ext cx="95554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ログ・監査証跡</a:t>
            </a:r>
          </a:p>
        </p:txBody>
      </p:sp>
      <p:pic>
        <p:nvPicPr>
          <p:cNvPr id="37" name="Picture 36" descr="us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8031" y="3332073"/>
            <a:ext cx="566928" cy="5669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237165" y="3944721"/>
            <a:ext cx="70866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利用部門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75443" y="4200753"/>
            <a:ext cx="832104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ダウンロード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7508" y="3378936"/>
            <a:ext cx="51320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7151" y="2793720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構成生成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7151" y="3378936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読み書き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4975" y="3378936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署名URL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AWSアイコンは slidegen/assets/icons/aws/ から読み込む。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20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高密度構成図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高密度なAWS構成も、グリッド仕様で自動配置する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6652" y="1342430"/>
            <a:ext cx="8707511" cy="4753051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66380" y="1397294"/>
            <a:ext cx="8549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AWS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3957706" y="2384846"/>
            <a:ext cx="6084829" cy="3505809"/>
          </a:xfrm>
          <a:prstGeom prst="rect">
            <a:avLst/>
          </a:prstGeom>
          <a:noFill/>
          <a:ln w="1587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7434" y="2439710"/>
            <a:ext cx="161620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VPC (private subnets)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0042" y="3573566"/>
            <a:ext cx="1673352" cy="2295143"/>
          </a:xfrm>
          <a:prstGeom prst="rect">
            <a:avLst/>
          </a:prstGeom>
          <a:noFill/>
          <a:ln w="15875">
            <a:prstDash val="dash"/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9770" y="3628430"/>
            <a:ext cx="412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AZ-a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273" y="3573566"/>
            <a:ext cx="1693925" cy="2295143"/>
          </a:xfrm>
          <a:prstGeom prst="rect">
            <a:avLst/>
          </a:prstGeom>
          <a:noFill/>
          <a:ln w="15875">
            <a:prstDash val="dash"/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6001" y="3628430"/>
            <a:ext cx="4126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AZ-c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38528" y="2979206"/>
            <a:ext cx="1121603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98459" y="2311694"/>
            <a:ext cx="0" cy="329184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736787" y="2979206"/>
            <a:ext cx="291986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94977" y="3317534"/>
            <a:ext cx="0" cy="45720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196718" y="3774734"/>
            <a:ext cx="1798259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96718" y="3774734"/>
            <a:ext cx="0" cy="109728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94977" y="3317534"/>
            <a:ext cx="0" cy="45720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4977" y="3774734"/>
            <a:ext cx="1798259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93236" y="3774734"/>
            <a:ext cx="0" cy="109728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250314" y="4222790"/>
            <a:ext cx="608076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50314" y="4222790"/>
            <a:ext cx="0" cy="100584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50314" y="5228630"/>
            <a:ext cx="608076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93236" y="4561118"/>
            <a:ext cx="0" cy="4572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793236" y="4606838"/>
            <a:ext cx="956691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749927" y="4606838"/>
            <a:ext cx="0" cy="621792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131564" y="5228630"/>
            <a:ext cx="618363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535046" y="5228630"/>
            <a:ext cx="2919862" cy="0"/>
          </a:xfrm>
          <a:prstGeom prst="line">
            <a:avLst/>
          </a:prstGeom>
          <a:ln w="19050">
            <a:prstDash val="dash"/>
            <a:solidFill>
              <a:srgbClr val="6C7372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31564" y="4222790"/>
            <a:ext cx="819531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951095" y="2979206"/>
            <a:ext cx="0" cy="1243584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51095" y="2979206"/>
            <a:ext cx="30207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42535" y="5228630"/>
            <a:ext cx="210632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2695742"/>
            <a:ext cx="566928" cy="5669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91565" y="3308390"/>
            <a:ext cx="101727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社内ユーザー</a:t>
            </a:r>
          </a:p>
        </p:txBody>
      </p:sp>
      <p:pic>
        <p:nvPicPr>
          <p:cNvPr id="36" name="Picture 35" descr="route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995" y="1689902"/>
            <a:ext cx="566928" cy="5669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018411" y="2302550"/>
            <a:ext cx="760095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Route 53</a:t>
            </a:r>
          </a:p>
        </p:txBody>
      </p:sp>
      <p:pic>
        <p:nvPicPr>
          <p:cNvPr id="38" name="Picture 37" descr="cloud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995" y="2695742"/>
            <a:ext cx="566928" cy="5669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930972" y="3308390"/>
            <a:ext cx="934974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CloudFront</a:t>
            </a:r>
          </a:p>
        </p:txBody>
      </p:sp>
      <p:pic>
        <p:nvPicPr>
          <p:cNvPr id="40" name="Picture 39" descr="a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513" y="2695742"/>
            <a:ext cx="566928" cy="56692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94952" y="3308390"/>
            <a:ext cx="40005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ALB</a:t>
            </a:r>
          </a:p>
        </p:txBody>
      </p:sp>
      <p:pic>
        <p:nvPicPr>
          <p:cNvPr id="42" name="Picture 41" descr="farg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254" y="3939326"/>
            <a:ext cx="566928" cy="5669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852675" y="4551974"/>
            <a:ext cx="68808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Fargate</a:t>
            </a:r>
          </a:p>
        </p:txBody>
      </p:sp>
      <p:pic>
        <p:nvPicPr>
          <p:cNvPr id="44" name="Picture 43" descr="farg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9772" y="3939326"/>
            <a:ext cx="566928" cy="5669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449193" y="4551974"/>
            <a:ext cx="68808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Fargate</a:t>
            </a:r>
          </a:p>
        </p:txBody>
      </p:sp>
      <p:pic>
        <p:nvPicPr>
          <p:cNvPr id="46" name="Picture 45" descr="r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3254" y="4945166"/>
            <a:ext cx="566928" cy="56692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616074" y="5557814"/>
            <a:ext cx="1161288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RDS (primary)</a:t>
            </a:r>
          </a:p>
        </p:txBody>
      </p:sp>
      <p:pic>
        <p:nvPicPr>
          <p:cNvPr id="48" name="Picture 47" descr="r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772" y="4945166"/>
            <a:ext cx="566928" cy="566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202305" y="5557814"/>
            <a:ext cx="1181862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RDS (standby)</a:t>
            </a:r>
          </a:p>
        </p:txBody>
      </p:sp>
      <p:pic>
        <p:nvPicPr>
          <p:cNvPr id="50" name="Picture 49" descr="s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8031" y="2695742"/>
            <a:ext cx="566928" cy="56692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129151" y="3308390"/>
            <a:ext cx="92468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Amazon S3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82860" y="3564422"/>
            <a:ext cx="101727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成果物/静的配信</a:t>
            </a:r>
          </a:p>
        </p:txBody>
      </p:sp>
      <p:pic>
        <p:nvPicPr>
          <p:cNvPr id="53" name="Picture 52" descr="cloudwat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8031" y="4945166"/>
            <a:ext cx="566928" cy="5669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093147" y="5557814"/>
            <a:ext cx="99669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CloudWatch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37165" y="5813846"/>
            <a:ext cx="70866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監視・ログ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38339" y="2523149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名前解決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40114" y="2742605"/>
            <a:ext cx="51320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25813" y="4992029"/>
            <a:ext cx="3383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同期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20209" y="3519845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成果物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21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AWS構成図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VPC・AZ・Subnetの入れ子構造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クラウド構成図では、通信経路だけでなく配置境界も読み取れる形にする。</a:t>
            </a:r>
          </a:p>
        </p:txBody>
      </p:sp>
      <p:sp>
        <p:nvSpPr>
          <p:cNvPr id="6" name="aws-vpc-layout:vpc"/>
          <p:cNvSpPr/>
          <p:nvPr/>
        </p:nvSpPr>
        <p:spPr>
          <a:xfrm>
            <a:off x="1938528" y="1874012"/>
            <a:ext cx="9750247" cy="4353052"/>
          </a:xfrm>
          <a:prstGeom prst="rect">
            <a:avLst/>
          </a:prstGeom>
          <a:noFill/>
          <a:ln w="16510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ws-vpc-layout:vpc:label"/>
          <p:cNvSpPr txBox="1"/>
          <p:nvPr/>
        </p:nvSpPr>
        <p:spPr>
          <a:xfrm>
            <a:off x="2057400" y="1938020"/>
            <a:ext cx="1037844" cy="150114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VPC 10.0.0.0/16</a:t>
            </a:r>
          </a:p>
        </p:txBody>
      </p:sp>
      <p:sp>
        <p:nvSpPr>
          <p:cNvPr id="8" name="aws-vpc-layout:az:az_a"/>
          <p:cNvSpPr/>
          <p:nvPr/>
        </p:nvSpPr>
        <p:spPr>
          <a:xfrm>
            <a:off x="2212848" y="2258060"/>
            <a:ext cx="4491075" cy="3786124"/>
          </a:xfrm>
          <a:prstGeom prst="rect">
            <a:avLst/>
          </a:prstGeom>
          <a:noFill/>
          <a:ln w="14604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ws-vpc-layout:az:az_a:label"/>
          <p:cNvSpPr txBox="1"/>
          <p:nvPr/>
        </p:nvSpPr>
        <p:spPr>
          <a:xfrm>
            <a:off x="2331720" y="2322068"/>
            <a:ext cx="379476" cy="150114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AZ-a</a:t>
            </a:r>
          </a:p>
        </p:txBody>
      </p:sp>
      <p:sp>
        <p:nvSpPr>
          <p:cNvPr id="10" name="aws-vpc-layout:subnet:public_a"/>
          <p:cNvSpPr/>
          <p:nvPr/>
        </p:nvSpPr>
        <p:spPr>
          <a:xfrm>
            <a:off x="2359152" y="2587244"/>
            <a:ext cx="4198467" cy="1024297"/>
          </a:xfrm>
          <a:prstGeom prst="rect">
            <a:avLst/>
          </a:prstGeom>
          <a:noFill/>
          <a:ln w="11430">
            <a:solidFill>
              <a:srgbClr val="9AA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ws-vpc-layout:subnet:public_a:label"/>
          <p:cNvSpPr txBox="1"/>
          <p:nvPr/>
        </p:nvSpPr>
        <p:spPr>
          <a:xfrm>
            <a:off x="2478024" y="2651252"/>
            <a:ext cx="1562481" cy="150114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lang="ja-JP">
                <a:solidFill>
                  <a:srgbClr val="9AA09E"/>
                </a:solidFill>
                <a:latin typeface="Yu Gothic"/>
                <a:ea typeface="Yu Gothic"/>
                <a:cs typeface="Yu Gothic"/>
              </a:rPr>
              <a:t>public subnet 10.0.0.0/24</a:t>
            </a:r>
          </a:p>
        </p:txBody>
      </p:sp>
      <p:sp>
        <p:nvSpPr>
          <p:cNvPr id="12" name="aws-vpc-layout:subnet:app_a"/>
          <p:cNvSpPr/>
          <p:nvPr/>
        </p:nvSpPr>
        <p:spPr>
          <a:xfrm>
            <a:off x="2359152" y="3757845"/>
            <a:ext cx="4198467" cy="1024297"/>
          </a:xfrm>
          <a:prstGeom prst="rect">
            <a:avLst/>
          </a:prstGeom>
          <a:noFill/>
          <a:ln w="11430">
            <a:solidFill>
              <a:srgbClr val="9AA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ws-vpc-layout:subnet:app_a:label"/>
          <p:cNvSpPr txBox="1"/>
          <p:nvPr/>
        </p:nvSpPr>
        <p:spPr>
          <a:xfrm>
            <a:off x="2478024" y="3821853"/>
            <a:ext cx="1943100" cy="150114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lang="ja-JP">
                <a:solidFill>
                  <a:srgbClr val="9AA09E"/>
                </a:solidFill>
                <a:latin typeface="Yu Gothic"/>
                <a:ea typeface="Yu Gothic"/>
                <a:cs typeface="Yu Gothic"/>
              </a:rPr>
              <a:t>private app subnet 10.0.10.0/24</a:t>
            </a:r>
          </a:p>
        </p:txBody>
      </p:sp>
      <p:sp>
        <p:nvSpPr>
          <p:cNvPr id="14" name="aws-vpc-layout:subnet:db_a"/>
          <p:cNvSpPr/>
          <p:nvPr/>
        </p:nvSpPr>
        <p:spPr>
          <a:xfrm>
            <a:off x="2359152" y="4928446"/>
            <a:ext cx="4198467" cy="1024297"/>
          </a:xfrm>
          <a:prstGeom prst="rect">
            <a:avLst/>
          </a:prstGeom>
          <a:noFill/>
          <a:ln w="11430">
            <a:solidFill>
              <a:srgbClr val="9AA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ws-vpc-layout:subnet:db_a:label"/>
          <p:cNvSpPr txBox="1"/>
          <p:nvPr/>
        </p:nvSpPr>
        <p:spPr>
          <a:xfrm>
            <a:off x="2478024" y="4992454"/>
            <a:ext cx="1871091" cy="150114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lang="ja-JP">
                <a:solidFill>
                  <a:srgbClr val="9AA09E"/>
                </a:solidFill>
                <a:latin typeface="Yu Gothic"/>
                <a:ea typeface="Yu Gothic"/>
                <a:cs typeface="Yu Gothic"/>
              </a:rPr>
              <a:t>private db subnet 10.0.20.0/24</a:t>
            </a:r>
          </a:p>
        </p:txBody>
      </p:sp>
      <p:sp>
        <p:nvSpPr>
          <p:cNvPr id="16" name="aws-vpc-layout:az:az_c"/>
          <p:cNvSpPr/>
          <p:nvPr/>
        </p:nvSpPr>
        <p:spPr>
          <a:xfrm>
            <a:off x="6923379" y="2258060"/>
            <a:ext cx="4491075" cy="3786124"/>
          </a:xfrm>
          <a:prstGeom prst="rect">
            <a:avLst/>
          </a:prstGeom>
          <a:noFill/>
          <a:ln w="14604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ws-vpc-layout:az:az_c:label"/>
          <p:cNvSpPr txBox="1"/>
          <p:nvPr/>
        </p:nvSpPr>
        <p:spPr>
          <a:xfrm>
            <a:off x="7042251" y="2322068"/>
            <a:ext cx="379476" cy="150114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AZ-c</a:t>
            </a:r>
          </a:p>
        </p:txBody>
      </p:sp>
      <p:sp>
        <p:nvSpPr>
          <p:cNvPr id="18" name="aws-vpc-layout:subnet:public_c"/>
          <p:cNvSpPr/>
          <p:nvPr/>
        </p:nvSpPr>
        <p:spPr>
          <a:xfrm>
            <a:off x="7069683" y="2587244"/>
            <a:ext cx="4198467" cy="1024297"/>
          </a:xfrm>
          <a:prstGeom prst="rect">
            <a:avLst/>
          </a:prstGeom>
          <a:noFill/>
          <a:ln w="11430">
            <a:solidFill>
              <a:srgbClr val="9AA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ws-vpc-layout:subnet:public_c:label"/>
          <p:cNvSpPr txBox="1"/>
          <p:nvPr/>
        </p:nvSpPr>
        <p:spPr>
          <a:xfrm>
            <a:off x="7188555" y="2651252"/>
            <a:ext cx="1562481" cy="150114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lang="ja-JP">
                <a:solidFill>
                  <a:srgbClr val="9AA09E"/>
                </a:solidFill>
                <a:latin typeface="Yu Gothic"/>
                <a:ea typeface="Yu Gothic"/>
                <a:cs typeface="Yu Gothic"/>
              </a:rPr>
              <a:t>public subnet 10.0.1.0/24</a:t>
            </a:r>
          </a:p>
        </p:txBody>
      </p:sp>
      <p:sp>
        <p:nvSpPr>
          <p:cNvPr id="20" name="aws-vpc-layout:subnet:app_c"/>
          <p:cNvSpPr/>
          <p:nvPr/>
        </p:nvSpPr>
        <p:spPr>
          <a:xfrm>
            <a:off x="7069683" y="3757845"/>
            <a:ext cx="4198467" cy="1024297"/>
          </a:xfrm>
          <a:prstGeom prst="rect">
            <a:avLst/>
          </a:prstGeom>
          <a:noFill/>
          <a:ln w="11430">
            <a:solidFill>
              <a:srgbClr val="9AA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ws-vpc-layout:subnet:app_c:label"/>
          <p:cNvSpPr txBox="1"/>
          <p:nvPr/>
        </p:nvSpPr>
        <p:spPr>
          <a:xfrm>
            <a:off x="7188555" y="3821853"/>
            <a:ext cx="1943100" cy="150114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lang="ja-JP">
                <a:solidFill>
                  <a:srgbClr val="9AA09E"/>
                </a:solidFill>
                <a:latin typeface="Yu Gothic"/>
                <a:ea typeface="Yu Gothic"/>
                <a:cs typeface="Yu Gothic"/>
              </a:rPr>
              <a:t>private app subnet 10.0.11.0/24</a:t>
            </a:r>
          </a:p>
        </p:txBody>
      </p:sp>
      <p:sp>
        <p:nvSpPr>
          <p:cNvPr id="22" name="aws-vpc-layout:subnet:db_c"/>
          <p:cNvSpPr/>
          <p:nvPr/>
        </p:nvSpPr>
        <p:spPr>
          <a:xfrm>
            <a:off x="7069683" y="4928446"/>
            <a:ext cx="4198467" cy="1024297"/>
          </a:xfrm>
          <a:prstGeom prst="rect">
            <a:avLst/>
          </a:prstGeom>
          <a:noFill/>
          <a:ln w="11430">
            <a:solidFill>
              <a:srgbClr val="9AA0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ws-vpc-layout:subnet:db_c:label"/>
          <p:cNvSpPr txBox="1"/>
          <p:nvPr/>
        </p:nvSpPr>
        <p:spPr>
          <a:xfrm>
            <a:off x="7188555" y="4992454"/>
            <a:ext cx="1871091" cy="150114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 lang="ja-JP">
                <a:solidFill>
                  <a:srgbClr val="9AA09E"/>
                </a:solidFill>
                <a:latin typeface="Yu Gothic"/>
                <a:ea typeface="Yu Gothic"/>
                <a:cs typeface="Yu Gothic"/>
              </a:rPr>
              <a:t>private db subnet 10.0.21.0/24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89888" y="3090164"/>
            <a:ext cx="2794177" cy="0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ws-vpc-layout:flow-label"/>
          <p:cNvSpPr txBox="1"/>
          <p:nvPr/>
        </p:nvSpPr>
        <p:spPr>
          <a:xfrm>
            <a:off x="2556090" y="2904870"/>
            <a:ext cx="461772" cy="151130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58385" y="3364484"/>
            <a:ext cx="0" cy="621961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ws-vpc-layout:flow-label"/>
          <p:cNvSpPr txBox="1"/>
          <p:nvPr/>
        </p:nvSpPr>
        <p:spPr>
          <a:xfrm>
            <a:off x="4805857" y="3351115"/>
            <a:ext cx="389763" cy="151130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68917" y="3364484"/>
            <a:ext cx="0" cy="621961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ws-vpc-layout:flow-label"/>
          <p:cNvSpPr txBox="1"/>
          <p:nvPr/>
        </p:nvSpPr>
        <p:spPr>
          <a:xfrm>
            <a:off x="9516389" y="3351115"/>
            <a:ext cx="389763" cy="151130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58385" y="4535085"/>
            <a:ext cx="0" cy="621961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ws-vpc-layout:flow-label"/>
          <p:cNvSpPr txBox="1"/>
          <p:nvPr/>
        </p:nvSpPr>
        <p:spPr>
          <a:xfrm>
            <a:off x="4805857" y="4521716"/>
            <a:ext cx="317754" cy="151130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SQL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68917" y="4535085"/>
            <a:ext cx="0" cy="621961"/>
          </a:xfrm>
          <a:prstGeom prst="line">
            <a:avLst/>
          </a:prstGeom>
          <a:ln w="19050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aws-vpc-layout:flow-label"/>
          <p:cNvSpPr txBox="1"/>
          <p:nvPr/>
        </p:nvSpPr>
        <p:spPr>
          <a:xfrm>
            <a:off x="9516389" y="4521716"/>
            <a:ext cx="317754" cy="151130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SQL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732705" y="5431366"/>
            <a:ext cx="4161892" cy="0"/>
          </a:xfrm>
          <a:prstGeom prst="line">
            <a:avLst/>
          </a:prstGeom>
          <a:ln w="19050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ws-vpc-layout:flow-label"/>
          <p:cNvSpPr txBox="1"/>
          <p:nvPr/>
        </p:nvSpPr>
        <p:spPr>
          <a:xfrm>
            <a:off x="5614301" y="5246073"/>
            <a:ext cx="317754" cy="151130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同期</a:t>
            </a:r>
          </a:p>
        </p:txBody>
      </p:sp>
      <p:pic>
        <p:nvPicPr>
          <p:cNvPr id="36" name="Picture 35" descr="a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929" y="2870707"/>
            <a:ext cx="438912" cy="43891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129773" y="3355340"/>
            <a:ext cx="657225" cy="147447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ALB node</a:t>
            </a:r>
          </a:p>
        </p:txBody>
      </p:sp>
      <p:pic>
        <p:nvPicPr>
          <p:cNvPr id="38" name="Picture 37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929" y="4041309"/>
            <a:ext cx="438912" cy="43891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242930" y="4525941"/>
            <a:ext cx="430911" cy="147447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App A</a:t>
            </a:r>
          </a:p>
        </p:txBody>
      </p:sp>
      <p:pic>
        <p:nvPicPr>
          <p:cNvPr id="40" name="Picture 39" descr="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929" y="5211910"/>
            <a:ext cx="438912" cy="4389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037190" y="5696542"/>
            <a:ext cx="842391" cy="147447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RDS Primary</a:t>
            </a:r>
          </a:p>
        </p:txBody>
      </p:sp>
      <p:pic>
        <p:nvPicPr>
          <p:cNvPr id="42" name="Picture 41" descr="a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461" y="2870707"/>
            <a:ext cx="438912" cy="4389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840304" y="3355340"/>
            <a:ext cx="657225" cy="147447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ALB node</a:t>
            </a:r>
          </a:p>
        </p:txBody>
      </p:sp>
      <p:pic>
        <p:nvPicPr>
          <p:cNvPr id="44" name="Picture 43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461" y="4041309"/>
            <a:ext cx="438912" cy="438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48318" y="4525941"/>
            <a:ext cx="441198" cy="147447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App B</a:t>
            </a:r>
          </a:p>
        </p:txBody>
      </p:sp>
      <p:pic>
        <p:nvPicPr>
          <p:cNvPr id="46" name="Picture 45" descr="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9461" y="5211910"/>
            <a:ext cx="438912" cy="43891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737434" y="5696542"/>
            <a:ext cx="862965" cy="147447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RDS Standby</a:t>
            </a:r>
          </a:p>
        </p:txBody>
      </p:sp>
      <p:pic>
        <p:nvPicPr>
          <p:cNvPr id="48" name="Picture 47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2870707"/>
            <a:ext cx="438912" cy="43891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4682" y="3355340"/>
            <a:ext cx="461772" cy="147447"/>
          </a:xfrm>
          <a:prstGeom prst="rect">
            <a:avLst/>
          </a:prstGeom>
          <a:solidFill>
            <a:srgbClr val="F7F5EF"/>
          </a:solidFill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利用者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22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Fluentアイコン構成図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SSO・監査・バックアップを含む業務システム構成を表現する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60038" y="2652674"/>
            <a:ext cx="7714411" cy="3063239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69766" y="2707538"/>
            <a:ext cx="108127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データセンター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38528" y="3484778"/>
            <a:ext cx="232044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35626" y="3484778"/>
            <a:ext cx="2320442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94396" y="2268626"/>
            <a:ext cx="0" cy="877824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32724" y="3484778"/>
            <a:ext cx="2320443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94396" y="3823106"/>
            <a:ext cx="0" cy="45720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095847" y="3868826"/>
            <a:ext cx="1498549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5847" y="3868826"/>
            <a:ext cx="0" cy="859536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" y="4728362"/>
            <a:ext cx="1160221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29823" y="3484778"/>
            <a:ext cx="554355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484178" y="3484778"/>
            <a:ext cx="0" cy="1243584"/>
          </a:xfrm>
          <a:prstGeom prst="line">
            <a:avLst/>
          </a:prstGeom>
          <a:ln w="15875">
            <a:prstDash val="dash"/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929823" y="4728362"/>
            <a:ext cx="554355" cy="0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3201314"/>
            <a:ext cx="566928" cy="566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68717" y="3813962"/>
            <a:ext cx="862965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利用者端末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4069994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社内LAN</a:t>
            </a:r>
          </a:p>
        </p:txBody>
      </p:sp>
      <p:pic>
        <p:nvPicPr>
          <p:cNvPr id="21" name="Picture 20" descr="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932" y="1646834"/>
            <a:ext cx="566928" cy="5669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06932" y="2259482"/>
            <a:ext cx="574929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ID基盤</a:t>
            </a:r>
          </a:p>
        </p:txBody>
      </p:sp>
      <p:pic>
        <p:nvPicPr>
          <p:cNvPr id="23" name="Picture 22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834" y="3201314"/>
            <a:ext cx="566928" cy="56692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934358" y="3813962"/>
            <a:ext cx="132588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ファイアウォール</a:t>
            </a:r>
          </a:p>
        </p:txBody>
      </p:sp>
      <p:pic>
        <p:nvPicPr>
          <p:cNvPr id="25" name="Picture 24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932" y="3201314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98322" y="3813962"/>
            <a:ext cx="1192149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業務Webサーバ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0066" y="4069994"/>
            <a:ext cx="70866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アプリ本体</a:t>
            </a:r>
          </a:p>
        </p:txBody>
      </p:sp>
      <p:pic>
        <p:nvPicPr>
          <p:cNvPr id="28" name="Picture 27" descr="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8031" y="3201314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196017" y="3813962"/>
            <a:ext cx="79095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DBサーバ</a:t>
            </a:r>
          </a:p>
        </p:txBody>
      </p:sp>
      <p:pic>
        <p:nvPicPr>
          <p:cNvPr id="30" name="Picture 29" descr="moni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0932" y="4444898"/>
            <a:ext cx="566928" cy="5669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40066" y="5057546"/>
            <a:ext cx="70866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ログ収集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3510" y="5313578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監査用</a:t>
            </a:r>
          </a:p>
        </p:txBody>
      </p:sp>
      <p:pic>
        <p:nvPicPr>
          <p:cNvPr id="33" name="Picture 32" descr="stor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8031" y="4444898"/>
            <a:ext cx="566928" cy="56692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082860" y="5057546"/>
            <a:ext cx="101727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バックアップ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98887" y="5313578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日次保管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42145" y="3248177"/>
            <a:ext cx="51320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5232" y="2754401"/>
            <a:ext cx="3383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認証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23782" y="3248177"/>
            <a:ext cx="3383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2514" y="3632225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監査ログ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15014" y="4025417"/>
            <a:ext cx="3383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日次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053327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同梱のMicrosoft Fluent UIアイコンを使用。ライセンスはslidegen/assets/CREDITS.mdを参照。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23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イベント駆動構成図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受付と処理を分離し、保存・監視へ非同期分岐する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906191" y="1589227"/>
            <a:ext cx="8437397" cy="4471416"/>
          </a:xfrm>
          <a:prstGeom prst="rect">
            <a:avLst/>
          </a:prstGeom>
          <a:noFill/>
          <a:ln w="15875">
            <a:solidFill>
              <a:srgbClr val="6C7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5919" y="1644091"/>
            <a:ext cx="85496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6C7372"/>
                </a:solidFill>
                <a:latin typeface="Yu Gothic"/>
                <a:ea typeface="Yu Gothic"/>
                <a:cs typeface="Yu Gothic"/>
              </a:rPr>
              <a:t>AWS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3180511" y="2832811"/>
            <a:ext cx="6023267" cy="3063239"/>
          </a:xfrm>
          <a:prstGeom prst="rect">
            <a:avLst/>
          </a:prstGeom>
          <a:noFill/>
          <a:ln w="1587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0239" y="2887675"/>
            <a:ext cx="186309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Asynchronous Processing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38528" y="3664915"/>
            <a:ext cx="1571167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86351" y="3664915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34175" y="3664915"/>
            <a:ext cx="1571168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1999" y="3546043"/>
            <a:ext cx="785584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467583" y="2421331"/>
            <a:ext cx="0" cy="1124712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67583" y="2421331"/>
            <a:ext cx="78558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1999" y="3783787"/>
            <a:ext cx="785584" cy="0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67583" y="3783787"/>
            <a:ext cx="0" cy="1124712"/>
          </a:xfrm>
          <a:prstGeom prst="line">
            <a:avLst/>
          </a:prstGeom>
          <a:ln w="15875">
            <a:solidFill>
              <a:srgbClr val="6C73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67583" y="4908499"/>
            <a:ext cx="785584" cy="0"/>
          </a:xfrm>
          <a:prstGeom prst="line">
            <a:avLst/>
          </a:prstGeom>
          <a:ln w="15875"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43671" y="4003243"/>
            <a:ext cx="0" cy="566928"/>
          </a:xfrm>
          <a:prstGeom prst="line">
            <a:avLst/>
          </a:prstGeom>
          <a:ln w="15875">
            <a:prstDash val="dash"/>
            <a:solidFill>
              <a:srgbClr val="6C73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3381451"/>
            <a:ext cx="566928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1565" y="3994099"/>
            <a:ext cx="1017270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業務システム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2426" y="4250131"/>
            <a:ext cx="95554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イベント送信元</a:t>
            </a:r>
          </a:p>
        </p:txBody>
      </p:sp>
      <p:pic>
        <p:nvPicPr>
          <p:cNvPr id="22" name="Picture 21" descr="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59" y="3381451"/>
            <a:ext cx="566928" cy="5669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19411" y="3994099"/>
            <a:ext cx="657225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受付API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693" y="4250131"/>
            <a:ext cx="70866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検証・受付</a:t>
            </a:r>
          </a:p>
        </p:txBody>
      </p:sp>
      <p:pic>
        <p:nvPicPr>
          <p:cNvPr id="25" name="Picture 24" descr="sq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383" y="3381451"/>
            <a:ext cx="566928" cy="5669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571782" y="3994099"/>
            <a:ext cx="1048131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Amazon SQS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8073" y="4250131"/>
            <a:ext cx="95554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処理待ちキュー</a:t>
            </a:r>
          </a:p>
        </p:txBody>
      </p:sp>
      <p:pic>
        <p:nvPicPr>
          <p:cNvPr id="28" name="Picture 27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0207" y="3381451"/>
            <a:ext cx="566928" cy="5669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57883" y="3994099"/>
            <a:ext cx="1171575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非同期ワーカー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9341" y="4250131"/>
            <a:ext cx="70866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変換・集計</a:t>
            </a:r>
          </a:p>
        </p:txBody>
      </p:sp>
      <p:pic>
        <p:nvPicPr>
          <p:cNvPr id="31" name="Picture 30" descr="dynamo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8031" y="2137867"/>
            <a:ext cx="566928" cy="5669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13721" y="2750515"/>
            <a:ext cx="95554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DynamoDB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8887" y="3006547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処理状態</a:t>
            </a:r>
          </a:p>
        </p:txBody>
      </p:sp>
      <p:pic>
        <p:nvPicPr>
          <p:cNvPr id="34" name="Picture 33" descr="s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8031" y="4625035"/>
            <a:ext cx="566928" cy="5669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129151" y="5237683"/>
            <a:ext cx="924687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Amazon S3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0609" y="5493715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成果物</a:t>
            </a:r>
          </a:p>
        </p:txBody>
      </p:sp>
      <p:pic>
        <p:nvPicPr>
          <p:cNvPr id="37" name="Picture 36" descr="cloudwat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0207" y="4625035"/>
            <a:ext cx="566928" cy="5669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45323" y="5237683"/>
            <a:ext cx="996696" cy="19024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CloudWatch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9341" y="5493715"/>
            <a:ext cx="708660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監視・ログ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7508" y="3428314"/>
            <a:ext cx="513207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HTTPS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2771" y="3428314"/>
            <a:ext cx="338328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受付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8873" y="3428314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非同期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4975" y="2902534"/>
            <a:ext cx="585216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状態更新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6697" y="4264990"/>
            <a:ext cx="461772" cy="16230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成果物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24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言葉の定義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RTOは、障害発生から業務再開までの目標時間を表す</a:t>
            </a:r>
          </a:p>
        </p:txBody>
      </p:sp>
      <p:pic>
        <p:nvPicPr>
          <p:cNvPr id="5" name="Picture 4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810512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07592" y="1755648"/>
            <a:ext cx="41239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2633472"/>
            <a:ext cx="4892040" cy="298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Recovery Time Objectiveの略です。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障害が起きてから、業務やサービスを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再開するまでに許容する</a:t>
            </a:r>
          </a:p>
          <a:p>
            <a:pPr algn="l">
              <a:lnSpc>
                <a:spcPct val="118000"/>
              </a:lnSpc>
            </a:pPr>
            <a:r>
              <a:rPr sz="18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目標時間を定めます。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797296" y="1755648"/>
            <a:ext cx="9144" cy="3865880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4768" y="1783080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起点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2061972"/>
            <a:ext cx="5544007" cy="90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業務やサービスへ影響する障害が発生した時点。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3025986"/>
            <a:ext cx="554400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3071706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3350598"/>
            <a:ext cx="5544007" cy="90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利用者が必要な業務を再開できる状態へ戻った時点。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4314613"/>
            <a:ext cx="554400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4360333"/>
            <a:ext cx="5544007" cy="196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設計への反映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4639225"/>
            <a:ext cx="5544007" cy="90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復旧手順、冗長化、バックアップ方式の要求へ</a:t>
            </a:r>
          </a:p>
          <a:p>
            <a:pPr algn="l">
              <a:lnSpc>
                <a:spcPct val="114000"/>
              </a:lnSpc>
            </a:pPr>
            <a:r>
              <a:rPr sz="15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落とし込む。</a:t>
            </a:r>
          </a:p>
        </p:txBody>
      </p:sp>
      <p:sp>
        <p:nvSpPr>
          <p:cNvPr id="17" name="slide-footnote:rule"/>
          <p:cNvSpPr/>
          <p:nvPr/>
        </p:nvSpPr>
        <p:spPr>
          <a:xfrm>
            <a:off x="502920" y="5822696"/>
            <a:ext cx="11185855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lide-footnote:label"/>
          <p:cNvSpPr txBox="1"/>
          <p:nvPr/>
        </p:nvSpPr>
        <p:spPr>
          <a:xfrm>
            <a:off x="502920" y="5932424"/>
            <a:ext cx="1271016" cy="221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誤解しやすい点</a:t>
            </a:r>
          </a:p>
        </p:txBody>
      </p:sp>
      <p:sp>
        <p:nvSpPr>
          <p:cNvPr id="19" name="slide-footnote:text"/>
          <p:cNvSpPr txBox="1"/>
          <p:nvPr/>
        </p:nvSpPr>
        <p:spPr>
          <a:xfrm>
            <a:off x="1920240" y="5932424"/>
            <a:ext cx="9768535" cy="221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実際に要した復旧時間の実績値ではなく、事前に合意する目標値です。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25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ネットワーク構成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物理リンクを共有しながら、用途別の通信範囲を分離する</a:t>
            </a:r>
          </a:p>
        </p:txBody>
      </p:sp>
      <p:sp>
        <p:nvSpPr>
          <p:cNvPr id="5" name="layout-background:network-lane:business"/>
          <p:cNvSpPr/>
          <p:nvPr/>
        </p:nvSpPr>
        <p:spPr>
          <a:xfrm>
            <a:off x="502920" y="2060691"/>
            <a:ext cx="11185855" cy="1298448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2243571"/>
            <a:ext cx="10972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業務VLAN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508747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社内端末</a:t>
            </a:r>
          </a:p>
        </p:txBody>
      </p:sp>
      <p:sp>
        <p:nvSpPr>
          <p:cNvPr id="8" name="layout-background:network-lane:guest"/>
          <p:cNvSpPr/>
          <p:nvPr/>
        </p:nvSpPr>
        <p:spPr>
          <a:xfrm>
            <a:off x="502920" y="3450579"/>
            <a:ext cx="11185855" cy="1298448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3633459"/>
            <a:ext cx="10972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ゲストVLAN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3898635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来訪者端末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943" y="1758939"/>
            <a:ext cx="24261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フロアA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4075" y="1758939"/>
            <a:ext cx="24261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スイッチA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0207" y="1758939"/>
            <a:ext cx="24261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スイッチB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6339" y="1758939"/>
            <a:ext cx="24261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フロアB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77141" y="2709915"/>
            <a:ext cx="0" cy="356616"/>
          </a:xfrm>
          <a:prstGeom prst="line">
            <a:avLst/>
          </a:prstGeom>
          <a:ln w="2540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77141" y="3743187"/>
            <a:ext cx="0" cy="356616"/>
          </a:xfrm>
          <a:prstGeom prst="line">
            <a:avLst/>
          </a:prstGeom>
          <a:ln w="2540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435993" y="2668767"/>
            <a:ext cx="82296" cy="82296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35993" y="4058655"/>
            <a:ext cx="82296" cy="82296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903273" y="2709915"/>
            <a:ext cx="0" cy="356616"/>
          </a:xfrm>
          <a:prstGeom prst="line">
            <a:avLst/>
          </a:prstGeom>
          <a:ln w="2540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03273" y="3743187"/>
            <a:ext cx="0" cy="356616"/>
          </a:xfrm>
          <a:prstGeom prst="line">
            <a:avLst/>
          </a:prstGeom>
          <a:ln w="2540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862125" y="2668767"/>
            <a:ext cx="82296" cy="82296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62125" y="4058655"/>
            <a:ext cx="82296" cy="82296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371049" y="2709915"/>
            <a:ext cx="2106092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71049" y="4099803"/>
            <a:ext cx="2106092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77141" y="2709915"/>
            <a:ext cx="2426132" cy="0"/>
          </a:xfrm>
          <a:prstGeom prst="line">
            <a:avLst/>
          </a:prstGeom>
          <a:ln w="2540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77141" y="4099803"/>
            <a:ext cx="2426132" cy="0"/>
          </a:xfrm>
          <a:prstGeom prst="line">
            <a:avLst/>
          </a:prstGeom>
          <a:ln w="25400">
            <a:solidFill>
              <a:srgbClr val="182C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84367" y="3020811"/>
            <a:ext cx="2011680" cy="31089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Trunk</a:t>
            </a:r>
          </a:p>
          <a:p>
            <a:pPr algn="ctr">
              <a:lnSpc>
                <a:spcPct val="100000"/>
              </a:lnSpc>
            </a:pPr>
            <a:r>
              <a:rPr sz="8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業務VLAN / ゲストVLAN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3273" y="2709915"/>
            <a:ext cx="2106092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903273" y="4099803"/>
            <a:ext cx="2106092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2740113" y="2399019"/>
            <a:ext cx="621792" cy="621792"/>
          </a:xfrm>
          <a:prstGeom prst="ellipse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977" y="2453883"/>
            <a:ext cx="512064" cy="5120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282913" y="3039099"/>
            <a:ext cx="1536192" cy="158305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業務PC A</a:t>
            </a:r>
          </a:p>
        </p:txBody>
      </p:sp>
      <p:sp>
        <p:nvSpPr>
          <p:cNvPr id="33" name="Oval 32"/>
          <p:cNvSpPr/>
          <p:nvPr/>
        </p:nvSpPr>
        <p:spPr>
          <a:xfrm>
            <a:off x="2740113" y="3788907"/>
            <a:ext cx="621792" cy="621792"/>
          </a:xfrm>
          <a:prstGeom prst="ellipse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977" y="3843771"/>
            <a:ext cx="512064" cy="5120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282913" y="4428987"/>
            <a:ext cx="1536192" cy="158305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ゲスト端末 A</a:t>
            </a:r>
          </a:p>
        </p:txBody>
      </p:sp>
      <p:sp>
        <p:nvSpPr>
          <p:cNvPr id="36" name="Oval 35"/>
          <p:cNvSpPr/>
          <p:nvPr/>
        </p:nvSpPr>
        <p:spPr>
          <a:xfrm>
            <a:off x="5166245" y="3093963"/>
            <a:ext cx="621792" cy="621792"/>
          </a:xfrm>
          <a:prstGeom prst="ellipse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sw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109" y="3148827"/>
            <a:ext cx="512064" cy="51206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09045" y="3734043"/>
            <a:ext cx="1536192" cy="158305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スイッチA</a:t>
            </a:r>
          </a:p>
        </p:txBody>
      </p:sp>
      <p:sp>
        <p:nvSpPr>
          <p:cNvPr id="39" name="Oval 38"/>
          <p:cNvSpPr/>
          <p:nvPr/>
        </p:nvSpPr>
        <p:spPr>
          <a:xfrm>
            <a:off x="7592377" y="3093963"/>
            <a:ext cx="621792" cy="621792"/>
          </a:xfrm>
          <a:prstGeom prst="ellipse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w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7241" y="3148827"/>
            <a:ext cx="512064" cy="5120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135177" y="3734043"/>
            <a:ext cx="1536192" cy="158305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スイッチB</a:t>
            </a:r>
          </a:p>
        </p:txBody>
      </p:sp>
      <p:sp>
        <p:nvSpPr>
          <p:cNvPr id="42" name="Oval 41"/>
          <p:cNvSpPr/>
          <p:nvPr/>
        </p:nvSpPr>
        <p:spPr>
          <a:xfrm>
            <a:off x="10018509" y="2399019"/>
            <a:ext cx="621792" cy="621792"/>
          </a:xfrm>
          <a:prstGeom prst="ellipse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3373" y="2453883"/>
            <a:ext cx="512064" cy="51206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561309" y="3039099"/>
            <a:ext cx="1536192" cy="158305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業務PC B</a:t>
            </a:r>
          </a:p>
        </p:txBody>
      </p:sp>
      <p:sp>
        <p:nvSpPr>
          <p:cNvPr id="45" name="Oval 44"/>
          <p:cNvSpPr/>
          <p:nvPr/>
        </p:nvSpPr>
        <p:spPr>
          <a:xfrm>
            <a:off x="10018509" y="3788907"/>
            <a:ext cx="621792" cy="621792"/>
          </a:xfrm>
          <a:prstGeom prst="ellipse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373" y="3843771"/>
            <a:ext cx="512064" cy="51206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561309" y="4428987"/>
            <a:ext cx="1536192" cy="158305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ゲスト端末 B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76072" y="6117336"/>
            <a:ext cx="256032" cy="0"/>
          </a:xfrm>
          <a:prstGeom prst="line">
            <a:avLst/>
          </a:prstGeom>
          <a:ln w="1905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05256" y="6035040"/>
            <a:ext cx="52692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Access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651635" y="6117336"/>
            <a:ext cx="256031" cy="0"/>
          </a:xfrm>
          <a:prstGeom prst="line">
            <a:avLst/>
          </a:prstGeom>
          <a:ln w="2540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980818" y="6035040"/>
            <a:ext cx="10824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Trunk (複数VLAN)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26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IPパケット状態の追跡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NAT前後の送信元IPを、処理段階ごとに追跡する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NATでは送信元IPを書き換え、宛先IPは維持したまま外部へ転送する。</a:t>
            </a:r>
          </a:p>
        </p:txBody>
      </p:sp>
      <p:pic>
        <p:nvPicPr>
          <p:cNvPr id="6" name="Picture 5" descr="lap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823" y="1910588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56232" y="2276348"/>
            <a:ext cx="1736079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社内端末</a:t>
            </a:r>
          </a:p>
        </p:txBody>
      </p:sp>
      <p:pic>
        <p:nvPicPr>
          <p:cNvPr id="8" name="Picture 7" descr="ether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223" y="1910588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66631" y="2276348"/>
            <a:ext cx="1736079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ルーター内側</a:t>
            </a:r>
          </a:p>
        </p:txBody>
      </p:sp>
      <p:pic>
        <p:nvPicPr>
          <p:cNvPr id="10" name="Picture 9" descr="swi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623" y="1910588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77031" y="2276348"/>
            <a:ext cx="1736079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NAT処理</a:t>
            </a:r>
          </a:p>
        </p:txBody>
      </p:sp>
      <p:sp>
        <p:nvSpPr>
          <p:cNvPr id="12" name="layout-background:protocol-state-flow:stage:internet"/>
          <p:cNvSpPr/>
          <p:nvPr/>
        </p:nvSpPr>
        <p:spPr>
          <a:xfrm>
            <a:off x="7805135" y="2568956"/>
            <a:ext cx="1900671" cy="2084832"/>
          </a:xfrm>
          <a:prstGeom prst="rect">
            <a:avLst/>
          </a:prstGeom>
          <a:solidFill>
            <a:srgbClr val="EA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023" y="1910588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87431" y="2276348"/>
            <a:ext cx="1736079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インターネット区間</a:t>
            </a:r>
          </a:p>
        </p:txBody>
      </p:sp>
      <p:pic>
        <p:nvPicPr>
          <p:cNvPr id="15" name="Picture 14" descr="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423" y="1910588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97831" y="2276348"/>
            <a:ext cx="1736079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外部サーバー</a:t>
            </a:r>
          </a:p>
        </p:txBody>
      </p:sp>
      <p:sp>
        <p:nvSpPr>
          <p:cNvPr id="17" name="layout-background:protocol-state-flow:track:0"/>
          <p:cNvSpPr/>
          <p:nvPr/>
        </p:nvSpPr>
        <p:spPr>
          <a:xfrm>
            <a:off x="502920" y="2642108"/>
            <a:ext cx="11185855" cy="896112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24988"/>
            <a:ext cx="1115568" cy="1770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送信元IP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038602"/>
            <a:ext cx="1115568" cy="4081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アドレス変換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27191" y="2898140"/>
            <a:ext cx="1004560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37591" y="2898140"/>
            <a:ext cx="1004560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47991" y="2898140"/>
            <a:ext cx="1004560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58391" y="2898140"/>
            <a:ext cx="1004560" cy="0"/>
          </a:xfrm>
          <a:prstGeom prst="line">
            <a:avLst/>
          </a:prstGeom>
          <a:ln w="2032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tocol-state-flow:marker:plain"/>
          <p:cNvSpPr/>
          <p:nvPr/>
        </p:nvSpPr>
        <p:spPr>
          <a:xfrm>
            <a:off x="2257927" y="2806700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83664" y="3081020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10.0.0.25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83664" y="3275584"/>
            <a:ext cx="1681215" cy="171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端末のプライベートIP</a:t>
            </a:r>
          </a:p>
        </p:txBody>
      </p:sp>
      <p:sp>
        <p:nvSpPr>
          <p:cNvPr id="27" name="protocol-state-flow:marker:plain"/>
          <p:cNvSpPr/>
          <p:nvPr/>
        </p:nvSpPr>
        <p:spPr>
          <a:xfrm>
            <a:off x="4268327" y="2806700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94063" y="3081020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10.0.0.25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94063" y="3275584"/>
            <a:ext cx="1681215" cy="171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変換前の送信元</a:t>
            </a:r>
          </a:p>
        </p:txBody>
      </p:sp>
      <p:sp>
        <p:nvSpPr>
          <p:cNvPr id="30" name="protocol-state-flow:marker:internal"/>
          <p:cNvSpPr/>
          <p:nvPr/>
        </p:nvSpPr>
        <p:spPr>
          <a:xfrm>
            <a:off x="6278727" y="2879852"/>
            <a:ext cx="932688" cy="36576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04463" y="3081020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203.0.113.10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04463" y="3275584"/>
            <a:ext cx="1681215" cy="171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送信元を書き換え</a:t>
            </a:r>
          </a:p>
        </p:txBody>
      </p:sp>
      <p:sp>
        <p:nvSpPr>
          <p:cNvPr id="33" name="protocol-state-flow:marker:plain"/>
          <p:cNvSpPr/>
          <p:nvPr/>
        </p:nvSpPr>
        <p:spPr>
          <a:xfrm>
            <a:off x="8289127" y="2806700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4863" y="3081020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203.0.113.10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4863" y="3275584"/>
            <a:ext cx="1681215" cy="171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変換後のパケット</a:t>
            </a:r>
          </a:p>
        </p:txBody>
      </p:sp>
      <p:sp>
        <p:nvSpPr>
          <p:cNvPr id="36" name="protocol-state-flow:marker:plain"/>
          <p:cNvSpPr/>
          <p:nvPr/>
        </p:nvSpPr>
        <p:spPr>
          <a:xfrm>
            <a:off x="10299527" y="2806700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0D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25263" y="3081020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203.0.113.10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5263" y="3275584"/>
            <a:ext cx="1681215" cy="171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外部から見える送信元</a:t>
            </a:r>
          </a:p>
        </p:txBody>
      </p:sp>
      <p:sp>
        <p:nvSpPr>
          <p:cNvPr id="39" name="layout-background:protocol-state-flow:track:1"/>
          <p:cNvSpPr/>
          <p:nvPr/>
        </p:nvSpPr>
        <p:spPr>
          <a:xfrm>
            <a:off x="502920" y="3684524"/>
            <a:ext cx="11185855" cy="896112"/>
          </a:xfrm>
          <a:prstGeom prst="rect">
            <a:avLst/>
          </a:prstGeom>
          <a:solidFill>
            <a:srgbClr val="E4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867404"/>
            <a:ext cx="1115568" cy="1770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宛先IP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081018"/>
            <a:ext cx="1115568" cy="4081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変化なし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227191" y="3940555"/>
            <a:ext cx="1004560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37591" y="3940555"/>
            <a:ext cx="1004560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247991" y="3940555"/>
            <a:ext cx="1004560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58391" y="3940555"/>
            <a:ext cx="1004560" cy="0"/>
          </a:xfrm>
          <a:prstGeom prst="line">
            <a:avLst/>
          </a:prstGeom>
          <a:ln w="20320">
            <a:solidFill>
              <a:srgbClr val="182C4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protocol-state-flow:marker:plain"/>
          <p:cNvSpPr/>
          <p:nvPr/>
        </p:nvSpPr>
        <p:spPr>
          <a:xfrm>
            <a:off x="2257927" y="3849116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83664" y="4123435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198.51.100.20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83664" y="4318000"/>
            <a:ext cx="1681215" cy="171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外部サーバー</a:t>
            </a:r>
          </a:p>
        </p:txBody>
      </p:sp>
      <p:sp>
        <p:nvSpPr>
          <p:cNvPr id="49" name="protocol-state-flow:marker:plain"/>
          <p:cNvSpPr/>
          <p:nvPr/>
        </p:nvSpPr>
        <p:spPr>
          <a:xfrm>
            <a:off x="4268327" y="3849116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94063" y="4123435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198.51.100.20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94063" y="4318000"/>
            <a:ext cx="1681215" cy="171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宛先を維持</a:t>
            </a:r>
          </a:p>
        </p:txBody>
      </p:sp>
      <p:sp>
        <p:nvSpPr>
          <p:cNvPr id="52" name="protocol-state-flow:marker:internal"/>
          <p:cNvSpPr/>
          <p:nvPr/>
        </p:nvSpPr>
        <p:spPr>
          <a:xfrm>
            <a:off x="6278727" y="3922268"/>
            <a:ext cx="932688" cy="36576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04463" y="4123435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198.51.100.20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04463" y="4318000"/>
            <a:ext cx="1681215" cy="171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宛先を維持</a:t>
            </a:r>
          </a:p>
        </p:txBody>
      </p:sp>
      <p:sp>
        <p:nvSpPr>
          <p:cNvPr id="55" name="protocol-state-flow:marker:plain"/>
          <p:cNvSpPr/>
          <p:nvPr/>
        </p:nvSpPr>
        <p:spPr>
          <a:xfrm>
            <a:off x="8289127" y="3849116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14863" y="4123435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198.51.100.20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14863" y="4318000"/>
            <a:ext cx="1681215" cy="171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外部へ転送</a:t>
            </a:r>
          </a:p>
        </p:txBody>
      </p:sp>
      <p:sp>
        <p:nvSpPr>
          <p:cNvPr id="58" name="protocol-state-flow:marker:plain"/>
          <p:cNvSpPr/>
          <p:nvPr/>
        </p:nvSpPr>
        <p:spPr>
          <a:xfrm>
            <a:off x="10299527" y="3849116"/>
            <a:ext cx="932688" cy="182880"/>
          </a:xfrm>
          <a:prstGeom prst="rect">
            <a:avLst/>
          </a:prstGeom>
          <a:solidFill>
            <a:srgbClr val="F9F8F4"/>
          </a:solidFill>
          <a:ln w="9525">
            <a:solidFill>
              <a:srgbClr val="18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25263" y="4123435"/>
            <a:ext cx="1681215" cy="1671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198.51.100.20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5263" y="4318000"/>
            <a:ext cx="1681215" cy="1711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自分宛てとして受信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27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プロトコル構造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TCPセグメントを分解し、制御情報とデータの位置を読む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フィールドを位置で捉え、パケットキャプチャの値を役割へ結び付ける。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2294636"/>
            <a:ext cx="9784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TCP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111756"/>
            <a:ext cx="939546" cy="841248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221484"/>
            <a:ext cx="848106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送信元Port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2496" y="2724404"/>
            <a:ext cx="8663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16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5466" y="2111756"/>
            <a:ext cx="939546" cy="841248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1186" y="2221484"/>
            <a:ext cx="848106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宛先Port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2042" y="2724404"/>
            <a:ext cx="8663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16 bit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5012" y="2111756"/>
            <a:ext cx="1105738" cy="841248"/>
          </a:xfrm>
          <a:prstGeom prst="rect">
            <a:avLst/>
          </a:prstGeom>
          <a:solidFill>
            <a:srgbClr val="DFEBE8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0732" y="2221484"/>
            <a:ext cx="1014298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1588" y="2724404"/>
            <a:ext cx="103258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32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0750" y="2111756"/>
            <a:ext cx="1105738" cy="841248"/>
          </a:xfrm>
          <a:prstGeom prst="rect">
            <a:avLst/>
          </a:prstGeom>
          <a:solidFill>
            <a:srgbClr val="DFEBE8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6470" y="2221484"/>
            <a:ext cx="1014298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7326" y="2724404"/>
            <a:ext cx="103258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32 bit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36488" y="2111756"/>
            <a:ext cx="589788" cy="841248"/>
          </a:xfrm>
          <a:prstGeom prst="rect">
            <a:avLst/>
          </a:prstGeom>
          <a:solidFill>
            <a:srgbClr val="F1E3DF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2208" y="2221484"/>
            <a:ext cx="498348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C7583E"/>
                </a:solidFill>
                <a:latin typeface="Yu Gothic"/>
                <a:ea typeface="Yu Gothic"/>
                <a:cs typeface="Yu Gothic"/>
              </a:rPr>
              <a:t>Flags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3064" y="2724404"/>
            <a:ext cx="5166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9 bit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6276" y="2111756"/>
            <a:ext cx="939546" cy="841248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1996" y="2221484"/>
            <a:ext cx="848106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852" y="2724404"/>
            <a:ext cx="86639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16 bit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5822" y="2111756"/>
            <a:ext cx="4422952" cy="841248"/>
          </a:xfrm>
          <a:prstGeom prst="rect">
            <a:avLst/>
          </a:prstGeom>
          <a:solidFill>
            <a:srgbClr val="ECEAE4"/>
          </a:solidFill>
          <a:ln w="9525">
            <a:solidFill>
              <a:srgbClr val="D1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1542" y="2221484"/>
            <a:ext cx="4331512" cy="403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Payload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02398" y="2724404"/>
            <a:ext cx="43498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512 bit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85800" y="2971292"/>
            <a:ext cx="3392081" cy="182879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3209035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Sequence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" y="3209035"/>
            <a:ext cx="297271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受信側が並び順と欠落を判断する番号。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4481474" y="2971292"/>
            <a:ext cx="702145" cy="182879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98594" y="3209035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7506" y="3209035"/>
            <a:ext cx="315559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次に受信したい位置を相手へ通知する。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31382" y="2971292"/>
            <a:ext cx="2245766" cy="182879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94268" y="3209035"/>
            <a:ext cx="3840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Flags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3180" y="3209035"/>
            <a:ext cx="315559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接続開始・終了などの状態を示す。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28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設定と確認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設定例と確認コマンドを並べ、変更後の状態まで検証する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コマンドの実行ではなく、期待状態の確認までを作業単位とする。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11756"/>
            <a:ext cx="6903720" cy="4014723"/>
          </a:xfrm>
          <a:prstGeom prst="rect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94636"/>
            <a:ext cx="6391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8FD4CC"/>
                </a:solidFill>
                <a:latin typeface="Yu Gothic"/>
                <a:ea typeface="Yu Gothic"/>
                <a:cs typeface="Yu Gothic"/>
              </a:rPr>
              <a:t>設定例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14676"/>
            <a:ext cx="6391656" cy="12575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service: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 image: example/app:2.4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 replicas: 3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 healthcheck: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    path: 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393438"/>
            <a:ext cx="63916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lang="ja-JP">
                <a:solidFill>
                  <a:srgbClr val="8FD4CC"/>
                </a:solidFill>
                <a:latin typeface="Yu Gothic"/>
                <a:ea typeface="Yu Gothic"/>
                <a:cs typeface="Yu Gothic"/>
              </a:rPr>
              <a:t>確認コマンド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713477"/>
            <a:ext cx="6391656" cy="125755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deploy --file service.yml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status service</a:t>
            </a:r>
          </a:p>
          <a:p>
            <a:pPr algn="l">
              <a:lnSpc>
                <a:spcPct val="118000"/>
              </a:lnSpc>
            </a:pPr>
            <a:r>
              <a:rPr sz="1300" b="0" lang="ja-JP">
                <a:solidFill>
                  <a:srgbClr val="FFFFFC"/>
                </a:solidFill>
                <a:latin typeface="Consolas"/>
                <a:ea typeface="Consolas"/>
                <a:cs typeface="Consolas"/>
              </a:rPr>
              <a:t>logs service --tail 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130044"/>
            <a:ext cx="389808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確認する状態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90688" y="2541524"/>
            <a:ext cx="3898087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2696972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3" y="2678684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稼働数が指定したreplicasと一致している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3" y="3494912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3549777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3531489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healthcheckが成功し、トラフィックを</a:t>
            </a:r>
          </a:p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受けられる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3" y="4347717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4402581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3" y="4384293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直近ログに起動失敗や設定エラーがない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5200522"/>
            <a:ext cx="3495751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5255386"/>
            <a:ext cx="3108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5237098"/>
            <a:ext cx="3495751" cy="7796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2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切り戻し用の直前バージョンを特定できる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29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理解度チェック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判断理由を選び、運用設計の理解を確認する</a:t>
            </a:r>
          </a:p>
        </p:txBody>
      </p:sp>
      <p:sp>
        <p:nvSpPr>
          <p:cNvPr id="5" name="Oval 4"/>
          <p:cNvSpPr/>
          <p:nvPr/>
        </p:nvSpPr>
        <p:spPr>
          <a:xfrm>
            <a:off x="521208" y="1906706"/>
            <a:ext cx="384048" cy="38404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90670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888418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監視通知を設計するとき、最初に決めるものはどれか。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193218"/>
            <a:ext cx="233400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A. 検知したい利用者影響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3310" y="2193218"/>
            <a:ext cx="17785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B. 通知メールの色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66410" y="2193218"/>
            <a:ext cx="159334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担当者の座席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4712" y="2693090"/>
            <a:ext cx="1052748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1208" y="2821106"/>
            <a:ext cx="384048" cy="38404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82110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2802818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変更後の確認として最も適切なものはどれか。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107618"/>
            <a:ext cx="25191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A. コマンドが終了したこと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8476" y="3107618"/>
            <a:ext cx="25191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B. 期待状態と実測値の一致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07618"/>
            <a:ext cx="196367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手順書のページ数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2" y="3607490"/>
            <a:ext cx="10527487" cy="7315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3735506"/>
            <a:ext cx="384048" cy="384048"/>
          </a:xfrm>
          <a:prstGeom prst="ellipse">
            <a:avLst/>
          </a:prstGeom>
          <a:solidFill>
            <a:srgbClr val="182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73550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717218"/>
            <a:ext cx="9921240" cy="249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例外対応を残すときに必要な情報はどれか。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4022018"/>
            <a:ext cx="196367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A. 適用条件と承認者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2978" y="4022018"/>
            <a:ext cx="159334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B. 作成者の好み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4022018"/>
            <a:ext cx="14081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C. 画面の配色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30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対象範囲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実施範囲と対象外を分け、責任境界を明確にする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必要なデータ、関係部門のレビュー体制、既存基盤の安定稼働を着手条件とする。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020316"/>
            <a:ext cx="5437479" cy="2953511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20316"/>
            <a:ext cx="5437479" cy="566928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111756"/>
            <a:ext cx="384048" cy="384048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26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2166620"/>
            <a:ext cx="4541367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実施範囲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2587244"/>
            <a:ext cx="5437479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31520" y="2893568"/>
            <a:ext cx="64008" cy="6400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660396"/>
            <a:ext cx="4815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対象業務の要件整理と新しい運用フローの設計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1832" y="3190748"/>
            <a:ext cx="4779111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731520" y="3487928"/>
            <a:ext cx="64008" cy="6400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254756"/>
            <a:ext cx="4815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既存システムとのインターフェース設計・実装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1832" y="3785107"/>
            <a:ext cx="4779111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31520" y="4082288"/>
            <a:ext cx="64008" cy="6400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849116"/>
            <a:ext cx="4815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本番移行と初期運用期間の問い合わせ対応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832" y="4379468"/>
            <a:ext cx="4779111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1520" y="4676647"/>
            <a:ext cx="64008" cy="64008"/>
          </a:xfrm>
          <a:prstGeom prst="rect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443475"/>
            <a:ext cx="4815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利用部門向けの操作説明と運用手順の整備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1295" y="2020316"/>
            <a:ext cx="5437479" cy="2953511"/>
          </a:xfrm>
          <a:prstGeom prst="rect">
            <a:avLst/>
          </a:prstGeom>
          <a:solidFill>
            <a:srgbClr val="FAF9F5"/>
          </a:solidFill>
          <a:ln w="9525">
            <a:solidFill>
              <a:srgbClr val="D1CF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1295" y="2020316"/>
            <a:ext cx="5437479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34175" y="2111756"/>
            <a:ext cx="384048" cy="384048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4175" y="21026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6239" y="2166620"/>
            <a:ext cx="4541367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対象外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51295" y="2587244"/>
            <a:ext cx="5437480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479895" y="2893568"/>
            <a:ext cx="64008" cy="64008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0207" y="2660396"/>
            <a:ext cx="4815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端末・ネットワーク機器の調達と設置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690207" y="3190748"/>
            <a:ext cx="4779112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79895" y="3487928"/>
            <a:ext cx="64008" cy="64008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0207" y="3254756"/>
            <a:ext cx="4815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今回の対象外となる周辺システムの機能改修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90207" y="3785107"/>
            <a:ext cx="4779112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479895" y="4082288"/>
            <a:ext cx="64008" cy="64008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0207" y="3849116"/>
            <a:ext cx="4815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初期運用期間終了後の長期保守業務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90207" y="4379468"/>
            <a:ext cx="4779112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479895" y="4676647"/>
            <a:ext cx="64008" cy="64008"/>
          </a:xfrm>
          <a:prstGeom prst="rect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0207" y="4443475"/>
            <a:ext cx="4815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移行元データの名寄せと内容補正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31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経営判断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6つの判断材料を同じ粒度で比較する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各項目を同格に並べ、採用条件と実行上の論点を確認する。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39772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21484"/>
            <a:ext cx="2493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期待効果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51836"/>
            <a:ext cx="2401824" cy="1143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作成とレビューの手戻りを減らし、提出品質を揃える。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151122"/>
            <a:ext cx="2493264" cy="10972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3232" y="2239772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0" y="2221484"/>
            <a:ext cx="2493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対象業務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600" y="2751836"/>
            <a:ext cx="2401824" cy="1143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頻度が高く構成の共通性が高い資料から導入する。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1600" y="4151122"/>
            <a:ext cx="2493264" cy="10972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3232" y="2239772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600" y="2221484"/>
            <a:ext cx="2493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実現性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600" y="2751836"/>
            <a:ext cx="2401824" cy="1143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既存フローを活用し、部門ごとに順次導入できる。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1600" y="4151122"/>
            <a:ext cx="2493264" cy="10972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370578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52290"/>
            <a:ext cx="2493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導入負荷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82642"/>
            <a:ext cx="2401824" cy="1143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初期教育と運用窓口の準備を展開計画へ含める。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3232" y="4370578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600" y="4352290"/>
            <a:ext cx="2493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主要リスク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600" y="4882642"/>
            <a:ext cx="2401824" cy="1143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例外資料と固有要件は標準化の対象から切り分ける。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3232" y="4370578"/>
            <a:ext cx="5303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1600" y="4352290"/>
            <a:ext cx="249326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判断基準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1600" y="4882642"/>
            <a:ext cx="2401824" cy="1143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品質、作成時間、運用負荷を測定して展開可否を決める。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32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方式比較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現行方式と標準方式を、同じ評価軸で比較する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短期の立ち上げは現行方式、中長期の横展開は標準方式が優位となる。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88372"/>
            <a:ext cx="4526280" cy="512064"/>
          </a:xfrm>
          <a:prstGeom prst="roundRect">
            <a:avLst>
              <a:gd name="adj" fmla="val 6000"/>
            </a:avLst>
          </a:prstGeom>
          <a:solidFill>
            <a:srgbClr val="182C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31152" y="2188372"/>
            <a:ext cx="4757623" cy="512064"/>
          </a:xfrm>
          <a:prstGeom prst="roundRect">
            <a:avLst>
              <a:gd name="adj" fmla="val 6000"/>
            </a:avLst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188372"/>
            <a:ext cx="4197096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現行方式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95744" y="2188372"/>
            <a:ext cx="44284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標準方式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307244"/>
            <a:ext cx="153619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評価軸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73588"/>
            <a:ext cx="4526280" cy="31089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31152" y="2773588"/>
            <a:ext cx="4757623" cy="3108960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029200" y="3084484"/>
            <a:ext cx="182880" cy="0"/>
          </a:xfrm>
          <a:prstGeom prst="line">
            <a:avLst/>
          </a:prstGeom>
          <a:ln w="15875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48272" y="3084484"/>
            <a:ext cx="182880" cy="0"/>
          </a:xfrm>
          <a:prstGeom prst="line">
            <a:avLst/>
          </a:prstGeom>
          <a:ln w="15875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7512" y="3395380"/>
            <a:ext cx="4197096" cy="0"/>
          </a:xfrm>
          <a:prstGeom prst="line">
            <a:avLst/>
          </a:prstGeom>
          <a:ln w="698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95744" y="3395380"/>
            <a:ext cx="4428439" cy="0"/>
          </a:xfrm>
          <a:prstGeom prst="line">
            <a:avLst/>
          </a:prstGeom>
          <a:ln w="698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0" y="3706276"/>
            <a:ext cx="182880" cy="0"/>
          </a:xfrm>
          <a:prstGeom prst="line">
            <a:avLst/>
          </a:prstGeom>
          <a:ln w="15875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48272" y="3706276"/>
            <a:ext cx="182880" cy="0"/>
          </a:xfrm>
          <a:prstGeom prst="line">
            <a:avLst/>
          </a:prstGeom>
          <a:ln w="15875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67512" y="4017172"/>
            <a:ext cx="4197096" cy="0"/>
          </a:xfrm>
          <a:prstGeom prst="line">
            <a:avLst/>
          </a:prstGeom>
          <a:ln w="698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95744" y="4017172"/>
            <a:ext cx="4428439" cy="0"/>
          </a:xfrm>
          <a:prstGeom prst="line">
            <a:avLst/>
          </a:prstGeom>
          <a:ln w="698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29200" y="4328068"/>
            <a:ext cx="182880" cy="0"/>
          </a:xfrm>
          <a:prstGeom prst="line">
            <a:avLst/>
          </a:prstGeom>
          <a:ln w="15875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748272" y="4328068"/>
            <a:ext cx="182880" cy="0"/>
          </a:xfrm>
          <a:prstGeom prst="line">
            <a:avLst/>
          </a:prstGeom>
          <a:ln w="15875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7512" y="4638964"/>
            <a:ext cx="4197096" cy="0"/>
          </a:xfrm>
          <a:prstGeom prst="line">
            <a:avLst/>
          </a:prstGeom>
          <a:ln w="698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95744" y="4638964"/>
            <a:ext cx="4428439" cy="0"/>
          </a:xfrm>
          <a:prstGeom prst="line">
            <a:avLst/>
          </a:prstGeom>
          <a:ln w="698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29200" y="4949860"/>
            <a:ext cx="182880" cy="0"/>
          </a:xfrm>
          <a:prstGeom prst="line">
            <a:avLst/>
          </a:prstGeom>
          <a:ln w="15875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48272" y="4949860"/>
            <a:ext cx="182880" cy="0"/>
          </a:xfrm>
          <a:prstGeom prst="line">
            <a:avLst/>
          </a:prstGeom>
          <a:ln w="15875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7512" y="5260756"/>
            <a:ext cx="4197096" cy="0"/>
          </a:xfrm>
          <a:prstGeom prst="line">
            <a:avLst/>
          </a:prstGeom>
          <a:ln w="698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95744" y="5260756"/>
            <a:ext cx="4428439" cy="0"/>
          </a:xfrm>
          <a:prstGeom prst="line">
            <a:avLst/>
          </a:prstGeom>
          <a:ln w="698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29200" y="5571652"/>
            <a:ext cx="182880" cy="0"/>
          </a:xfrm>
          <a:prstGeom prst="line">
            <a:avLst/>
          </a:prstGeom>
          <a:ln w="15875">
            <a:solidFill>
              <a:srgbClr val="666E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748272" y="5571652"/>
            <a:ext cx="182880" cy="0"/>
          </a:xfrm>
          <a:prstGeom prst="line">
            <a:avLst/>
          </a:prstGeom>
          <a:ln w="15875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2773588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担当者ごとの個別対応が多い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66944" y="2883316"/>
            <a:ext cx="1426464" cy="402336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66944" y="2883316"/>
            <a:ext cx="14264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運用負荷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2773588"/>
            <a:ext cx="43918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共通手順により確認作業を削減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395380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初期設定は少なく短期導入しやすい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66944" y="3505108"/>
            <a:ext cx="1426464" cy="402336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6944" y="3505108"/>
            <a:ext cx="14264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導入速度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3395380"/>
            <a:ext cx="43918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初期整備後は再利用によって展開を加速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017172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個別要望へ即時に対応できる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66944" y="4126900"/>
            <a:ext cx="1426464" cy="402336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66944" y="4126900"/>
            <a:ext cx="14264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柔軟性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4017172"/>
            <a:ext cx="43918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共通部品と例外ルールを組み合わせる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4638964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担当者の経験により差が生じる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66944" y="4748692"/>
            <a:ext cx="1426464" cy="402336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66944" y="4748692"/>
            <a:ext cx="14264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品質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4032" y="4638964"/>
            <a:ext cx="43918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標準検証により品質と一貫性を維持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260756"/>
            <a:ext cx="41605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対象拡大に比例して運用負荷が増える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66944" y="5370484"/>
            <a:ext cx="1426464" cy="402336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66944" y="5370484"/>
            <a:ext cx="14264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拡張性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2" y="5260756"/>
            <a:ext cx="4391863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共通基盤を再利用して対象を追加できる</a:t>
            </a:r>
          </a:p>
        </p:txBody>
      </p:sp>
      <p:sp>
        <p:nvSpPr>
          <p:cNvPr id="51" name="Oval 50"/>
          <p:cNvSpPr/>
          <p:nvPr/>
        </p:nvSpPr>
        <p:spPr>
          <a:xfrm>
            <a:off x="4983480" y="3038764"/>
            <a:ext cx="91440" cy="91440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85432" y="3038764"/>
            <a:ext cx="91440" cy="9144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983480" y="3660556"/>
            <a:ext cx="91440" cy="91440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885432" y="3660556"/>
            <a:ext cx="91440" cy="9144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983480" y="4282348"/>
            <a:ext cx="91440" cy="91440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885432" y="4282348"/>
            <a:ext cx="91440" cy="9144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983480" y="4904140"/>
            <a:ext cx="91440" cy="91440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885432" y="4904140"/>
            <a:ext cx="91440" cy="9144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983480" y="5525932"/>
            <a:ext cx="91440" cy="91440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885432" y="5525932"/>
            <a:ext cx="91440" cy="9144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33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対応関係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主要課題と施策をひも付け、対応漏れを確認する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" y="1645920"/>
            <a:ext cx="356615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主要課題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9224" y="2084832"/>
            <a:ext cx="4206240" cy="0"/>
          </a:xfrm>
          <a:prstGeom prst="line">
            <a:avLst/>
          </a:prstGeom>
          <a:ln w="1397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500823" y="1645920"/>
            <a:ext cx="356615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対応施策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36231" y="2084832"/>
            <a:ext cx="4206240" cy="0"/>
          </a:xfrm>
          <a:prstGeom prst="line">
            <a:avLst/>
          </a:prstGeom>
          <a:ln w="13970">
            <a:solidFill>
              <a:srgbClr val="0D78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55464" y="2423160"/>
            <a:ext cx="2480767" cy="0"/>
          </a:xfrm>
          <a:prstGeom prst="line">
            <a:avLst/>
          </a:prstGeom>
          <a:ln w="45720">
            <a:solidFill>
              <a:srgbClr val="F7F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55464" y="2423160"/>
            <a:ext cx="2480767" cy="0"/>
          </a:xfrm>
          <a:prstGeom prst="line">
            <a:avLst/>
          </a:prstGeom>
          <a:ln w="17780">
            <a:solidFill>
              <a:srgbClr val="0D78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55464" y="3721608"/>
            <a:ext cx="2480767" cy="0"/>
          </a:xfrm>
          <a:prstGeom prst="line">
            <a:avLst/>
          </a:prstGeom>
          <a:ln w="45720">
            <a:solidFill>
              <a:srgbClr val="F7F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55464" y="3721608"/>
            <a:ext cx="2480767" cy="0"/>
          </a:xfrm>
          <a:prstGeom prst="line">
            <a:avLst/>
          </a:prstGeom>
          <a:ln w="12700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55464" y="3721608"/>
            <a:ext cx="2480767" cy="649224"/>
          </a:xfrm>
          <a:prstGeom prst="line">
            <a:avLst/>
          </a:prstGeom>
          <a:ln w="45720">
            <a:solidFill>
              <a:srgbClr val="F7F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855464" y="3721608"/>
            <a:ext cx="2480767" cy="649224"/>
          </a:xfrm>
          <a:prstGeom prst="line">
            <a:avLst/>
          </a:prstGeom>
          <a:ln w="12700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55464" y="3072384"/>
            <a:ext cx="2480767" cy="0"/>
          </a:xfrm>
          <a:prstGeom prst="line">
            <a:avLst/>
          </a:prstGeom>
          <a:ln w="45720">
            <a:solidFill>
              <a:srgbClr val="F7F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55464" y="3072384"/>
            <a:ext cx="2480767" cy="0"/>
          </a:xfrm>
          <a:prstGeom prst="line">
            <a:avLst/>
          </a:prstGeom>
          <a:ln w="12700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55464" y="5020056"/>
            <a:ext cx="2480767" cy="0"/>
          </a:xfrm>
          <a:prstGeom prst="line">
            <a:avLst/>
          </a:prstGeom>
          <a:ln w="45720">
            <a:solidFill>
              <a:srgbClr val="F7F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55464" y="5020056"/>
            <a:ext cx="2480767" cy="0"/>
          </a:xfrm>
          <a:prstGeom prst="line">
            <a:avLst/>
          </a:prstGeom>
          <a:ln w="12700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55464" y="4370832"/>
            <a:ext cx="2480767" cy="0"/>
          </a:xfrm>
          <a:prstGeom prst="line">
            <a:avLst/>
          </a:prstGeom>
          <a:ln w="45720">
            <a:solidFill>
              <a:srgbClr val="F7F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55464" y="4370832"/>
            <a:ext cx="2480767" cy="0"/>
          </a:xfrm>
          <a:prstGeom prst="line">
            <a:avLst/>
          </a:prstGeom>
          <a:ln w="12700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9224" y="2157984"/>
            <a:ext cx="4206240" cy="53035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3524" y="2308860"/>
            <a:ext cx="228600" cy="22860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2313432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" y="2157984"/>
            <a:ext cx="356615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手作業が多く処理時間が長い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24712" y="2688336"/>
            <a:ext cx="3566160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49224" y="2807208"/>
            <a:ext cx="4206240" cy="53035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" y="2958084"/>
            <a:ext cx="228600" cy="22860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296265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2807208"/>
            <a:ext cx="356615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承認完了までの待ち時間が長い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24712" y="3337560"/>
            <a:ext cx="3566160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49224" y="3456432"/>
            <a:ext cx="4206240" cy="53035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3524" y="3607308"/>
            <a:ext cx="228600" cy="22860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361188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3456432"/>
            <a:ext cx="356615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データが複数の管理先へ分散している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24712" y="3986784"/>
            <a:ext cx="3566160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49224" y="4105656"/>
            <a:ext cx="4206240" cy="53035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63524" y="4256532"/>
            <a:ext cx="228600" cy="22860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4261104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" y="4105656"/>
            <a:ext cx="356615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進捗と課題の把握に時間がかかる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24712" y="4636008"/>
            <a:ext cx="3566160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49224" y="4754880"/>
            <a:ext cx="4206240" cy="53035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63524" y="4905756"/>
            <a:ext cx="228600" cy="22860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491032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" y="4754880"/>
            <a:ext cx="356615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成果物の品質にばらつきがある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36231" y="2157984"/>
            <a:ext cx="4206240" cy="530352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199571" y="2308860"/>
            <a:ext cx="228600" cy="22860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04143" y="2313432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00823" y="2157984"/>
            <a:ext cx="356615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定型作業の標準化と自動化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500823" y="2688336"/>
            <a:ext cx="3502152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7336231" y="2807208"/>
            <a:ext cx="4206240" cy="530352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199571" y="2958084"/>
            <a:ext cx="228600" cy="22860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204143" y="2962656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00823" y="2807208"/>
            <a:ext cx="356615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承認条件と判断権限の見直し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500823" y="3337560"/>
            <a:ext cx="3502152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7336231" y="3456432"/>
            <a:ext cx="4206240" cy="530352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199571" y="3607308"/>
            <a:ext cx="228600" cy="22860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04143" y="3611880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00823" y="3456432"/>
            <a:ext cx="356615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データ管理先の統合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500823" y="3986784"/>
            <a:ext cx="3502152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336231" y="4105656"/>
            <a:ext cx="4206240" cy="530352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199571" y="4256532"/>
            <a:ext cx="228600" cy="22860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204143" y="4261104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00823" y="4105656"/>
            <a:ext cx="356615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進捗・課題ダッシュボードの整備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500823" y="4636008"/>
            <a:ext cx="3502152" cy="0"/>
          </a:xfrm>
          <a:prstGeom prst="line">
            <a:avLst/>
          </a:prstGeom>
          <a:ln w="5715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7336231" y="4754880"/>
            <a:ext cx="4206240" cy="530352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199571" y="4905756"/>
            <a:ext cx="228600" cy="228600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204143" y="491032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00823" y="4754880"/>
            <a:ext cx="3566159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レビュー基準と品質ゲートの整備</a:t>
            </a:r>
          </a:p>
        </p:txBody>
      </p:sp>
      <p:sp>
        <p:nvSpPr>
          <p:cNvPr id="69" name="Oval 68"/>
          <p:cNvSpPr/>
          <p:nvPr/>
        </p:nvSpPr>
        <p:spPr>
          <a:xfrm>
            <a:off x="4818888" y="2386584"/>
            <a:ext cx="73152" cy="73152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818888" y="3035808"/>
            <a:ext cx="73152" cy="73152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818888" y="3685032"/>
            <a:ext cx="73152" cy="73152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818888" y="4334256"/>
            <a:ext cx="73152" cy="73152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818888" y="4983480"/>
            <a:ext cx="73152" cy="73152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299655" y="2386584"/>
            <a:ext cx="73152" cy="73152"/>
          </a:xfrm>
          <a:prstGeom prst="ellipse">
            <a:avLst/>
          </a:prstGeom>
          <a:solidFill>
            <a:srgbClr val="0D78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299655" y="3035808"/>
            <a:ext cx="73152" cy="73152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299655" y="3685032"/>
            <a:ext cx="73152" cy="73152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299655" y="4334256"/>
            <a:ext cx="73152" cy="73152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299655" y="4983480"/>
            <a:ext cx="73152" cy="73152"/>
          </a:xfrm>
          <a:prstGeom prst="ellipse">
            <a:avLst/>
          </a:prstGeom>
          <a:solidFill>
            <a:srgbClr val="666E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34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障害対応フロー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障害対応スイムレーン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担当境界と引き継ぎ点を明示し、対応漏れを防止する。</a:t>
            </a:r>
          </a:p>
        </p:txBody>
      </p:sp>
      <p:sp>
        <p:nvSpPr>
          <p:cNvPr id="6" name="qa-surface-on-canvas:swimlane-stage:detect"/>
          <p:cNvSpPr/>
          <p:nvPr/>
        </p:nvSpPr>
        <p:spPr>
          <a:xfrm>
            <a:off x="1499616" y="1892300"/>
            <a:ext cx="2624328" cy="338328"/>
          </a:xfrm>
          <a:prstGeom prst="chevron">
            <a:avLst/>
          </a:prstGeom>
          <a:solidFill>
            <a:srgbClr val="F7F5EF"/>
          </a:solidFill>
          <a:ln w="10795">
            <a:solidFill>
              <a:srgbClr val="BBB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1947164"/>
            <a:ext cx="23317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検知・申告</a:t>
            </a:r>
          </a:p>
        </p:txBody>
      </p:sp>
      <p:sp>
        <p:nvSpPr>
          <p:cNvPr id="8" name="qa-surface-on-canvas:swimlane-stage:verify"/>
          <p:cNvSpPr/>
          <p:nvPr/>
        </p:nvSpPr>
        <p:spPr>
          <a:xfrm>
            <a:off x="4087368" y="1892300"/>
            <a:ext cx="2624328" cy="338328"/>
          </a:xfrm>
          <a:prstGeom prst="chevron">
            <a:avLst/>
          </a:prstGeom>
          <a:solidFill>
            <a:srgbClr val="F7F5EF"/>
          </a:solidFill>
          <a:ln w="10795">
            <a:solidFill>
              <a:srgbClr val="BBB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15384" y="1947164"/>
            <a:ext cx="23317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確認・切り分け</a:t>
            </a:r>
          </a:p>
        </p:txBody>
      </p:sp>
      <p:sp>
        <p:nvSpPr>
          <p:cNvPr id="10" name="qa-surface-on-canvas:swimlane-stage:recover"/>
          <p:cNvSpPr/>
          <p:nvPr/>
        </p:nvSpPr>
        <p:spPr>
          <a:xfrm>
            <a:off x="6675120" y="1892300"/>
            <a:ext cx="2624328" cy="338328"/>
          </a:xfrm>
          <a:prstGeom prst="chevron">
            <a:avLst/>
          </a:prstGeom>
          <a:solidFill>
            <a:srgbClr val="F7F5EF"/>
          </a:solidFill>
          <a:ln w="10795">
            <a:solidFill>
              <a:srgbClr val="BBB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47164"/>
            <a:ext cx="23317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対応・復旧</a:t>
            </a:r>
          </a:p>
        </p:txBody>
      </p:sp>
      <p:sp>
        <p:nvSpPr>
          <p:cNvPr id="12" name="qa-surface-on-canvas:swimlane-stage:close"/>
          <p:cNvSpPr/>
          <p:nvPr/>
        </p:nvSpPr>
        <p:spPr>
          <a:xfrm>
            <a:off x="9262872" y="1892300"/>
            <a:ext cx="2587752" cy="338328"/>
          </a:xfrm>
          <a:prstGeom prst="chevron">
            <a:avLst/>
          </a:prstGeom>
          <a:solidFill>
            <a:srgbClr val="F7F5EF"/>
          </a:solidFill>
          <a:ln w="10795">
            <a:solidFill>
              <a:srgbClr val="BBB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0888" y="1947164"/>
            <a:ext cx="233172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確認・完了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" y="2230628"/>
            <a:ext cx="1161288" cy="868680"/>
          </a:xfrm>
          <a:prstGeom prst="rect">
            <a:avLst/>
          </a:prstGeom>
          <a:solidFill>
            <a:srgbClr val="EAF0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99616" y="2230628"/>
            <a:ext cx="10351008" cy="86868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" y="2230628"/>
            <a:ext cx="960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利用部門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" y="3099308"/>
            <a:ext cx="11512296" cy="0"/>
          </a:xfrm>
          <a:prstGeom prst="line">
            <a:avLst/>
          </a:prstGeom>
          <a:ln w="8255">
            <a:solidFill>
              <a:srgbClr val="BBBA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38328" y="3099308"/>
            <a:ext cx="1161288" cy="868680"/>
          </a:xfrm>
          <a:prstGeom prst="rect">
            <a:avLst/>
          </a:prstGeom>
          <a:solidFill>
            <a:srgbClr val="EAF0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99616" y="3099308"/>
            <a:ext cx="10351008" cy="86868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3099308"/>
            <a:ext cx="960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運用担当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" y="3967988"/>
            <a:ext cx="11512296" cy="0"/>
          </a:xfrm>
          <a:prstGeom prst="line">
            <a:avLst/>
          </a:prstGeom>
          <a:ln w="8255">
            <a:solidFill>
              <a:srgbClr val="BBBA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8328" y="3967988"/>
            <a:ext cx="1161288" cy="868680"/>
          </a:xfrm>
          <a:prstGeom prst="rect">
            <a:avLst/>
          </a:prstGeom>
          <a:solidFill>
            <a:srgbClr val="EAF0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99616" y="3967988"/>
            <a:ext cx="10351008" cy="86868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" y="3967988"/>
            <a:ext cx="960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NW担当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8328" y="4836668"/>
            <a:ext cx="11512296" cy="0"/>
          </a:xfrm>
          <a:prstGeom prst="line">
            <a:avLst/>
          </a:prstGeom>
          <a:ln w="8255">
            <a:solidFill>
              <a:srgbClr val="BBBA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38328" y="4836668"/>
            <a:ext cx="1161288" cy="868680"/>
          </a:xfrm>
          <a:prstGeom prst="rect">
            <a:avLst/>
          </a:prstGeom>
          <a:solidFill>
            <a:srgbClr val="EAF0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99616" y="4836668"/>
            <a:ext cx="10351008" cy="86868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" y="4836668"/>
            <a:ext cx="9601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回線事業者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8328" y="5705348"/>
            <a:ext cx="11512296" cy="0"/>
          </a:xfrm>
          <a:prstGeom prst="line">
            <a:avLst/>
          </a:prstGeom>
          <a:ln w="8255">
            <a:solidFill>
              <a:srgbClr val="BBBA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499616" y="2230628"/>
            <a:ext cx="10351008" cy="0"/>
          </a:xfrm>
          <a:prstGeom prst="line">
            <a:avLst/>
          </a:prstGeom>
          <a:ln w="10795">
            <a:solidFill>
              <a:srgbClr val="BBBA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499616" y="2230628"/>
            <a:ext cx="0" cy="3474720"/>
          </a:xfrm>
          <a:prstGeom prst="line">
            <a:avLst/>
          </a:prstGeom>
          <a:ln w="10160">
            <a:solidFill>
              <a:srgbClr val="BBBA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087368" y="2230628"/>
            <a:ext cx="0" cy="3474720"/>
          </a:xfrm>
          <a:prstGeom prst="line">
            <a:avLst/>
          </a:prstGeom>
          <a:ln w="6985">
            <a:solidFill>
              <a:srgbClr val="BBBA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675120" y="2230628"/>
            <a:ext cx="0" cy="3474720"/>
          </a:xfrm>
          <a:prstGeom prst="line">
            <a:avLst/>
          </a:prstGeom>
          <a:ln w="6985">
            <a:solidFill>
              <a:srgbClr val="BBBA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62872" y="2230628"/>
            <a:ext cx="0" cy="3474720"/>
          </a:xfrm>
          <a:prstGeom prst="line">
            <a:avLst/>
          </a:prstGeom>
          <a:ln w="6985">
            <a:solidFill>
              <a:srgbClr val="BBBA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793492" y="2893568"/>
            <a:ext cx="0" cy="20574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793492" y="3099308"/>
            <a:ext cx="0" cy="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93492" y="3099308"/>
            <a:ext cx="0" cy="205740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246120" y="3533648"/>
            <a:ext cx="969264" cy="0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246120" y="3533648"/>
            <a:ext cx="804672" cy="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50792" y="3533648"/>
            <a:ext cx="0" cy="868679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50792" y="4402327"/>
            <a:ext cx="235458" cy="0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088564" y="3533648"/>
            <a:ext cx="91440" cy="0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191506" y="4402327"/>
            <a:ext cx="91440" cy="0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863554" y="3762248"/>
            <a:ext cx="0" cy="20574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863554" y="3967988"/>
            <a:ext cx="16038" cy="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879592" y="3967988"/>
            <a:ext cx="0" cy="205739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476238" y="4402327"/>
            <a:ext cx="162306" cy="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638544" y="4402327"/>
            <a:ext cx="0" cy="868681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638544" y="5271008"/>
            <a:ext cx="621792" cy="0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677656" y="5271008"/>
            <a:ext cx="384048" cy="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061704" y="3853688"/>
            <a:ext cx="0" cy="141732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470648" y="3853688"/>
            <a:ext cx="1591056" cy="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470648" y="3762248"/>
            <a:ext cx="0" cy="91440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23276" y="3533648"/>
            <a:ext cx="91440" cy="0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919972" y="3533648"/>
            <a:ext cx="306324" cy="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226296" y="2664968"/>
            <a:ext cx="0" cy="868680"/>
          </a:xfrm>
          <a:prstGeom prst="line">
            <a:avLst/>
          </a:prstGeom>
          <a:ln w="13970">
            <a:solidFill>
              <a:srgbClr val="1084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26296" y="2664968"/>
            <a:ext cx="307467" cy="0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583037" y="2664968"/>
            <a:ext cx="91440" cy="0"/>
          </a:xfrm>
          <a:prstGeom prst="line">
            <a:avLst/>
          </a:prstGeom>
          <a:ln w="13970">
            <a:solidFill>
              <a:srgbClr val="10849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2340864" y="2436368"/>
            <a:ext cx="905256" cy="457200"/>
          </a:xfrm>
          <a:prstGeom prst="rect">
            <a:avLst/>
          </a:prstGeom>
          <a:solidFill>
            <a:srgbClr val="FAF9F5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95728" y="2436368"/>
            <a:ext cx="795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① 障害申告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40864" y="3305048"/>
            <a:ext cx="905256" cy="457200"/>
          </a:xfrm>
          <a:prstGeom prst="rect">
            <a:avLst/>
          </a:prstGeom>
          <a:solidFill>
            <a:srgbClr val="FAF9F5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95728" y="3305048"/>
            <a:ext cx="795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② 一次確認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15384" y="3305048"/>
            <a:ext cx="873179" cy="457200"/>
          </a:xfrm>
          <a:prstGeom prst="rect">
            <a:avLst/>
          </a:prstGeom>
          <a:solidFill>
            <a:srgbClr val="FAF9F5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70248" y="3305048"/>
            <a:ext cx="76345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③ 監視確認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86250" y="4173727"/>
            <a:ext cx="905256" cy="457200"/>
          </a:xfrm>
          <a:prstGeom prst="rect">
            <a:avLst/>
          </a:prstGeom>
          <a:solidFill>
            <a:srgbClr val="FAF9F5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41114" y="4173727"/>
            <a:ext cx="795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④ 機器確認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82946" y="4173727"/>
            <a:ext cx="1193292" cy="457200"/>
          </a:xfrm>
          <a:prstGeom prst="rect">
            <a:avLst/>
          </a:prstGeom>
          <a:solidFill>
            <a:srgbClr val="FAF9F5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37810" y="4173727"/>
            <a:ext cx="108356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⑤ 回線切り分け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80004" y="3305048"/>
            <a:ext cx="1367099" cy="457200"/>
          </a:xfrm>
          <a:prstGeom prst="rect">
            <a:avLst/>
          </a:prstGeom>
          <a:solidFill>
            <a:srgbClr val="FAF9F5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34868" y="3305048"/>
            <a:ext cx="12573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⑥ エスカレーション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60336" y="5042408"/>
            <a:ext cx="1417320" cy="457200"/>
          </a:xfrm>
          <a:prstGeom prst="rect">
            <a:avLst/>
          </a:prstGeom>
          <a:solidFill>
            <a:srgbClr val="EAF0EF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0" y="5042408"/>
            <a:ext cx="13075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7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機器・回線調査／復旧対応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18020" y="3305048"/>
            <a:ext cx="905256" cy="457200"/>
          </a:xfrm>
          <a:prstGeom prst="rect">
            <a:avLst/>
          </a:prstGeom>
          <a:solidFill>
            <a:srgbClr val="FAF9F5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72884" y="3305048"/>
            <a:ext cx="795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⑦ 復旧作業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33763" y="2436368"/>
            <a:ext cx="1049274" cy="457200"/>
          </a:xfrm>
          <a:prstGeom prst="rect">
            <a:avLst/>
          </a:prstGeom>
          <a:solidFill>
            <a:srgbClr val="FAF9F5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88627" y="2436368"/>
            <a:ext cx="93954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⑧ 利用者連絡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14716" y="3305048"/>
            <a:ext cx="905256" cy="457200"/>
          </a:xfrm>
          <a:prstGeom prst="rect">
            <a:avLst/>
          </a:prstGeom>
          <a:solidFill>
            <a:srgbClr val="FAF9F5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69580" y="3305048"/>
            <a:ext cx="795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⑨ 結果確認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674477" y="2436368"/>
            <a:ext cx="905256" cy="457200"/>
          </a:xfrm>
          <a:prstGeom prst="rect">
            <a:avLst/>
          </a:prstGeom>
          <a:solidFill>
            <a:srgbClr val="FAF9F5"/>
          </a:solidFill>
          <a:ln w="9525">
            <a:solidFill>
              <a:srgbClr val="1084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729341" y="2436368"/>
            <a:ext cx="7955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lang="ja-JP">
                <a:solidFill>
                  <a:srgbClr val="0F2A46"/>
                </a:solidFill>
                <a:latin typeface="Yu Gothic"/>
                <a:ea typeface="Yu Gothic"/>
                <a:cs typeface="Yu Gothic"/>
              </a:rPr>
              <a:t>⑩ クローズ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35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変更作業シーケンス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関係者・機器・確認ポイントを、実行順に整理する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メッセージの順序と送受信者を分けて確認し、作業前の認識差を減らす。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587855" y="2912546"/>
            <a:ext cx="9015984" cy="2185416"/>
          </a:xfrm>
          <a:prstGeom prst="rect">
            <a:avLst/>
          </a:prstGeom>
          <a:solidFill>
            <a:srgbClr val="DFEB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5871" y="2930834"/>
            <a:ext cx="1024128" cy="201168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調査フェーズ</a:t>
            </a:r>
          </a:p>
        </p:txBody>
      </p:sp>
      <p:sp>
        <p:nvSpPr>
          <p:cNvPr id="8" name="Rectangle 7"/>
          <p:cNvSpPr/>
          <p:nvPr/>
        </p:nvSpPr>
        <p:spPr>
          <a:xfrm>
            <a:off x="1587855" y="5107106"/>
            <a:ext cx="9015984" cy="96011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5871" y="5125394"/>
            <a:ext cx="1024128" cy="201168"/>
          </a:xfrm>
          <a:prstGeom prst="rect">
            <a:avLst/>
          </a:prstGeom>
          <a:solidFill>
            <a:srgbClr val="ECEAE4"/>
          </a:solidFill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復旧フェーズ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3761" y="1983740"/>
            <a:ext cx="12860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運用担当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83761" y="2404364"/>
            <a:ext cx="1286012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equence-lifeline:ops"/>
          <p:cNvCxnSpPr/>
          <p:nvPr/>
        </p:nvCxnSpPr>
        <p:spPr>
          <a:xfrm>
            <a:off x="2026767" y="2404364"/>
            <a:ext cx="0" cy="366286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18301" y="1983740"/>
            <a:ext cx="12860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監視システム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18301" y="2404364"/>
            <a:ext cx="1286012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equence-lifeline:monitor"/>
          <p:cNvCxnSpPr/>
          <p:nvPr/>
        </p:nvCxnSpPr>
        <p:spPr>
          <a:xfrm>
            <a:off x="4061307" y="2404364"/>
            <a:ext cx="0" cy="366286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52841" y="1983740"/>
            <a:ext cx="12860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拠点ルータ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52841" y="2404364"/>
            <a:ext cx="1286012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equence-lifeline:branch"/>
          <p:cNvCxnSpPr/>
          <p:nvPr/>
        </p:nvCxnSpPr>
        <p:spPr>
          <a:xfrm>
            <a:off x="6095847" y="2404364"/>
            <a:ext cx="0" cy="366286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87381" y="1983740"/>
            <a:ext cx="12860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センタールータ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87381" y="2404364"/>
            <a:ext cx="1286012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equence-lifeline:center"/>
          <p:cNvCxnSpPr/>
          <p:nvPr/>
        </p:nvCxnSpPr>
        <p:spPr>
          <a:xfrm>
            <a:off x="8130387" y="2404364"/>
            <a:ext cx="0" cy="366286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21921" y="1983740"/>
            <a:ext cx="12860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回線事業者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21921" y="2404364"/>
            <a:ext cx="1286012" cy="0"/>
          </a:xfrm>
          <a:prstGeom prst="line">
            <a:avLst/>
          </a:prstGeom>
          <a:ln w="1016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equence-lifeline:carrier"/>
          <p:cNvCxnSpPr/>
          <p:nvPr/>
        </p:nvCxnSpPr>
        <p:spPr>
          <a:xfrm>
            <a:off x="10164927" y="2404364"/>
            <a:ext cx="0" cy="3662862"/>
          </a:xfrm>
          <a:prstGeom prst="line">
            <a:avLst/>
          </a:prstGeom>
          <a:ln w="7620">
            <a:solidFill>
              <a:srgbClr val="D1CF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026767" y="2729666"/>
            <a:ext cx="2034540" cy="0"/>
          </a:xfrm>
          <a:prstGeom prst="line">
            <a:avLst/>
          </a:prstGeom>
          <a:ln w="13335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equence-message-label:detect"/>
          <p:cNvSpPr txBox="1"/>
          <p:nvPr/>
        </p:nvSpPr>
        <p:spPr>
          <a:xfrm>
            <a:off x="2257653" y="2482778"/>
            <a:ext cx="1572768" cy="219456"/>
          </a:xfrm>
          <a:prstGeom prst="rect">
            <a:avLst/>
          </a:prstGeom>
          <a:solidFill>
            <a:srgbClr val="F7F5EF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障害検知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26767" y="3168578"/>
            <a:ext cx="4069080" cy="0"/>
          </a:xfrm>
          <a:prstGeom prst="line">
            <a:avLst/>
          </a:prstGeom>
          <a:ln w="13335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equence-message-label:request"/>
          <p:cNvSpPr txBox="1"/>
          <p:nvPr/>
        </p:nvSpPr>
        <p:spPr>
          <a:xfrm>
            <a:off x="3274923" y="2921690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確認依頼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026767" y="3607490"/>
            <a:ext cx="4069080" cy="0"/>
          </a:xfrm>
          <a:prstGeom prst="line">
            <a:avLst/>
          </a:prstGeom>
          <a:ln w="13335">
            <a:prstDash val="dash"/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equence-message-label:reply"/>
          <p:cNvSpPr txBox="1"/>
          <p:nvPr/>
        </p:nvSpPr>
        <p:spPr>
          <a:xfrm>
            <a:off x="3274923" y="3360602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疎通結果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061307" y="4046402"/>
            <a:ext cx="2034540" cy="0"/>
          </a:xfrm>
          <a:prstGeom prst="line">
            <a:avLst/>
          </a:prstGeom>
          <a:ln w="13335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equence-message-label:logs"/>
          <p:cNvSpPr txBox="1"/>
          <p:nvPr/>
        </p:nvSpPr>
        <p:spPr>
          <a:xfrm>
            <a:off x="4292193" y="3799514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ログ確認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5847" y="4485314"/>
            <a:ext cx="2034540" cy="0"/>
          </a:xfrm>
          <a:prstGeom prst="line">
            <a:avLst/>
          </a:prstGeom>
          <a:ln w="13335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equence-message-label:isolate"/>
          <p:cNvSpPr txBox="1"/>
          <p:nvPr/>
        </p:nvSpPr>
        <p:spPr>
          <a:xfrm>
            <a:off x="6326733" y="4238426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区間切り分け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130387" y="4924226"/>
            <a:ext cx="2034540" cy="0"/>
          </a:xfrm>
          <a:prstGeom prst="line">
            <a:avLst/>
          </a:prstGeom>
          <a:ln w="13335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equence-message-label:carrier"/>
          <p:cNvSpPr txBox="1"/>
          <p:nvPr/>
        </p:nvSpPr>
        <p:spPr>
          <a:xfrm>
            <a:off x="8361273" y="4677338"/>
            <a:ext cx="1572768" cy="219456"/>
          </a:xfrm>
          <a:prstGeom prst="rect">
            <a:avLst/>
          </a:prstGeom>
          <a:solidFill>
            <a:srgbClr val="DFEBE8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回線確認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8130387" y="5363138"/>
            <a:ext cx="2034540" cy="0"/>
          </a:xfrm>
          <a:prstGeom prst="line">
            <a:avLst/>
          </a:prstGeom>
          <a:ln w="13335">
            <a:prstDash val="dash"/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sequence-message-label:recover"/>
          <p:cNvSpPr txBox="1"/>
          <p:nvPr/>
        </p:nvSpPr>
        <p:spPr>
          <a:xfrm>
            <a:off x="8361273" y="5116250"/>
            <a:ext cx="1572768" cy="219456"/>
          </a:xfrm>
          <a:prstGeom prst="rect">
            <a:avLst/>
          </a:prstGeom>
          <a:solidFill>
            <a:srgbClr val="ECEAE4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復旧連絡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2026767" y="5802050"/>
            <a:ext cx="2034540" cy="0"/>
          </a:xfrm>
          <a:prstGeom prst="line">
            <a:avLst/>
          </a:prstGeom>
          <a:ln w="13335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equence-message-label:report"/>
          <p:cNvSpPr txBox="1"/>
          <p:nvPr/>
        </p:nvSpPr>
        <p:spPr>
          <a:xfrm>
            <a:off x="2257653" y="5555162"/>
            <a:ext cx="1572768" cy="219456"/>
          </a:xfrm>
          <a:prstGeom prst="rect">
            <a:avLst/>
          </a:prstGeom>
          <a:solidFill>
            <a:srgbClr val="ECEAE4"/>
          </a:solidFill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正常性確認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108192"/>
            <a:ext cx="3474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凡例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33271" y="6190488"/>
            <a:ext cx="256033" cy="0"/>
          </a:xfrm>
          <a:prstGeom prst="line">
            <a:avLst/>
          </a:prstGeom>
          <a:ln w="12700"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344168" y="6108192"/>
            <a:ext cx="51206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要求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993391" y="6190488"/>
            <a:ext cx="256033" cy="0"/>
          </a:xfrm>
          <a:prstGeom prst="line">
            <a:avLst/>
          </a:prstGeom>
          <a:ln w="12700">
            <a:prstDash val="dash"/>
            <a:solidFill>
              <a:srgbClr val="666E7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304287" y="6108192"/>
            <a:ext cx="51206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lang="ja-JP">
                <a:solidFill>
                  <a:srgbClr val="202729"/>
                </a:solidFill>
                <a:latin typeface="Yu Gothic"/>
                <a:ea typeface="Yu Gothic"/>
                <a:cs typeface="Yu Gothic"/>
              </a:rPr>
              <a:t>応答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36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46888"/>
            <a:ext cx="4389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参考資料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12648"/>
            <a:ext cx="108813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確認に使用した情報源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881360" cy="2372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参照先をタイトルと実URLで示し、原典へ移動できるようにする。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9576" y="1928876"/>
            <a:ext cx="10509199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ferences:index[0]"/>
          <p:cNvSpPr/>
          <p:nvPr/>
        </p:nvSpPr>
        <p:spPr>
          <a:xfrm>
            <a:off x="521208" y="2203196"/>
            <a:ext cx="457200" cy="292608"/>
          </a:xfrm>
          <a:prstGeom prst="roundRect">
            <a:avLst>
              <a:gd name="adj" fmla="val 6000"/>
            </a:avLst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2203196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2020316"/>
            <a:ext cx="7589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製品ドキュメント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80015" y="2020316"/>
            <a:ext cx="1508760" cy="256032"/>
          </a:xfrm>
          <a:prstGeom prst="roundRect">
            <a:avLst>
              <a:gd name="adj" fmla="val 6000"/>
            </a:avLst>
          </a:prstGeom>
          <a:solidFill>
            <a:srgbClr val="DF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53167" y="2020316"/>
            <a:ext cx="13624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概要・仕様</a:t>
            </a:r>
          </a:p>
        </p:txBody>
      </p:sp>
      <p:sp>
        <p:nvSpPr>
          <p:cNvPr id="12" name="references:url[0]"/>
          <p:cNvSpPr txBox="1"/>
          <p:nvPr/>
        </p:nvSpPr>
        <p:spPr>
          <a:xfrm>
            <a:off x="1179576" y="2404364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https://example.com/docs/product-overview</a:t>
            </a:r>
          </a:p>
        </p:txBody>
      </p:sp>
      <p:sp>
        <p:nvSpPr>
          <p:cNvPr id="13" name="references:link[0]">
            <a:hlinkClick r:id="rId2"/>
          </p:cNvPr>
          <p:cNvSpPr/>
          <p:nvPr/>
        </p:nvSpPr>
        <p:spPr>
          <a:xfrm>
            <a:off x="1179576" y="2404364"/>
            <a:ext cx="1050919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79576" y="2843276"/>
            <a:ext cx="10509199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ferences:index[1]"/>
          <p:cNvSpPr/>
          <p:nvPr/>
        </p:nvSpPr>
        <p:spPr>
          <a:xfrm>
            <a:off x="521208" y="3117596"/>
            <a:ext cx="457200" cy="292608"/>
          </a:xfrm>
          <a:prstGeom prst="roundRect">
            <a:avLst>
              <a:gd name="adj" fmla="val 6000"/>
            </a:avLst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117596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[2]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6" y="2934716"/>
            <a:ext cx="7589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運用ガイド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0015" y="2934716"/>
            <a:ext cx="1508760" cy="256032"/>
          </a:xfrm>
          <a:prstGeom prst="roundRect">
            <a:avLst>
              <a:gd name="adj" fmla="val 6000"/>
            </a:avLst>
          </a:prstGeom>
          <a:solidFill>
            <a:srgbClr val="DF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53167" y="2934716"/>
            <a:ext cx="13624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監視・障害対応</a:t>
            </a:r>
          </a:p>
        </p:txBody>
      </p:sp>
      <p:sp>
        <p:nvSpPr>
          <p:cNvPr id="20" name="references:url[1]"/>
          <p:cNvSpPr txBox="1"/>
          <p:nvPr/>
        </p:nvSpPr>
        <p:spPr>
          <a:xfrm>
            <a:off x="1179576" y="3318764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https://example.com/docs/operations-guide</a:t>
            </a:r>
          </a:p>
        </p:txBody>
      </p:sp>
      <p:sp>
        <p:nvSpPr>
          <p:cNvPr id="21" name="references:link[1]">
            <a:hlinkClick r:id="rId3"/>
          </p:cNvPr>
          <p:cNvSpPr/>
          <p:nvPr/>
        </p:nvSpPr>
        <p:spPr>
          <a:xfrm>
            <a:off x="1179576" y="3318764"/>
            <a:ext cx="1050919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79576" y="3757676"/>
            <a:ext cx="10509199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ferences:index[2]"/>
          <p:cNvSpPr/>
          <p:nvPr/>
        </p:nvSpPr>
        <p:spPr>
          <a:xfrm>
            <a:off x="521208" y="4031996"/>
            <a:ext cx="457200" cy="292608"/>
          </a:xfrm>
          <a:prstGeom prst="roundRect">
            <a:avLst>
              <a:gd name="adj" fmla="val 6000"/>
            </a:avLst>
          </a:prstGeom>
          <a:solidFill>
            <a:srgbClr val="0D7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" y="4031996"/>
            <a:ext cx="457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 lang="ja-JP">
                <a:solidFill>
                  <a:srgbClr val="FFFFFC"/>
                </a:solidFill>
                <a:latin typeface="Yu Gothic"/>
                <a:ea typeface="Yu Gothic"/>
                <a:cs typeface="Yu Gothic"/>
              </a:rPr>
              <a:t>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576" y="3849116"/>
            <a:ext cx="1050919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5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料金ページ</a:t>
            </a:r>
          </a:p>
        </p:txBody>
      </p:sp>
      <p:sp>
        <p:nvSpPr>
          <p:cNvPr id="26" name="references:url[2]"/>
          <p:cNvSpPr txBox="1"/>
          <p:nvPr/>
        </p:nvSpPr>
        <p:spPr>
          <a:xfrm>
            <a:off x="1179576" y="4233164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lang="ja-JP">
                <a:solidFill>
                  <a:srgbClr val="0D7870"/>
                </a:solidFill>
                <a:latin typeface="Yu Gothic"/>
                <a:ea typeface="Yu Gothic"/>
                <a:cs typeface="Yu Gothic"/>
              </a:rPr>
              <a:t>https://example.com/pricing</a:t>
            </a:r>
          </a:p>
        </p:txBody>
      </p:sp>
      <p:sp>
        <p:nvSpPr>
          <p:cNvPr id="27" name="references:link[2]">
            <a:hlinkClick r:id="rId4"/>
          </p:cNvPr>
          <p:cNvSpPr/>
          <p:nvPr/>
        </p:nvSpPr>
        <p:spPr>
          <a:xfrm>
            <a:off x="1179576" y="4233164"/>
            <a:ext cx="1050919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6327648"/>
            <a:ext cx="10881360" cy="9144"/>
          </a:xfrm>
          <a:prstGeom prst="rect">
            <a:avLst/>
          </a:prstGeom>
          <a:solidFill>
            <a:srgbClr val="D1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409944"/>
            <a:ext cx="71323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社内スライドパターン検証ギャラリー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63825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 lang="ja-JP">
                <a:solidFill>
                  <a:srgbClr val="182C43"/>
                </a:solidFill>
                <a:latin typeface="Yu Gothic"/>
                <a:ea typeface="Yu Gothic"/>
                <a:cs typeface="Yu Gothic"/>
              </a:rPr>
              <a:t>37</a:t>
            </a:r>
            <a:r>
              <a:rPr sz="819" b="0" lang="ja-JP">
                <a:solidFill>
                  <a:srgbClr val="666E70"/>
                </a:solidFill>
                <a:latin typeface="Yu Gothic"/>
                <a:ea typeface="Yu Gothic"/>
                <a:cs typeface="Yu Gothic"/>
              </a:rPr>
              <a:t>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