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ln w="2032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27</c:v>
                </c:pt>
                <c:pt idx="3">
                  <c:v>35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5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4.png"/><Relationship Id="rId4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意思決定からシステム構成まで、21の標準レイアウトを検証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検証方針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LLMは構造化、rendererは提出品質を担う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366924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430932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文言・項目・強調は content 側に寄せ、座標や余白は renderer 側に閉じ込める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6192" y="2846984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084728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3148736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汎用エンジン化しすぎず、よく使うスライド種別をカタログとして増やす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6192" y="3564788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80253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866540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PowerPoint 実レンダリングと機械検知を品質ゲートにして、崩れを早期に発見する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判断に必要な4つの要点を、読み順に沿って整理する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何を判断してほしいかを1文で示し、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読み手の視点を揃える。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事実・制約・既に分かっていることを短く置く。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現状から言えることを、推測と事実を分けて整理する。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次アクション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誰が・いつまでに・何をするかを明確にする。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2423160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3081528" y="1664208"/>
            <a:ext cx="8430768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09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409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665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922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178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178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434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943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947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9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204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20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460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46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716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716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0973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973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03120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816352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529584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242816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8152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8409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8665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8922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9178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9434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9691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47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204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0460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0716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80973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1229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8368" y="21031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28163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52958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58368" y="424281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495604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" y="56692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2231501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2188707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" y="2502529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27248" y="2274295"/>
            <a:ext cx="1313688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9544" y="2306299"/>
            <a:ext cx="1149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944733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" y="2901939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3215761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29812" y="2987527"/>
            <a:ext cx="2016252" cy="27432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12108" y="3019531"/>
            <a:ext cx="18516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3657965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" y="3615171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3856" y="3928993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4940" y="3700759"/>
            <a:ext cx="2718816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7236" y="3732763"/>
            <a:ext cx="2554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371197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328403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" y="4642225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42632" y="4413991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24928" y="4445995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084429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5041635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" y="5355457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50324" y="5127223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32620" y="5159227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80" name="Diamond 79"/>
          <p:cNvSpPr/>
          <p:nvPr/>
        </p:nvSpPr>
        <p:spPr>
          <a:xfrm>
            <a:off x="4066794" y="2116835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73322" y="2588117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82" name="Diamond 81"/>
          <p:cNvSpPr/>
          <p:nvPr/>
        </p:nvSpPr>
        <p:spPr>
          <a:xfrm>
            <a:off x="7579614" y="3543299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142" y="4014581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84" name="Diamond 83"/>
          <p:cNvSpPr/>
          <p:nvPr/>
        </p:nvSpPr>
        <p:spPr>
          <a:xfrm>
            <a:off x="11092434" y="49697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88193" y="5441045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関係者調整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運用事務局を中心に、5部門の役割をつなぐ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592324"/>
            <a:ext cx="0" cy="78181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7176017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6812146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24107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42048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85866" y="3160908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効果報告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438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 / 監査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928" y="445502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 / 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1928" y="4455022"/>
            <a:ext cx="760095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5284" y="3501262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表現基準</a:t>
            </a:r>
          </a:p>
        </p:txBody>
      </p:sp>
      <p:pic>
        <p:nvPicPr>
          <p:cNvPr id="15" name="Picture 14" descr="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8882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1870" y="2619756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経営層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87578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方針承認</a:t>
            </a:r>
          </a:p>
        </p:txBody>
      </p:sp>
      <p:pic>
        <p:nvPicPr>
          <p:cNvPr id="18" name="Picture 1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026" y="3075575"/>
            <a:ext cx="585216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999" y="370651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情報システム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026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環境管理</a:t>
            </a:r>
          </a:p>
        </p:txBody>
      </p:sp>
      <p:pic>
        <p:nvPicPr>
          <p:cNvPr id="21" name="Picture 20" descr="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307" y="483398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95585" y="4360274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現場部門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9029" y="462595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24" name="Picture 23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572" y="4833984"/>
            <a:ext cx="585216" cy="585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48155" y="436027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法務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572" y="462595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規程確認</a:t>
            </a:r>
          </a:p>
        </p:txBody>
      </p:sp>
      <p:pic>
        <p:nvPicPr>
          <p:cNvPr id="27" name="Picture 26" descr="s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853" y="3075575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33436" y="370651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広報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853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ブランド</a:t>
            </a:r>
          </a:p>
        </p:txBody>
      </p:sp>
      <p:sp>
        <p:nvSpPr>
          <p:cNvPr id="30" name="Oval 29"/>
          <p:cNvSpPr/>
          <p:nvPr/>
        </p:nvSpPr>
        <p:spPr>
          <a:xfrm>
            <a:off x="4978908" y="3374136"/>
            <a:ext cx="2240280" cy="960120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8908" y="3570732"/>
            <a:ext cx="2240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テンプレート</a:t>
            </a:r>
          </a:p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運用事務局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複合レイアウト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処理経路と設計上の要点を、同じ視野で対応付ける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4475" y="1499616"/>
            <a:ext cx="7315" cy="4727448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522579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処理経路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93976" y="3755440"/>
            <a:ext cx="838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09593" y="3755440"/>
            <a:ext cx="8389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184" y="3471976"/>
            <a:ext cx="566928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78470" y="4084624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11" name="Picture 10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7801" y="347197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42653" y="4084624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業務API</a:t>
            </a:r>
          </a:p>
        </p:txBody>
      </p:sp>
      <p:pic>
        <p:nvPicPr>
          <p:cNvPr id="13" name="Picture 12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19" y="3471976"/>
            <a:ext cx="566928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8248" y="4084624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データベース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6853" y="3518839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59910" y="351883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4787" y="1463040"/>
            <a:ext cx="52257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設計上の要点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4787" y="2168377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1987" y="2159233"/>
            <a:ext cx="46588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境界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1987" y="2442697"/>
            <a:ext cx="4658868" cy="2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公開領域とデータ領域を分離する。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1987" y="2806298"/>
            <a:ext cx="4658868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4787" y="291602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1987" y="2906882"/>
            <a:ext cx="46588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1987" y="3190346"/>
            <a:ext cx="4658868" cy="2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主要な接続点で状態を確認する。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1987" y="3553947"/>
            <a:ext cx="4658868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4787" y="3663675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1987" y="3654531"/>
            <a:ext cx="46588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1987" y="3937995"/>
            <a:ext cx="4658868" cy="2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障害時の切替手順を事前に定める。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対象画面と確認事項を並べ、指摘の根拠を明確にする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4475" y="1499616"/>
            <a:ext cx="7315" cy="4727448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522579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対象画面</a:t>
            </a:r>
          </a:p>
        </p:txBody>
      </p:sp>
      <p:pic>
        <p:nvPicPr>
          <p:cNvPr id="7" name="ContentImage" descr="pptxdsl-reposi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743294"/>
            <a:ext cx="5225795" cy="26972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4787" y="1463040"/>
            <a:ext cx="52257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確認事項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4787" y="2287143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5411" y="2305431"/>
            <a:ext cx="4750308" cy="2705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操作の起点が迷わず見つかるか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7" y="2786253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5411" y="2804541"/>
            <a:ext cx="4750308" cy="2705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主要な導線を少ない手順で追えるか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4787" y="3285363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5411" y="3303651"/>
            <a:ext cx="4750308" cy="2705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権限境界と実行結果を確認できるか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実績レビュー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推移と判断基準を並べ、数値の意味まで読み取れるようにする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4475" y="1499616"/>
            <a:ext cx="7315" cy="4727448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522579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月別推移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938528"/>
          <a:ext cx="5225795" cy="4270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4787" y="1463040"/>
            <a:ext cx="52257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4787" y="1956816"/>
          <a:ext cx="5225796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2898"/>
                <a:gridCol w="2612898"/>
              </a:tblGrid>
              <a:tr h="4937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指標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基準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</a:t>
                      </a:r>
                    </a:p>
                  </a:txBody>
                  <a:tcPr anchor="ctr" marL="91440" marR="91440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95%以上</a:t>
                      </a:r>
                    </a:p>
                  </a:txBody>
                  <a:tcPr anchor="ctr" marL="91440" marR="91440" marT="36576" marB="36576">
                    <a:solidFill>
                      <a:srgbClr val="ECEAE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処理時間</a:t>
                      </a:r>
                    </a:p>
                  </a:txBody>
                  <a:tcPr anchor="ctr" marL="91440" marR="91440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8時間以内</a:t>
                      </a:r>
                    </a:p>
                  </a:txBody>
                  <a:tcPr anchor="ctr" marL="91440" marR="91440" marT="36576" marB="36576">
                    <a:solidFill>
                      <a:srgbClr val="FFFF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継続条件</a:t>
                      </a:r>
                    </a:p>
                  </a:txBody>
                  <a:tcPr anchor="ctr" marL="91440" marR="91440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重大障害なし</a:t>
                      </a:r>
                    </a:p>
                  </a:txBody>
                  <a:tcPr anchor="ctr" marL="91440" marR="91440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