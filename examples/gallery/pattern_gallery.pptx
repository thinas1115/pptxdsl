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7.png"/><Relationship Id="rId4" Type="http://schemas.openxmlformats.org/officeDocument/2006/relationships/image" Target="../media/image26.png"/><Relationship Id="rId5" Type="http://schemas.openxmlformats.org/officeDocument/2006/relationships/image" Target="../media/image28.png"/><Relationship Id="rId6" Type="http://schemas.openxmlformats.org/officeDocument/2006/relationships/image" Target="../media/image1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意思決定から技術研修まで、24のTypeを34枚で検証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言葉の定義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RTOは、障害発生から業務再開までの目標時間を表す</a:t>
            </a:r>
          </a:p>
        </p:txBody>
      </p:sp>
      <p:pic>
        <p:nvPicPr>
          <p:cNvPr id="5" name="Picture 4" descr="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0512"/>
            <a:ext cx="548640" cy="548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07592" y="1755648"/>
            <a:ext cx="41239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2633472"/>
            <a:ext cx="4892040" cy="2916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Recovery Time Objectiveの略です。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障害が起きてから、業務やサービスを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再開するまでに許容する</a:t>
            </a:r>
          </a:p>
          <a:p>
            <a:pPr algn="l">
              <a:lnSpc>
                <a:spcPct val="118000"/>
              </a:lnSpc>
            </a:pPr>
            <a:r>
              <a:rPr sz="1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目標時間を定めます。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797296" y="1755648"/>
            <a:ext cx="9144" cy="3794759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44768" y="178308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起点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206197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業務やサービスへ影響する障害が発生した時点。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44768" y="300228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44768" y="3047999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332689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利用者が必要な業務を再開できる状態へ戻った時点。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768" y="4267200"/>
            <a:ext cx="554400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4312920"/>
            <a:ext cx="5544007" cy="1965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設計への反映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44768" y="4591812"/>
            <a:ext cx="5544007" cy="8854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復旧手順、冗長化、バックアップ方式の要求へ</a:t>
            </a:r>
          </a:p>
          <a:p>
            <a:pPr algn="l">
              <a:lnSpc>
                <a:spcPct val="114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落とし込む。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87568"/>
            <a:ext cx="11185855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" y="5806440"/>
            <a:ext cx="10789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誤解しやすい点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01368" y="5779007"/>
            <a:ext cx="9887407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実際に要した復旧時間の実績値ではなく、事前に合意する目標値です。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ネットワーク構成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物理リンクを共有しながら、用途別の通信範囲を分離する</a:t>
            </a:r>
          </a:p>
        </p:txBody>
      </p:sp>
      <p:sp>
        <p:nvSpPr>
          <p:cNvPr id="5" name="layout-background:network-lane:business"/>
          <p:cNvSpPr/>
          <p:nvPr/>
        </p:nvSpPr>
        <p:spPr>
          <a:xfrm>
            <a:off x="502920" y="2060691"/>
            <a:ext cx="11185855" cy="1298448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" y="2243571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業務VLAN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50874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sp>
        <p:nvSpPr>
          <p:cNvPr id="8" name="layout-background:network-lane:guest"/>
          <p:cNvSpPr/>
          <p:nvPr/>
        </p:nvSpPr>
        <p:spPr>
          <a:xfrm>
            <a:off x="502920" y="3450579"/>
            <a:ext cx="11185855" cy="1298448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633459"/>
            <a:ext cx="10972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ゲストVLAN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3898635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来訪者端末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37943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4075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0207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16339" y="1758939"/>
            <a:ext cx="2426131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フロアB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77141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477141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35993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35993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7903273" y="2709915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903273" y="3743187"/>
            <a:ext cx="0" cy="356616"/>
          </a:xfrm>
          <a:prstGeom prst="line">
            <a:avLst/>
          </a:prstGeom>
          <a:ln w="2540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862125" y="2668767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62125" y="4058655"/>
            <a:ext cx="82296" cy="82296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371049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371049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477141" y="2709915"/>
            <a:ext cx="2426132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77141" y="4099803"/>
            <a:ext cx="2426132" cy="0"/>
          </a:xfrm>
          <a:prstGeom prst="line">
            <a:avLst/>
          </a:prstGeom>
          <a:ln w="25400">
            <a:solidFill>
              <a:srgbClr val="182C4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684367" y="3020811"/>
            <a:ext cx="2011680" cy="31089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Trunk</a:t>
            </a:r>
          </a:p>
          <a:p>
            <a:pPr algn="ctr">
              <a:lnSpc>
                <a:spcPct val="100000"/>
              </a:lnSpc>
            </a:pPr>
            <a:r>
              <a:rPr sz="8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業務VLAN / ゲストVLAN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903273" y="2709915"/>
            <a:ext cx="2106092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903273" y="4099803"/>
            <a:ext cx="2106092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2740113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4977" y="2453883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82913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A</a:t>
            </a:r>
          </a:p>
        </p:txBody>
      </p:sp>
      <p:sp>
        <p:nvSpPr>
          <p:cNvPr id="33" name="Oval 32"/>
          <p:cNvSpPr/>
          <p:nvPr/>
        </p:nvSpPr>
        <p:spPr>
          <a:xfrm>
            <a:off x="2740113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977" y="3843771"/>
            <a:ext cx="512064" cy="5120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282913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A</a:t>
            </a:r>
          </a:p>
        </p:txBody>
      </p:sp>
      <p:sp>
        <p:nvSpPr>
          <p:cNvPr id="36" name="Oval 35"/>
          <p:cNvSpPr/>
          <p:nvPr/>
        </p:nvSpPr>
        <p:spPr>
          <a:xfrm>
            <a:off x="5166245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109" y="3148827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4709045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スイッチA</a:t>
            </a:r>
          </a:p>
        </p:txBody>
      </p:sp>
      <p:sp>
        <p:nvSpPr>
          <p:cNvPr id="39" name="Oval 38"/>
          <p:cNvSpPr/>
          <p:nvPr/>
        </p:nvSpPr>
        <p:spPr>
          <a:xfrm>
            <a:off x="7592377" y="3093963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241" y="3148827"/>
            <a:ext cx="512064" cy="5120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135177" y="3734043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スイッチB</a:t>
            </a:r>
          </a:p>
        </p:txBody>
      </p:sp>
      <p:sp>
        <p:nvSpPr>
          <p:cNvPr id="42" name="Oval 41"/>
          <p:cNvSpPr/>
          <p:nvPr/>
        </p:nvSpPr>
        <p:spPr>
          <a:xfrm>
            <a:off x="10018509" y="2399019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desk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3373" y="2453883"/>
            <a:ext cx="512064" cy="51206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561309" y="3039099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業務PC B</a:t>
            </a:r>
          </a:p>
        </p:txBody>
      </p:sp>
      <p:sp>
        <p:nvSpPr>
          <p:cNvPr id="45" name="Oval 44"/>
          <p:cNvSpPr/>
          <p:nvPr/>
        </p:nvSpPr>
        <p:spPr>
          <a:xfrm>
            <a:off x="10018509" y="3788907"/>
            <a:ext cx="621792" cy="621792"/>
          </a:xfrm>
          <a:prstGeom prst="ellipse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h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3373" y="3843771"/>
            <a:ext cx="512064" cy="51206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9561309" y="4428987"/>
            <a:ext cx="1536192" cy="158305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ゲスト端末 B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76072" y="6117336"/>
            <a:ext cx="256032" cy="0"/>
          </a:xfrm>
          <a:prstGeom prst="line">
            <a:avLst/>
          </a:prstGeom>
          <a:ln w="1905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905256" y="6035040"/>
            <a:ext cx="526923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Access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651635" y="6117336"/>
            <a:ext cx="256031" cy="0"/>
          </a:xfrm>
          <a:prstGeom prst="line">
            <a:avLst/>
          </a:prstGeom>
          <a:ln w="2540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980818" y="6035040"/>
            <a:ext cx="10824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Trunk (複数VLAN)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IPパケット状態の追跡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NAT前後の送信元IPを、処理段階ごとに追跡する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NATでは送信元IPを書き換え、宛先IPは維持したまま外部へ転送する。</a:t>
            </a:r>
          </a:p>
        </p:txBody>
      </p:sp>
      <p:pic>
        <p:nvPicPr>
          <p:cNvPr id="6" name="Picture 5" descr="lap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8823" y="1910588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56232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社内端末</a:t>
            </a:r>
          </a:p>
        </p:txBody>
      </p:sp>
      <p:pic>
        <p:nvPicPr>
          <p:cNvPr id="8" name="Picture 7" descr="ether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9223" y="1910588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666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ルーター内側</a:t>
            </a:r>
          </a:p>
        </p:txBody>
      </p:sp>
      <p:pic>
        <p:nvPicPr>
          <p:cNvPr id="10" name="Picture 9" descr="swit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9623" y="1910588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770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NAT処理</a:t>
            </a:r>
          </a:p>
        </p:txBody>
      </p:sp>
      <p:sp>
        <p:nvSpPr>
          <p:cNvPr id="12" name="layout-background:protocol-state-flow:stage:internet"/>
          <p:cNvSpPr/>
          <p:nvPr/>
        </p:nvSpPr>
        <p:spPr>
          <a:xfrm>
            <a:off x="7805135" y="2568956"/>
            <a:ext cx="1900671" cy="2084832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0023" y="191058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74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インターネット区間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0423" y="1910588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97831" y="2276348"/>
            <a:ext cx="1736079" cy="2194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17" name="layout-background:protocol-state-flow:track:0"/>
          <p:cNvSpPr/>
          <p:nvPr/>
        </p:nvSpPr>
        <p:spPr>
          <a:xfrm>
            <a:off x="502920" y="2642108"/>
            <a:ext cx="11185855" cy="896112"/>
          </a:xfrm>
          <a:prstGeom prst="rect">
            <a:avLst/>
          </a:prstGeom>
          <a:solidFill>
            <a:srgbClr val="D9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824988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送信元IP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038602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アドレス変換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2271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375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2479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258391" y="2898140"/>
            <a:ext cx="1004560" cy="0"/>
          </a:xfrm>
          <a:prstGeom prst="line">
            <a:avLst/>
          </a:prstGeom>
          <a:ln w="2032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protocol-state-flow:marker:plain"/>
          <p:cNvSpPr/>
          <p:nvPr/>
        </p:nvSpPr>
        <p:spPr>
          <a:xfrm>
            <a:off x="22579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83664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83664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端末のプライベートIP</a:t>
            </a:r>
          </a:p>
        </p:txBody>
      </p:sp>
      <p:sp>
        <p:nvSpPr>
          <p:cNvPr id="27" name="protocol-state-flow:marker:plain"/>
          <p:cNvSpPr/>
          <p:nvPr/>
        </p:nvSpPr>
        <p:spPr>
          <a:xfrm>
            <a:off x="42683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940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10.0.0.25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940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変換前の送信元</a:t>
            </a:r>
          </a:p>
        </p:txBody>
      </p:sp>
      <p:sp>
        <p:nvSpPr>
          <p:cNvPr id="30" name="protocol-state-flow:marker:internal"/>
          <p:cNvSpPr/>
          <p:nvPr/>
        </p:nvSpPr>
        <p:spPr>
          <a:xfrm>
            <a:off x="6278727" y="2879852"/>
            <a:ext cx="932688" cy="36576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44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44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送信元を書き換え</a:t>
            </a:r>
          </a:p>
        </p:txBody>
      </p:sp>
      <p:sp>
        <p:nvSpPr>
          <p:cNvPr id="33" name="protocol-state-flow:marker:plain"/>
          <p:cNvSpPr/>
          <p:nvPr/>
        </p:nvSpPr>
        <p:spPr>
          <a:xfrm>
            <a:off x="82891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148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148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変換後のパケット</a:t>
            </a:r>
          </a:p>
        </p:txBody>
      </p:sp>
      <p:sp>
        <p:nvSpPr>
          <p:cNvPr id="36" name="protocol-state-flow:marker:plain"/>
          <p:cNvSpPr/>
          <p:nvPr/>
        </p:nvSpPr>
        <p:spPr>
          <a:xfrm>
            <a:off x="10299527" y="2806700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5263" y="3081020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203.0.113.10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5263" y="3275584"/>
            <a:ext cx="1681215" cy="1711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外部から見える送信元</a:t>
            </a:r>
          </a:p>
        </p:txBody>
      </p:sp>
      <p:sp>
        <p:nvSpPr>
          <p:cNvPr id="39" name="layout-background:protocol-state-flow:track:1"/>
          <p:cNvSpPr/>
          <p:nvPr/>
        </p:nvSpPr>
        <p:spPr>
          <a:xfrm>
            <a:off x="502920" y="3684524"/>
            <a:ext cx="11185855" cy="896112"/>
          </a:xfrm>
          <a:prstGeom prst="rect">
            <a:avLst/>
          </a:prstGeom>
          <a:solidFill>
            <a:srgbClr val="E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3867404"/>
            <a:ext cx="1115568" cy="1770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4081018"/>
            <a:ext cx="1115568" cy="4081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変化なし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271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2375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2479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9258391" y="3940555"/>
            <a:ext cx="1004560" cy="0"/>
          </a:xfrm>
          <a:prstGeom prst="line">
            <a:avLst/>
          </a:prstGeom>
          <a:ln w="20320">
            <a:solidFill>
              <a:srgbClr val="182C4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protocol-state-flow:marker:plain"/>
          <p:cNvSpPr/>
          <p:nvPr/>
        </p:nvSpPr>
        <p:spPr>
          <a:xfrm>
            <a:off x="22579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883664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83664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外部サーバー</a:t>
            </a:r>
          </a:p>
        </p:txBody>
      </p:sp>
      <p:sp>
        <p:nvSpPr>
          <p:cNvPr id="49" name="protocol-state-flow:marker:plain"/>
          <p:cNvSpPr/>
          <p:nvPr/>
        </p:nvSpPr>
        <p:spPr>
          <a:xfrm>
            <a:off x="42683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940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940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2" name="protocol-state-flow:marker:internal"/>
          <p:cNvSpPr/>
          <p:nvPr/>
        </p:nvSpPr>
        <p:spPr>
          <a:xfrm>
            <a:off x="6278727" y="3922268"/>
            <a:ext cx="932688" cy="3657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044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044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宛先を維持</a:t>
            </a:r>
          </a:p>
        </p:txBody>
      </p:sp>
      <p:sp>
        <p:nvSpPr>
          <p:cNvPr id="55" name="protocol-state-flow:marker:plain"/>
          <p:cNvSpPr/>
          <p:nvPr/>
        </p:nvSpPr>
        <p:spPr>
          <a:xfrm>
            <a:off x="82891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48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9148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外部へ転送</a:t>
            </a:r>
          </a:p>
        </p:txBody>
      </p:sp>
      <p:sp>
        <p:nvSpPr>
          <p:cNvPr id="58" name="protocol-state-flow:marker:plain"/>
          <p:cNvSpPr/>
          <p:nvPr/>
        </p:nvSpPr>
        <p:spPr>
          <a:xfrm>
            <a:off x="10299527" y="3849116"/>
            <a:ext cx="932688" cy="182880"/>
          </a:xfrm>
          <a:prstGeom prst="rect">
            <a:avLst/>
          </a:prstGeom>
          <a:solidFill>
            <a:srgbClr val="F9F8F4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925263" y="4123435"/>
            <a:ext cx="1681215" cy="1671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198.51.100.20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25263" y="4318000"/>
            <a:ext cx="1681215" cy="171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自分宛てとして受信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プロトコル構造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TCPセグメントを分解し、制御情報とデータの位置を読む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フィールドを位置で捉え、パケットキャプチャの値を役割へ結び付ける。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2294636"/>
            <a:ext cx="9784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TCP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送信元Port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82496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85466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118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宛先Port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2204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5012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0732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1588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0750" y="2111756"/>
            <a:ext cx="1105738" cy="841248"/>
          </a:xfrm>
          <a:prstGeom prst="rect">
            <a:avLst/>
          </a:prstGeom>
          <a:solidFill>
            <a:srgbClr val="DFEBE8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6470" y="2221484"/>
            <a:ext cx="101429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326" y="2724404"/>
            <a:ext cx="103258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32 bit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36488" y="2111756"/>
            <a:ext cx="589788" cy="841248"/>
          </a:xfrm>
          <a:prstGeom prst="rect">
            <a:avLst/>
          </a:prstGeom>
          <a:solidFill>
            <a:srgbClr val="F1E3DF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82208" y="2221484"/>
            <a:ext cx="498348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3064" y="2724404"/>
            <a:ext cx="516636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9 bit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6276" y="2111756"/>
            <a:ext cx="939546" cy="841248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1996" y="2221484"/>
            <a:ext cx="848106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2852" y="2724404"/>
            <a:ext cx="86639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16 bit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5822" y="2111756"/>
            <a:ext cx="4422952" cy="841248"/>
          </a:xfrm>
          <a:prstGeom prst="rect">
            <a:avLst/>
          </a:prstGeom>
          <a:solidFill>
            <a:srgbClr val="ECEAE4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1542" y="2221484"/>
            <a:ext cx="4331512" cy="40379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Payload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2398" y="2724404"/>
            <a:ext cx="4349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512 bit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685800" y="2971292"/>
            <a:ext cx="3392081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02920" y="3209035"/>
            <a:ext cx="56692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Sequence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" y="3209035"/>
            <a:ext cx="297271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受信側が並び順と欠落を判断する番号。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4481474" y="2971292"/>
            <a:ext cx="702145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8594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37506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次に受信したい位置を相手へ通知する。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031382" y="2971292"/>
            <a:ext cx="2245766" cy="182879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094268" y="3209035"/>
            <a:ext cx="38404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Flags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33180" y="3209035"/>
            <a:ext cx="3155594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接続開始・終了などの状態を示す。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設定と確認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設定例と確認コマンドを並べ、変更後の状態まで検証する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コマンドの実行ではなく、期待状態の確認までを作業単位とする。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111756"/>
            <a:ext cx="6903720" cy="4014723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2294636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設定例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614676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service: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image: example/app:2.4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replicas: 3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healthcheck: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    path: /health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4393438"/>
            <a:ext cx="639165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8FD4CC"/>
                </a:solidFill>
                <a:latin typeface="Yu Gothic"/>
                <a:ea typeface="Yu Gothic"/>
                <a:cs typeface="Yu Gothic"/>
              </a:rPr>
              <a:t>確認コマンド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4713477"/>
            <a:ext cx="6391656" cy="125755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deploy --file service.yml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status service</a:t>
            </a:r>
          </a:p>
          <a:p>
            <a:pPr algn="l">
              <a:lnSpc>
                <a:spcPct val="118000"/>
              </a:lnSpc>
            </a:pPr>
            <a:r>
              <a:rPr sz="1300" b="0" lang="ja-JP">
                <a:solidFill>
                  <a:srgbClr val="FFFFFC"/>
                </a:solidFill>
                <a:latin typeface="Consolas"/>
                <a:ea typeface="Consolas"/>
                <a:cs typeface="Consolas"/>
              </a:rPr>
              <a:t>logs service --tail 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90688" y="2130044"/>
            <a:ext cx="389808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確認する状態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90688" y="2541524"/>
            <a:ext cx="3898087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90688" y="269697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2678684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稼働数が指定したreplicasと一致している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23" y="349491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90688" y="3549777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3023" y="3531489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healthcheckが成功し、トラフィックを</a:t>
            </a:r>
          </a:p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受けられる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3" y="4347717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90688" y="4402581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3" y="4384293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直近ログに起動失敗や設定エラーがない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3023" y="5200522"/>
            <a:ext cx="3495751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525538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5237098"/>
            <a:ext cx="3495751" cy="7796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切り戻し用の直前バージョンを特定できる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理解度チェック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判断理由を選び、運用設計の理解を確認する</a:t>
            </a:r>
          </a:p>
        </p:txBody>
      </p:sp>
      <p:sp>
        <p:nvSpPr>
          <p:cNvPr id="5" name="Oval 4"/>
          <p:cNvSpPr/>
          <p:nvPr/>
        </p:nvSpPr>
        <p:spPr>
          <a:xfrm>
            <a:off x="521208" y="19067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208" y="19067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18884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監視通知を設計するとき、最初に決めるものはどれか。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193218"/>
            <a:ext cx="233400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検知したい利用者影響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3310" y="2193218"/>
            <a:ext cx="177850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通知メールの色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66410" y="21932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担当者の座席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24712" y="26930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21208" y="28211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208" y="28211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8028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変更後の確認として最も適切なものはどれか。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コマンドが終了したこと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08476" y="3107618"/>
            <a:ext cx="25191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期待状態と実測値の一致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1076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手順書のページ数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24712" y="3607490"/>
            <a:ext cx="10527487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21208" y="3735506"/>
            <a:ext cx="384048" cy="38404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373550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" y="3717218"/>
            <a:ext cx="9921240" cy="2499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例外対応を残すときに必要な情報はどれか。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" y="4022018"/>
            <a:ext cx="196367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A. 適用条件と承認者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52978" y="4022018"/>
            <a:ext cx="159334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B. 作成者の好み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10912" y="4022018"/>
            <a:ext cx="14081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C. 画面の配色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必要なデータ、関係部門のレビュー体制、既存基盤の安定稼働を着手条件とする。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020316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20316"/>
            <a:ext cx="5437479" cy="566928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85800" y="2111756"/>
            <a:ext cx="384048" cy="38404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2587244"/>
            <a:ext cx="5437479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31520" y="289356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" y="319074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31520" y="348792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" y="3785107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31520" y="4082288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" y="4379468"/>
            <a:ext cx="4779111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31520" y="4676647"/>
            <a:ext cx="64008" cy="64008"/>
          </a:xfrm>
          <a:prstGeom prst="rect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1295" y="2020316"/>
            <a:ext cx="5437479" cy="2953511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1295" y="2020316"/>
            <a:ext cx="5437479" cy="56692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34175" y="2111756"/>
            <a:ext cx="384048" cy="384048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4175" y="21026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6239" y="2166620"/>
            <a:ext cx="4541367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251295" y="2587244"/>
            <a:ext cx="54374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479895" y="289356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90207" y="266039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90207" y="319074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79895" y="348792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0207" y="325475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690207" y="3785107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479895" y="4082288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90207" y="3849116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90207" y="4379468"/>
            <a:ext cx="477911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6479895" y="4676647"/>
            <a:ext cx="64008" cy="64008"/>
          </a:xfrm>
          <a:prstGeom prst="rect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90207" y="4443475"/>
            <a:ext cx="4815687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6" name="Oval 5"/>
          <p:cNvSpPr/>
          <p:nvPr/>
        </p:nvSpPr>
        <p:spPr>
          <a:xfrm>
            <a:off x="722376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in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3027060"/>
            <a:ext cx="237744" cy="2377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44168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2376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0664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部門ごとに資料の構成と確認方法が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異なり、作成とレビューの双方に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手戻りが発生している。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31538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4450994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0722" y="3027060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2786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0994" y="3502548"/>
            <a:ext cx="3289706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469282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全資料を一律化するのではなく、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頻出する業務パターンから標準化する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方が導入負荷を抑えられる。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60156" y="2899044"/>
            <a:ext cx="0" cy="192024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179612" y="2917332"/>
            <a:ext cx="457200" cy="457200"/>
          </a:xfrm>
          <a:prstGeom prst="ellipse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s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9340" y="3027060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01404" y="2953908"/>
            <a:ext cx="26679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79612" y="3502548"/>
            <a:ext cx="3289707" cy="0"/>
          </a:xfrm>
          <a:prstGeom prst="line">
            <a:avLst/>
          </a:prstGeom>
          <a:ln w="1016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197900" y="3648852"/>
            <a:ext cx="3253130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対象部門で標準レイアウトを試行し、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品質・作成時間・運用負荷を測定して</a:t>
            </a:r>
          </a:p>
          <a:p>
            <a:pPr algn="l">
              <a:lnSpc>
                <a:spcPct val="122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展開可否を判断する。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88372"/>
            <a:ext cx="4526280" cy="512064"/>
          </a:xfrm>
          <a:prstGeom prst="roundRect">
            <a:avLst>
              <a:gd name="adj" fmla="val 6000"/>
            </a:avLst>
          </a:prstGeom>
          <a:solidFill>
            <a:srgbClr val="182C4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31152" y="2188372"/>
            <a:ext cx="4757623" cy="512064"/>
          </a:xfrm>
          <a:prstGeom prst="roundRect">
            <a:avLst>
              <a:gd name="adj" fmla="val 6000"/>
            </a:avLst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188372"/>
            <a:ext cx="4197096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744" y="2188372"/>
            <a:ext cx="4428439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307244"/>
            <a:ext cx="153619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773588"/>
            <a:ext cx="4526280" cy="310896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31152" y="2773588"/>
            <a:ext cx="4757623" cy="3108960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92624" y="30479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894576" y="3047908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5029200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748272" y="3084484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2773588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66944" y="2883316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14032" y="2773588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7512" y="3395380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095744" y="3395380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4992624" y="366970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94576" y="3669700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5029200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748272" y="3706276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95380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66944" y="3505108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3395380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67512" y="4017172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095744" y="4017172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4992624" y="429149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894576" y="4291492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5029200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748272" y="4328068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85800" y="4017172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66944" y="4126900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4017172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67512" y="4638964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095744" y="4638964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992624" y="4913284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894576" y="49132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5029200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748272" y="4949860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638964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66944" y="4748692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114032" y="4638964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67512" y="5260756"/>
            <a:ext cx="4197096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095744" y="5260756"/>
            <a:ext cx="4428439" cy="0"/>
          </a:xfrm>
          <a:prstGeom prst="line">
            <a:avLst/>
          </a:prstGeom>
          <a:ln w="698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Oval 52"/>
          <p:cNvSpPr/>
          <p:nvPr/>
        </p:nvSpPr>
        <p:spPr>
          <a:xfrm>
            <a:off x="4992624" y="553507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894576" y="5535076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>
            <a:off x="5029200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6748272" y="5571652"/>
            <a:ext cx="182880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85800" y="5260756"/>
            <a:ext cx="41605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266944" y="5370484"/>
            <a:ext cx="142646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14032" y="5260756"/>
            <a:ext cx="4391863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49224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500823" y="1645920"/>
            <a:ext cx="3566159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336231" y="2084832"/>
            <a:ext cx="4206240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855464" y="2423160"/>
            <a:ext cx="248076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55464" y="3721608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855464" y="3721608"/>
            <a:ext cx="248076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855464" y="3072384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5464" y="5020056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855464" y="4370832"/>
            <a:ext cx="248076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49224" y="2157984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3524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4712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24712" y="2688336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49224" y="2807208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3524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24712" y="3337560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49224" y="3456432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24712" y="3986784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49224" y="4105656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3524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24712" y="4636008"/>
            <a:ext cx="3566160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49224" y="4754880"/>
            <a:ext cx="4206240" cy="53035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63524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8096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36231" y="2157984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199571" y="230886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204143" y="231343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00823" y="2157984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500823" y="2688336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7336231" y="2807208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199571" y="295808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04143" y="296265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00823" y="2807208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500823" y="3337560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7336231" y="3456432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360730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361188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00823" y="3456432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500823" y="3986784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7336231" y="4105656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199571" y="425653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204143" y="426110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500823" y="4105656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500823" y="4636008"/>
            <a:ext cx="3502152" cy="0"/>
          </a:xfrm>
          <a:prstGeom prst="line">
            <a:avLst/>
          </a:prstGeom>
          <a:ln w="571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7336231" y="4754880"/>
            <a:ext cx="4206240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1199571" y="490575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1204143" y="491032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00823" y="4754880"/>
            <a:ext cx="3566159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69" name="Oval 68"/>
          <p:cNvSpPr/>
          <p:nvPr/>
        </p:nvSpPr>
        <p:spPr>
          <a:xfrm>
            <a:off x="4818888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818888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818888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4818888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4818888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299655" y="238658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299655" y="303580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7299655" y="368503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7299655" y="433425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7299655" y="498348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73736" y="182880"/>
            <a:ext cx="11786616" cy="0"/>
          </a:xfrm>
          <a:prstGeom prst="line">
            <a:avLst/>
          </a:prstGeom>
          <a:ln w="3810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84632" y="493776"/>
            <a:ext cx="1120140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5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障害対応スイムレーン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" y="960120"/>
            <a:ext cx="11201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lang="ja-JP">
                <a:solidFill>
                  <a:srgbClr val="66778D"/>
                </a:solidFill>
                <a:latin typeface="Yu Gothic"/>
                <a:ea typeface="Yu Gothic"/>
                <a:cs typeface="Yu Gothic"/>
              </a:rPr>
              <a:t>担当境界と引き継ぎ点を明示し、対応漏れを防止する。</a:t>
            </a:r>
          </a:p>
        </p:txBody>
      </p:sp>
      <p:sp>
        <p:nvSpPr>
          <p:cNvPr id="6" name="qa-surface-on-canvas:swimlane-stage:detect"/>
          <p:cNvSpPr/>
          <p:nvPr/>
        </p:nvSpPr>
        <p:spPr>
          <a:xfrm>
            <a:off x="1499616" y="1499616"/>
            <a:ext cx="2624328" cy="338328"/>
          </a:xfrm>
          <a:prstGeom prst="chevron">
            <a:avLst/>
          </a:prstGeom>
          <a:solidFill>
            <a:srgbClr val="FAF9F6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27632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8" name="qa-surface-on-canvas:swimlane-stage:verify"/>
          <p:cNvSpPr/>
          <p:nvPr/>
        </p:nvSpPr>
        <p:spPr>
          <a:xfrm>
            <a:off x="4087368" y="1499616"/>
            <a:ext cx="2624328" cy="338328"/>
          </a:xfrm>
          <a:prstGeom prst="chevron">
            <a:avLst/>
          </a:prstGeom>
          <a:solidFill>
            <a:srgbClr val="FAF9F6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15384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sp>
        <p:nvSpPr>
          <p:cNvPr id="10" name="qa-surface-on-canvas:swimlane-stage:recover"/>
          <p:cNvSpPr/>
          <p:nvPr/>
        </p:nvSpPr>
        <p:spPr>
          <a:xfrm>
            <a:off x="6675120" y="1499616"/>
            <a:ext cx="2624328" cy="338328"/>
          </a:xfrm>
          <a:prstGeom prst="chevron">
            <a:avLst/>
          </a:prstGeom>
          <a:solidFill>
            <a:srgbClr val="FAF9F6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sp>
        <p:nvSpPr>
          <p:cNvPr id="12" name="qa-surface-on-canvas:swimlane-stage:close"/>
          <p:cNvSpPr/>
          <p:nvPr/>
        </p:nvSpPr>
        <p:spPr>
          <a:xfrm>
            <a:off x="9262872" y="1499616"/>
            <a:ext cx="2587752" cy="338328"/>
          </a:xfrm>
          <a:prstGeom prst="chevron">
            <a:avLst/>
          </a:prstGeom>
          <a:solidFill>
            <a:srgbClr val="FAF9F6"/>
          </a:solidFill>
          <a:ln w="10795">
            <a:solidFill>
              <a:srgbClr val="BBBAB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90888" y="1554480"/>
            <a:ext cx="23317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8328" y="183794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99616" y="1837943"/>
            <a:ext cx="10351008" cy="86868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" y="183794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328" y="270662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38328" y="2706624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99616" y="2706624"/>
            <a:ext cx="10351008" cy="86868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706624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38328" y="357530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38328" y="357530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499616" y="3575303"/>
            <a:ext cx="10351008" cy="86868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" y="357530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NW担当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38328" y="4443983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338328" y="4443983"/>
            <a:ext cx="1161288" cy="868680"/>
          </a:xfrm>
          <a:prstGeom prst="rect">
            <a:avLst/>
          </a:prstGeom>
          <a:solidFill>
            <a:srgbClr val="EAF0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99616" y="4443983"/>
            <a:ext cx="10351008" cy="86868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" y="4443983"/>
            <a:ext cx="9601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38328" y="5312664"/>
            <a:ext cx="11512296" cy="0"/>
          </a:xfrm>
          <a:prstGeom prst="line">
            <a:avLst/>
          </a:prstGeom>
          <a:ln w="825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99616" y="1837943"/>
            <a:ext cx="0" cy="3474721"/>
          </a:xfrm>
          <a:prstGeom prst="line">
            <a:avLst/>
          </a:prstGeom>
          <a:ln w="10160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87368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675120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262872" y="1837943"/>
            <a:ext cx="0" cy="3474721"/>
          </a:xfrm>
          <a:prstGeom prst="line">
            <a:avLst/>
          </a:prstGeom>
          <a:ln w="6985">
            <a:solidFill>
              <a:srgbClr val="BBBAB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793492" y="2500884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793492" y="2706624"/>
            <a:ext cx="0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2793492" y="2706624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246120" y="3140964"/>
            <a:ext cx="969264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246120" y="3140964"/>
            <a:ext cx="804672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050792" y="3140964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050792" y="4009644"/>
            <a:ext cx="235458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088564" y="314096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191506" y="400964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863554" y="3369564"/>
            <a:ext cx="0" cy="20574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863554" y="3575304"/>
            <a:ext cx="1603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5879592" y="3575304"/>
            <a:ext cx="0" cy="2057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476238" y="4009644"/>
            <a:ext cx="16230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638544" y="4009644"/>
            <a:ext cx="0" cy="86867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638544" y="4878323"/>
            <a:ext cx="621792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8677656" y="4878323"/>
            <a:ext cx="384048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9061704" y="3461004"/>
            <a:ext cx="0" cy="1417319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7470648" y="3461004"/>
            <a:ext cx="1591056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470648" y="3369564"/>
            <a:ext cx="0" cy="9144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7923276" y="314096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8919972" y="3140964"/>
            <a:ext cx="306324" cy="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9226296" y="2272284"/>
            <a:ext cx="0" cy="868680"/>
          </a:xfrm>
          <a:prstGeom prst="line">
            <a:avLst/>
          </a:prstGeom>
          <a:ln w="13970">
            <a:solidFill>
              <a:srgbClr val="10849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226296" y="2272284"/>
            <a:ext cx="307467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583037" y="2272284"/>
            <a:ext cx="91440" cy="0"/>
          </a:xfrm>
          <a:prstGeom prst="line">
            <a:avLst/>
          </a:prstGeom>
          <a:ln w="13970">
            <a:solidFill>
              <a:srgbClr val="10849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340864" y="204368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395728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① 障害申告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40864" y="291236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395728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② 一次確認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15384" y="2912364"/>
            <a:ext cx="873179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270248" y="2912364"/>
            <a:ext cx="76345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③ 監視確認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86250" y="378104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341114" y="378104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④ 機器確認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82946" y="3781044"/>
            <a:ext cx="1193292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337810" y="3781044"/>
            <a:ext cx="108356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⑤ 回線切り分け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180004" y="2912364"/>
            <a:ext cx="1367099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234868" y="2912364"/>
            <a:ext cx="125737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⑥ エスカレーション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260336" y="4649723"/>
            <a:ext cx="1417320" cy="457200"/>
          </a:xfrm>
          <a:prstGeom prst="rect">
            <a:avLst/>
          </a:prstGeom>
          <a:solidFill>
            <a:srgbClr val="EAF0EF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5200" y="4649723"/>
            <a:ext cx="130759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機器・回線調査／復旧対応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18020" y="291236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72884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⑦ 復旧作業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533763" y="2043684"/>
            <a:ext cx="1049274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588627" y="2043684"/>
            <a:ext cx="93954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⑧ 利用者連絡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14716" y="291236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69580" y="291236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⑨ 結果確認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674477" y="2043684"/>
            <a:ext cx="905256" cy="457200"/>
          </a:xfrm>
          <a:prstGeom prst="rect">
            <a:avLst/>
          </a:prstGeom>
          <a:solidFill>
            <a:srgbClr val="FEFEFE"/>
          </a:solidFill>
          <a:ln w="9525">
            <a:solidFill>
              <a:srgbClr val="1084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729341" y="2043684"/>
            <a:ext cx="7955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F2A46"/>
                </a:solidFill>
                <a:latin typeface="Yu Gothic"/>
                <a:ea typeface="Yu Gothic"/>
                <a:cs typeface="Yu Gothic"/>
              </a:rPr>
              <a:t>⑩ クローズ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44752"/>
            <a:ext cx="10881360" cy="237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587855" y="2912546"/>
            <a:ext cx="9015984" cy="2185416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5871" y="2930834"/>
            <a:ext cx="1024128" cy="201168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sp>
        <p:nvSpPr>
          <p:cNvPr id="8" name="Rectangle 7"/>
          <p:cNvSpPr/>
          <p:nvPr/>
        </p:nvSpPr>
        <p:spPr>
          <a:xfrm>
            <a:off x="1587855" y="5107106"/>
            <a:ext cx="9015984" cy="960119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15871" y="5125394"/>
            <a:ext cx="1024128" cy="201168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376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8376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2676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1830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1830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130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5284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5284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9584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48738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48738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13038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21921" y="1983740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521921" y="2404364"/>
            <a:ext cx="128601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0164927" y="2404364"/>
            <a:ext cx="0" cy="3662862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2026767" y="272966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257653" y="2482778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26767" y="3168578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74923" y="2921690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26767" y="360749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274923" y="3360602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61307" y="4046402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92193" y="3799514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4485314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326733" y="4238426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130387" y="4924226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361273" y="4677338"/>
            <a:ext cx="1572768" cy="219456"/>
          </a:xfrm>
          <a:prstGeom prst="rect">
            <a:avLst/>
          </a:prstGeom>
          <a:solidFill>
            <a:srgbClr val="DFEBE8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8130387" y="5363138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361273" y="5116250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2026767" y="580205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2257653" y="5555162"/>
            <a:ext cx="1572768" cy="219456"/>
          </a:xfrm>
          <a:prstGeom prst="rect">
            <a:avLst/>
          </a:prstGeom>
          <a:solidFill>
            <a:srgbClr val="ECEAE4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4360" y="610819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33271" y="6190488"/>
            <a:ext cx="256033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344168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993391" y="6190488"/>
            <a:ext cx="256033" cy="0"/>
          </a:xfrm>
          <a:prstGeom prst="line">
            <a:avLst/>
          </a:prstGeom>
          <a:ln w="12700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2304287" y="6108192"/>
            <a:ext cx="5120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応答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34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