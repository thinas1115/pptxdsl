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12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12.png"/><Relationship Id="rId5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3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3.png"/><Relationship Id="rId6" Type="http://schemas.openxmlformats.org/officeDocument/2006/relationships/image" Target="../media/image22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1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7.png"/><Relationship Id="rId4" Type="http://schemas.openxmlformats.org/officeDocument/2006/relationships/image" Target="../media/image26.png"/><Relationship Id="rId5" Type="http://schemas.openxmlformats.org/officeDocument/2006/relationships/image" Target="../media/image28.png"/><Relationship Id="rId6" Type="http://schemas.openxmlformats.org/officeDocument/2006/relationships/image" Target="../media/image1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docs/product-overview" TargetMode="External"/><Relationship Id="rId3" Type="http://schemas.openxmlformats.org/officeDocument/2006/relationships/hyperlink" Target="https://example.com/docs/operations-guide" TargetMode="External"/><Relationship Id="rId4" Type="http://schemas.openxmlformats.org/officeDocument/2006/relationships/hyperlink" Target="https://example.com/pricing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意思決定から技術研修まで、26のTypeを37枚で検証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2029968"/>
            <a:ext cx="4663440" cy="297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第2章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601976"/>
            <a:ext cx="95554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導入計画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3449320"/>
            <a:ext cx="955548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試験導入から展開判断まで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検討手順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意思決定資料は、論点を3段階で組み立てる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69533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判断したい論点を1文で定義し、読み手と目的を揃える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3312" y="2193544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54901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事実と制約を整理し、選択肢ごとの違いを比較する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3312" y="2978912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40269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推奨案と実施条件を示し、次の判断につなげる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3764279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判断材料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移行判断では、費用・影響・運用条件を揃える</a:t>
            </a:r>
          </a:p>
        </p:txBody>
      </p:sp>
      <p:sp>
        <p:nvSpPr>
          <p:cNvPr id="5" name="Oval 4"/>
          <p:cNvSpPr/>
          <p:nvPr/>
        </p:nvSpPr>
        <p:spPr>
          <a:xfrm>
            <a:off x="950976" y="1853658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初期費用と継続費用を分け、比較期間を統一する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39026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利用部門・既存業務・周辺システムへの影響を確認する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424394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移行中の停止時間と、切り戻し条件を明確にする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4209762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運用開始後の責任分界と問い合わせ窓口を決める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リリース前に、残タスクと完了条件を確認する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1807938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782334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本番手順と切り戻し手順のレビュー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" y="2593306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567702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関係部門への実施日時と影響範囲の連絡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" y="3378674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監視項目・通知先・初動担当の最終確認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" y="4164042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リリース判定会議での承認取得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結論と根拠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全社展開の推奨案と、効果・実現性・導入リスクを示す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65376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9888" y="1837944"/>
            <a:ext cx="3611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推奨案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2560320"/>
            <a:ext cx="3749039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標準テンプレートを対象部門へ</a:t>
            </a:r>
          </a:p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0448" y="1883664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865376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期待効果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304288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作成とレビューの手戻りを減らし、提出品質を揃える。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907791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70448" y="3081528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063240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実現性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502152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既存フローを流用し、部門ごとに順次導入できる。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105656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70448" y="4279392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261104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導入リスク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700016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初期教育と運用窓口を用意し、例外資料は個別対応とする。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441448" y="1783080"/>
            <a:ext cx="0" cy="370332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276856" y="5559552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654296" y="1783080"/>
            <a:ext cx="0" cy="370332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489704" y="5559552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67144" y="1783080"/>
            <a:ext cx="0" cy="370332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702552" y="5559552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079992" y="1783080"/>
            <a:ext cx="0" cy="370332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915400" y="5559552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300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1292840" y="1783080"/>
            <a:ext cx="0" cy="370332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1128248" y="5559552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41448" y="5486400"/>
            <a:ext cx="8851392" cy="0"/>
          </a:xfrm>
          <a:prstGeom prst="line">
            <a:avLst/>
          </a:prstGeom>
          <a:ln w="10160">
            <a:solidFill>
              <a:srgbClr val="666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68680" y="2108835"/>
            <a:ext cx="1389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4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週次報告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41448" y="2026539"/>
            <a:ext cx="995781" cy="20116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92093" y="2008251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41448" y="2264283"/>
            <a:ext cx="287670" cy="20116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3982" y="2245995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3034665"/>
            <a:ext cx="1389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4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月次レビュー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41448" y="2952369"/>
            <a:ext cx="2655417" cy="20116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51729" y="2934081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41448" y="3190113"/>
            <a:ext cx="929396" cy="20116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25708" y="3171825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3960495"/>
            <a:ext cx="1389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4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調査サマリ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441448" y="3878199"/>
            <a:ext cx="5310835" cy="20116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07147" y="3859911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240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441448" y="4115943"/>
            <a:ext cx="1880920" cy="20116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77232" y="4097655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4886324"/>
            <a:ext cx="1389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4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役員向け抜粋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441448" y="4804028"/>
            <a:ext cx="1991563" cy="20116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87875" y="4785741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41448" y="5041772"/>
            <a:ext cx="619597" cy="20116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15909" y="5023484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435607" y="5788152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00199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従来 (分)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310127" y="5788152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74720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生成後 (分)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417319" y="5138927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6695" y="5056631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17319" y="4299966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96695" y="4217670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17319" y="3461003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96695" y="3378707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17319" y="2622041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96695" y="2539746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17319" y="1783079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96695" y="1700783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17319" y="1783080"/>
            <a:ext cx="0" cy="3355847"/>
          </a:xfrm>
          <a:prstGeom prst="line">
            <a:avLst/>
          </a:prstGeom>
          <a:ln w="10160">
            <a:solidFill>
              <a:srgbClr val="666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417319" y="5138927"/>
            <a:ext cx="9848089" cy="0"/>
          </a:xfrm>
          <a:prstGeom prst="line">
            <a:avLst/>
          </a:prstGeom>
          <a:ln w="10160">
            <a:solidFill>
              <a:srgbClr val="666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106423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7435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8446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99457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0468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1479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92490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23501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4512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1417319" y="4383862"/>
            <a:ext cx="1231012" cy="251688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2648331" y="4090225"/>
            <a:ext cx="1231010" cy="293637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3879341" y="3838536"/>
            <a:ext cx="1231012" cy="251689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5110353" y="3293211"/>
            <a:ext cx="1231011" cy="545325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6341364" y="2957626"/>
            <a:ext cx="1231011" cy="335585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7572375" y="2580093"/>
            <a:ext cx="1231011" cy="377533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8803386" y="2328405"/>
            <a:ext cx="1231011" cy="251688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10034397" y="2034768"/>
            <a:ext cx="1231011" cy="293637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1371599" y="4589830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602611" y="4338142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833622" y="4044505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064633" y="3792816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295644" y="3247491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526654" y="2911906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757666" y="2534373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988677" y="2282685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219688" y="1989048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V="1">
            <a:off x="1417319" y="4090225"/>
            <a:ext cx="1231012" cy="20974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648331" y="3880484"/>
            <a:ext cx="1231010" cy="20974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79341" y="3670744"/>
            <a:ext cx="1231012" cy="209740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5110353" y="3461003"/>
            <a:ext cx="1231011" cy="20974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6341364" y="3041522"/>
            <a:ext cx="1231011" cy="41948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7572375" y="2622041"/>
            <a:ext cx="1231011" cy="41948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8803386" y="2202560"/>
            <a:ext cx="1231011" cy="41948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10034397" y="1783079"/>
            <a:ext cx="1231011" cy="41948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1371599" y="4254246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2602611" y="4044505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833622" y="3834764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5064633" y="3625024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295644" y="3415283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526654" y="2995802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8757666" y="2576322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988677" y="2156840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1219688" y="1737359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435607" y="5788152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600199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利用率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310127" y="5788152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474720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目標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417319" y="5138927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6695" y="5056631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17319" y="4299966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96695" y="4217670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17319" y="3461003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96695" y="3378707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17319" y="2622041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96695" y="2539746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150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17319" y="1783079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96695" y="1700783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17319" y="1783080"/>
            <a:ext cx="0" cy="3355847"/>
          </a:xfrm>
          <a:prstGeom prst="line">
            <a:avLst/>
          </a:prstGeom>
          <a:ln w="10160">
            <a:solidFill>
              <a:srgbClr val="666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417319" y="5138927"/>
            <a:ext cx="9848089" cy="0"/>
          </a:xfrm>
          <a:prstGeom prst="line">
            <a:avLst/>
          </a:prstGeom>
          <a:ln w="10160">
            <a:solidFill>
              <a:srgbClr val="666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444751" y="5230367"/>
            <a:ext cx="322783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93491" y="3964381"/>
            <a:ext cx="530352" cy="117454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93491" y="3628796"/>
            <a:ext cx="530352" cy="335584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93491" y="3461003"/>
            <a:ext cx="530352" cy="167792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27448" y="5230367"/>
            <a:ext cx="322783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試行中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76188" y="4501316"/>
            <a:ext cx="530352" cy="637611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76188" y="3964381"/>
            <a:ext cx="530352" cy="536935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76188" y="3461003"/>
            <a:ext cx="530352" cy="503377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10144" y="5230367"/>
            <a:ext cx="322783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標準化後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58884" y="4836901"/>
            <a:ext cx="530352" cy="30202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358884" y="4132173"/>
            <a:ext cx="530352" cy="704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358884" y="3461003"/>
            <a:ext cx="530352" cy="671169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35607" y="5788152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600199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作成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10127" y="5788152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74720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レビュー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84648" y="5788152"/>
            <a:ext cx="109728" cy="109728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49240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意思決定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変更前後のスクリーンショットを左右で比較する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444752"/>
            <a:ext cx="5212080" cy="35661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166420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変更前</a:t>
            </a:r>
          </a:p>
        </p:txBody>
      </p:sp>
      <p:pic>
        <p:nvPicPr>
          <p:cNvPr id="7" name="Comparison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l="4407" r="4407"/>
          <a:stretch>
            <a:fillRect/>
          </a:stretch>
        </p:blipFill>
        <p:spPr>
          <a:xfrm>
            <a:off x="877824" y="2084832"/>
            <a:ext cx="4846320" cy="2743200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6291072" y="1444752"/>
            <a:ext cx="5212080" cy="35661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5392" y="166420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変更後</a:t>
            </a:r>
          </a:p>
        </p:txBody>
      </p:sp>
      <p:pic>
        <p:nvPicPr>
          <p:cNvPr id="10" name="ComparisonImage" descr="濃紺のグラデーションに幾何学的な線を重ねた背景素材"/>
          <p:cNvPicPr>
            <a:picLocks noChangeAspect="1"/>
          </p:cNvPicPr>
          <p:nvPr/>
        </p:nvPicPr>
        <p:blipFill>
          <a:blip r:embed="rId3"/>
          <a:srcRect l="286" r="286"/>
          <a:stretch>
            <a:fillRect/>
          </a:stretch>
        </p:blipFill>
        <p:spPr>
          <a:xfrm>
            <a:off x="6473952" y="2084832"/>
            <a:ext cx="4846320" cy="2743200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11" name="Rectangle 1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目的・読み手・必須メッセージを整理する。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2033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schemaに沿ってスライド種別と文言を作る。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3745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3745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5387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rendererがPPTXを決定論的に出力する。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7099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7099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874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機械検知と目視で崩れを確認する。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045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045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2094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contentを直して再生成し、提出する。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3806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3806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994660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843016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91372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91372" y="2517343"/>
            <a:ext cx="256032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47404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947404" y="3834079"/>
            <a:ext cx="25603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371582" y="4327855"/>
            <a:ext cx="0" cy="384048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74870" y="4711903"/>
            <a:ext cx="569671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74870" y="3011119"/>
            <a:ext cx="0" cy="17007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6724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4740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3884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3884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023567"/>
            <a:ext cx="2336292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096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3436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1452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0596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0596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03436" y="3340303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1452" y="3459175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0596" y="3797503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0596" y="4080967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88527" y="2439682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1948" y="3756418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7770" y="4634242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78892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06908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55371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5740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3911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" y="225856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32404" y="209854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248406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44" name="Diamond 43"/>
          <p:cNvSpPr/>
          <p:nvPr/>
        </p:nvSpPr>
        <p:spPr>
          <a:xfrm>
            <a:off x="4179951" y="235000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68915" y="247345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58368" y="27889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68096" y="285292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" y="283464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" y="305409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925062" y="289407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287393" y="292608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68096" y="3337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3856" y="3319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3856" y="353872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310378" y="3378708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019038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58" name="Diamond 57"/>
          <p:cNvSpPr/>
          <p:nvPr/>
        </p:nvSpPr>
        <p:spPr>
          <a:xfrm>
            <a:off x="7643241" y="363016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205" y="375361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58368" y="40690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68096" y="413308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" y="411480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" y="433425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388352" y="417423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750682" y="420624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58368" y="455371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68096" y="461772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33856" y="459943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6" y="481888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9466326" y="4658868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9828657" y="469087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72" name="Diamond 71"/>
          <p:cNvSpPr/>
          <p:nvPr/>
        </p:nvSpPr>
        <p:spPr>
          <a:xfrm>
            <a:off x="11106531" y="491032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353065" y="503377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58368" y="53218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94735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09163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594735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326379" y="2926079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19038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48406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326379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19038" y="372160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482328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94106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72708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5802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941064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326379" y="5312664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404353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135999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Oval 14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125784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464125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344436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7" y="355482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2211" y="2096536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2032" y="4081515"/>
            <a:ext cx="1828800" cy="283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594713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5875">
            <a:prstDash val="dash"/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38297"/>
            <a:ext cx="10195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378936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27151" y="2793720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7151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66380" y="1397294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7434" y="2439710"/>
            <a:ext cx="161620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9770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6001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5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38339" y="2523149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40114" y="2742605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25813" y="4992029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20209" y="351984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AWS構成図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VPC・AZ・Subnetの入れ子構造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クラウド構成図では、通信経路だけでなく配置境界も読み取れる形にする。</a:t>
            </a:r>
          </a:p>
        </p:txBody>
      </p:sp>
      <p:sp>
        <p:nvSpPr>
          <p:cNvPr id="6" name="aws-vpc-layout:vpc"/>
          <p:cNvSpPr/>
          <p:nvPr/>
        </p:nvSpPr>
        <p:spPr>
          <a:xfrm>
            <a:off x="1938528" y="1874012"/>
            <a:ext cx="9750247" cy="4353052"/>
          </a:xfrm>
          <a:prstGeom prst="rect">
            <a:avLst/>
          </a:prstGeom>
          <a:noFill/>
          <a:ln w="16510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ws-vpc-layout:vpc:label"/>
          <p:cNvSpPr txBox="1"/>
          <p:nvPr/>
        </p:nvSpPr>
        <p:spPr>
          <a:xfrm>
            <a:off x="2057400" y="1938020"/>
            <a:ext cx="1037844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10.0.0.0/16</a:t>
            </a:r>
          </a:p>
        </p:txBody>
      </p:sp>
      <p:sp>
        <p:nvSpPr>
          <p:cNvPr id="8" name="aws-vpc-layout:az:az_a"/>
          <p:cNvSpPr/>
          <p:nvPr/>
        </p:nvSpPr>
        <p:spPr>
          <a:xfrm>
            <a:off x="2212848" y="2258060"/>
            <a:ext cx="4491075" cy="3786124"/>
          </a:xfrm>
          <a:prstGeom prst="rect">
            <a:avLst/>
          </a:prstGeom>
          <a:noFill/>
          <a:ln w="14604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ws-vpc-layout:az:az_a:label"/>
          <p:cNvSpPr txBox="1"/>
          <p:nvPr/>
        </p:nvSpPr>
        <p:spPr>
          <a:xfrm>
            <a:off x="2331720" y="2322068"/>
            <a:ext cx="379476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0" name="aws-vpc-layout:subnet:public_a"/>
          <p:cNvSpPr/>
          <p:nvPr/>
        </p:nvSpPr>
        <p:spPr>
          <a:xfrm>
            <a:off x="2359152" y="2587244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ws-vpc-layout:subnet:public_a:label"/>
          <p:cNvSpPr txBox="1"/>
          <p:nvPr/>
        </p:nvSpPr>
        <p:spPr>
          <a:xfrm>
            <a:off x="2478024" y="2651252"/>
            <a:ext cx="156248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public subnet 10.0.0.0/24</a:t>
            </a:r>
          </a:p>
        </p:txBody>
      </p:sp>
      <p:sp>
        <p:nvSpPr>
          <p:cNvPr id="12" name="aws-vpc-layout:subnet:app_a"/>
          <p:cNvSpPr/>
          <p:nvPr/>
        </p:nvSpPr>
        <p:spPr>
          <a:xfrm>
            <a:off x="2359152" y="3757845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aws-vpc-layout:subnet:app_a:label"/>
          <p:cNvSpPr txBox="1"/>
          <p:nvPr/>
        </p:nvSpPr>
        <p:spPr>
          <a:xfrm>
            <a:off x="2478024" y="3821853"/>
            <a:ext cx="1943100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app subnet 10.0.10.0/24</a:t>
            </a:r>
          </a:p>
        </p:txBody>
      </p:sp>
      <p:sp>
        <p:nvSpPr>
          <p:cNvPr id="14" name="aws-vpc-layout:subnet:db_a"/>
          <p:cNvSpPr/>
          <p:nvPr/>
        </p:nvSpPr>
        <p:spPr>
          <a:xfrm>
            <a:off x="2359152" y="4928446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ws-vpc-layout:subnet:db_a:label"/>
          <p:cNvSpPr txBox="1"/>
          <p:nvPr/>
        </p:nvSpPr>
        <p:spPr>
          <a:xfrm>
            <a:off x="2478024" y="4992454"/>
            <a:ext cx="187109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db subnet 10.0.20.0/24</a:t>
            </a:r>
          </a:p>
        </p:txBody>
      </p:sp>
      <p:sp>
        <p:nvSpPr>
          <p:cNvPr id="16" name="aws-vpc-layout:az:az_c"/>
          <p:cNvSpPr/>
          <p:nvPr/>
        </p:nvSpPr>
        <p:spPr>
          <a:xfrm>
            <a:off x="6923379" y="2258060"/>
            <a:ext cx="4491075" cy="3786124"/>
          </a:xfrm>
          <a:prstGeom prst="rect">
            <a:avLst/>
          </a:prstGeom>
          <a:noFill/>
          <a:ln w="14604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ws-vpc-layout:az:az_c:label"/>
          <p:cNvSpPr txBox="1"/>
          <p:nvPr/>
        </p:nvSpPr>
        <p:spPr>
          <a:xfrm>
            <a:off x="7042251" y="2322068"/>
            <a:ext cx="379476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sp>
        <p:nvSpPr>
          <p:cNvPr id="18" name="aws-vpc-layout:subnet:public_c"/>
          <p:cNvSpPr/>
          <p:nvPr/>
        </p:nvSpPr>
        <p:spPr>
          <a:xfrm>
            <a:off x="7069683" y="2587244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ws-vpc-layout:subnet:public_c:label"/>
          <p:cNvSpPr txBox="1"/>
          <p:nvPr/>
        </p:nvSpPr>
        <p:spPr>
          <a:xfrm>
            <a:off x="7188555" y="2651252"/>
            <a:ext cx="156248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public subnet 10.0.1.0/24</a:t>
            </a:r>
          </a:p>
        </p:txBody>
      </p:sp>
      <p:sp>
        <p:nvSpPr>
          <p:cNvPr id="20" name="aws-vpc-layout:subnet:app_c"/>
          <p:cNvSpPr/>
          <p:nvPr/>
        </p:nvSpPr>
        <p:spPr>
          <a:xfrm>
            <a:off x="7069683" y="3757845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aws-vpc-layout:subnet:app_c:label"/>
          <p:cNvSpPr txBox="1"/>
          <p:nvPr/>
        </p:nvSpPr>
        <p:spPr>
          <a:xfrm>
            <a:off x="7188555" y="3821853"/>
            <a:ext cx="1943100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app subnet 10.0.11.0/24</a:t>
            </a:r>
          </a:p>
        </p:txBody>
      </p:sp>
      <p:sp>
        <p:nvSpPr>
          <p:cNvPr id="22" name="aws-vpc-layout:subnet:db_c"/>
          <p:cNvSpPr/>
          <p:nvPr/>
        </p:nvSpPr>
        <p:spPr>
          <a:xfrm>
            <a:off x="7069683" y="4928446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aws-vpc-layout:subnet:db_c:label"/>
          <p:cNvSpPr txBox="1"/>
          <p:nvPr/>
        </p:nvSpPr>
        <p:spPr>
          <a:xfrm>
            <a:off x="7188555" y="4992454"/>
            <a:ext cx="187109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db subnet 10.0.21.0/24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389888" y="3090164"/>
            <a:ext cx="2794177" cy="0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aws-vpc-layout:flow-label"/>
          <p:cNvSpPr txBox="1"/>
          <p:nvPr/>
        </p:nvSpPr>
        <p:spPr>
          <a:xfrm>
            <a:off x="2556090" y="2904870"/>
            <a:ext cx="461772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458385" y="3364484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aws-vpc-layout:flow-label"/>
          <p:cNvSpPr txBox="1"/>
          <p:nvPr/>
        </p:nvSpPr>
        <p:spPr>
          <a:xfrm>
            <a:off x="4805857" y="3351115"/>
            <a:ext cx="389763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168917" y="3364484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aws-vpc-layout:flow-label"/>
          <p:cNvSpPr txBox="1"/>
          <p:nvPr/>
        </p:nvSpPr>
        <p:spPr>
          <a:xfrm>
            <a:off x="9516389" y="3351115"/>
            <a:ext cx="389763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458385" y="4535085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aws-vpc-layout:flow-label"/>
          <p:cNvSpPr txBox="1"/>
          <p:nvPr/>
        </p:nvSpPr>
        <p:spPr>
          <a:xfrm>
            <a:off x="4805857" y="4521716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68917" y="4535085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aws-vpc-layout:flow-label"/>
          <p:cNvSpPr txBox="1"/>
          <p:nvPr/>
        </p:nvSpPr>
        <p:spPr>
          <a:xfrm>
            <a:off x="9516389" y="4521716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732705" y="5431366"/>
            <a:ext cx="416189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aws-vpc-layout:flow-label"/>
          <p:cNvSpPr txBox="1"/>
          <p:nvPr/>
        </p:nvSpPr>
        <p:spPr>
          <a:xfrm>
            <a:off x="5614301" y="5246073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pic>
        <p:nvPicPr>
          <p:cNvPr id="36" name="Picture 35" descr="a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8929" y="2870707"/>
            <a:ext cx="438912" cy="43891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129773" y="3355340"/>
            <a:ext cx="65722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 node</a:t>
            </a:r>
          </a:p>
        </p:txBody>
      </p:sp>
      <p:pic>
        <p:nvPicPr>
          <p:cNvPr id="38" name="Picture 37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8929" y="4041309"/>
            <a:ext cx="438912" cy="43891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242930" y="4525941"/>
            <a:ext cx="430911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App A</a:t>
            </a:r>
          </a:p>
        </p:txBody>
      </p:sp>
      <p:pic>
        <p:nvPicPr>
          <p:cNvPr id="40" name="Picture 39" descr="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8929" y="5211910"/>
            <a:ext cx="438912" cy="43891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037190" y="5696542"/>
            <a:ext cx="842391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Primary</a:t>
            </a:r>
          </a:p>
        </p:txBody>
      </p:sp>
      <p:pic>
        <p:nvPicPr>
          <p:cNvPr id="42" name="Picture 41" descr="a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9461" y="2870707"/>
            <a:ext cx="438912" cy="4389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840304" y="3355340"/>
            <a:ext cx="65722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 node</a:t>
            </a:r>
          </a:p>
        </p:txBody>
      </p:sp>
      <p:pic>
        <p:nvPicPr>
          <p:cNvPr id="44" name="Picture 43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9461" y="4041309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948318" y="4525941"/>
            <a:ext cx="441198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App B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9461" y="5211910"/>
            <a:ext cx="438912" cy="43891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737434" y="5696542"/>
            <a:ext cx="86296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Standby</a:t>
            </a:r>
          </a:p>
        </p:txBody>
      </p:sp>
      <p:pic>
        <p:nvPicPr>
          <p:cNvPr id="48" name="Picture 47" descr="us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2870707"/>
            <a:ext cx="438912" cy="43891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84682" y="3355340"/>
            <a:ext cx="461772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69766" y="2707538"/>
            <a:ext cx="10812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42145" y="3248177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5232" y="2754401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23782" y="324817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514" y="3632225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15014" y="402541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644091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87675"/>
            <a:ext cx="186309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428314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2771" y="3428314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88873" y="3428314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290253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6697" y="4264990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言葉の定義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RTOは、障害発生から業務再開までの目標時間を表す</a:t>
            </a:r>
          </a:p>
        </p:txBody>
      </p:sp>
      <p:pic>
        <p:nvPicPr>
          <p:cNvPr id="5" name="Picture 4" descr="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1810512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07592" y="1755648"/>
            <a:ext cx="4123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2633472"/>
            <a:ext cx="4892040" cy="298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Recovery Time Objectiveの略です。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障害が起きてから、業務やサービスを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再開するまでに許容する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目標時間を定めます。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797296" y="1755648"/>
            <a:ext cx="9144" cy="3865880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44768" y="178308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起点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2061972"/>
            <a:ext cx="5544007" cy="909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業務やサービスへ影響する障害が発生した時点。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4768" y="3025986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44768" y="3071706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終点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768" y="3350598"/>
            <a:ext cx="5544007" cy="909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利用者が必要な業務を再開できる状態へ戻った時点。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4314613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4360333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設計への反映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4639225"/>
            <a:ext cx="5544007" cy="909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復旧手順、冗長化、バックアップ方式の要求へ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落とし込む。</a:t>
            </a:r>
          </a:p>
        </p:txBody>
      </p:sp>
      <p:sp>
        <p:nvSpPr>
          <p:cNvPr id="17" name="slide-footnote:rule"/>
          <p:cNvSpPr/>
          <p:nvPr/>
        </p:nvSpPr>
        <p:spPr>
          <a:xfrm>
            <a:off x="502920" y="5822696"/>
            <a:ext cx="11185855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slide-footnote:label"/>
          <p:cNvSpPr txBox="1"/>
          <p:nvPr/>
        </p:nvSpPr>
        <p:spPr>
          <a:xfrm>
            <a:off x="502920" y="5932424"/>
            <a:ext cx="1271016" cy="221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誤解しやすい点</a:t>
            </a:r>
          </a:p>
        </p:txBody>
      </p:sp>
      <p:sp>
        <p:nvSpPr>
          <p:cNvPr id="19" name="slide-footnote:text"/>
          <p:cNvSpPr txBox="1"/>
          <p:nvPr/>
        </p:nvSpPr>
        <p:spPr>
          <a:xfrm>
            <a:off x="1920240" y="5932424"/>
            <a:ext cx="9768535" cy="221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実際に要した復旧時間の実績値ではなく、事前に合意する目標値です。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ネットワーク構成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物理リンクを共有しながら、用途別の通信範囲を分離する</a:t>
            </a:r>
          </a:p>
        </p:txBody>
      </p:sp>
      <p:sp>
        <p:nvSpPr>
          <p:cNvPr id="5" name="layout-background:network-lane:business"/>
          <p:cNvSpPr/>
          <p:nvPr/>
        </p:nvSpPr>
        <p:spPr>
          <a:xfrm>
            <a:off x="502920" y="2060691"/>
            <a:ext cx="11185855" cy="129844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2243571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業務VLAN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508747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sp>
        <p:nvSpPr>
          <p:cNvPr id="8" name="layout-background:network-lane:guest"/>
          <p:cNvSpPr/>
          <p:nvPr/>
        </p:nvSpPr>
        <p:spPr>
          <a:xfrm>
            <a:off x="502920" y="3450579"/>
            <a:ext cx="11185855" cy="1298448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3633459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ゲストVLAN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3898635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来訪者端末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37943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4075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16339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フロアB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77141" y="270991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477141" y="374318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35993" y="266876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435993" y="405865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7903273" y="270991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903273" y="374318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862125" y="266876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62125" y="405865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371049" y="2709915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371049" y="4099803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477141" y="2709915"/>
            <a:ext cx="2426132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477141" y="4099803"/>
            <a:ext cx="2426132" cy="0"/>
          </a:xfrm>
          <a:prstGeom prst="line">
            <a:avLst/>
          </a:prstGeom>
          <a:ln w="2540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684367" y="3020811"/>
            <a:ext cx="2011680" cy="31089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Trunk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業務VLAN / ゲストVLAN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903273" y="2709915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903273" y="4099803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2740113" y="239901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977" y="2453883"/>
            <a:ext cx="512064" cy="51206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282913" y="303909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A</a:t>
            </a:r>
          </a:p>
        </p:txBody>
      </p:sp>
      <p:sp>
        <p:nvSpPr>
          <p:cNvPr id="33" name="Oval 32"/>
          <p:cNvSpPr/>
          <p:nvPr/>
        </p:nvSpPr>
        <p:spPr>
          <a:xfrm>
            <a:off x="2740113" y="378890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977" y="3843771"/>
            <a:ext cx="512064" cy="51206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282913" y="442898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A</a:t>
            </a:r>
          </a:p>
        </p:txBody>
      </p:sp>
      <p:sp>
        <p:nvSpPr>
          <p:cNvPr id="36" name="Oval 35"/>
          <p:cNvSpPr/>
          <p:nvPr/>
        </p:nvSpPr>
        <p:spPr>
          <a:xfrm>
            <a:off x="5166245" y="309396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1109" y="3148827"/>
            <a:ext cx="512064" cy="51206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4709045" y="373404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39" name="Oval 38"/>
          <p:cNvSpPr/>
          <p:nvPr/>
        </p:nvSpPr>
        <p:spPr>
          <a:xfrm>
            <a:off x="7592377" y="309396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7241" y="3148827"/>
            <a:ext cx="512064" cy="51206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7135177" y="373404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42" name="Oval 41"/>
          <p:cNvSpPr/>
          <p:nvPr/>
        </p:nvSpPr>
        <p:spPr>
          <a:xfrm>
            <a:off x="10018509" y="239901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desk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3373" y="2453883"/>
            <a:ext cx="512064" cy="51206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561309" y="303909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B</a:t>
            </a:r>
          </a:p>
        </p:txBody>
      </p:sp>
      <p:sp>
        <p:nvSpPr>
          <p:cNvPr id="45" name="Oval 44"/>
          <p:cNvSpPr/>
          <p:nvPr/>
        </p:nvSpPr>
        <p:spPr>
          <a:xfrm>
            <a:off x="10018509" y="378890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3373" y="3843771"/>
            <a:ext cx="512064" cy="512064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561309" y="442898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B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76072" y="6117336"/>
            <a:ext cx="256032" cy="0"/>
          </a:xfrm>
          <a:prstGeom prst="line">
            <a:avLst/>
          </a:prstGeom>
          <a:ln w="1905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905256" y="6035040"/>
            <a:ext cx="52692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Access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651635" y="6117336"/>
            <a:ext cx="256031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1980818" y="6035040"/>
            <a:ext cx="10824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Trunk (複数VLAN)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IPパケット状態の追跡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NAT前後の送信元IPを、処理段階ごとに追跡する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NATでは送信元IPを書き換え、宛先IPは維持したまま外部へ転送する。</a:t>
            </a:r>
          </a:p>
        </p:txBody>
      </p:sp>
      <p:pic>
        <p:nvPicPr>
          <p:cNvPr id="6" name="Picture 5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823" y="1910588"/>
            <a:ext cx="310896" cy="3108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56232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pic>
        <p:nvPicPr>
          <p:cNvPr id="8" name="Picture 7" descr="ether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9223" y="1910588"/>
            <a:ext cx="310896" cy="310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666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ルーター内側</a:t>
            </a:r>
          </a:p>
        </p:txBody>
      </p:sp>
      <p:pic>
        <p:nvPicPr>
          <p:cNvPr id="10" name="Picture 9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9623" y="1910588"/>
            <a:ext cx="310896" cy="310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770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NAT処理</a:t>
            </a:r>
          </a:p>
        </p:txBody>
      </p:sp>
      <p:sp>
        <p:nvSpPr>
          <p:cNvPr id="12" name="layout-background:protocol-state-flow:stage:internet"/>
          <p:cNvSpPr/>
          <p:nvPr/>
        </p:nvSpPr>
        <p:spPr>
          <a:xfrm>
            <a:off x="7805135" y="2568956"/>
            <a:ext cx="1900671" cy="2084832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0023" y="1910588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874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インターネット区間</a:t>
            </a:r>
          </a:p>
        </p:txBody>
      </p:sp>
      <p:pic>
        <p:nvPicPr>
          <p:cNvPr id="15" name="Picture 14" descr="serv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0423" y="1910588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978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17" name="layout-background:protocol-state-flow:track:0"/>
          <p:cNvSpPr/>
          <p:nvPr/>
        </p:nvSpPr>
        <p:spPr>
          <a:xfrm>
            <a:off x="502920" y="2642108"/>
            <a:ext cx="11185855" cy="896112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824988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送信元IP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038602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アドレス変換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2271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375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2479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2583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protocol-state-flow:marker:plain"/>
          <p:cNvSpPr/>
          <p:nvPr/>
        </p:nvSpPr>
        <p:spPr>
          <a:xfrm>
            <a:off x="22579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83664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83664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端末のプライベートIP</a:t>
            </a:r>
          </a:p>
        </p:txBody>
      </p:sp>
      <p:sp>
        <p:nvSpPr>
          <p:cNvPr id="27" name="protocol-state-flow:marker:plain"/>
          <p:cNvSpPr/>
          <p:nvPr/>
        </p:nvSpPr>
        <p:spPr>
          <a:xfrm>
            <a:off x="42683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940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940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変換前の送信元</a:t>
            </a:r>
          </a:p>
        </p:txBody>
      </p:sp>
      <p:sp>
        <p:nvSpPr>
          <p:cNvPr id="30" name="protocol-state-flow:marker:internal"/>
          <p:cNvSpPr/>
          <p:nvPr/>
        </p:nvSpPr>
        <p:spPr>
          <a:xfrm>
            <a:off x="6278727" y="2879852"/>
            <a:ext cx="932688" cy="365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044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044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送信元を書き換え</a:t>
            </a:r>
          </a:p>
        </p:txBody>
      </p:sp>
      <p:sp>
        <p:nvSpPr>
          <p:cNvPr id="33" name="protocol-state-flow:marker:plain"/>
          <p:cNvSpPr/>
          <p:nvPr/>
        </p:nvSpPr>
        <p:spPr>
          <a:xfrm>
            <a:off x="82891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148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148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変換後のパケット</a:t>
            </a:r>
          </a:p>
        </p:txBody>
      </p:sp>
      <p:sp>
        <p:nvSpPr>
          <p:cNvPr id="36" name="protocol-state-flow:marker:plain"/>
          <p:cNvSpPr/>
          <p:nvPr/>
        </p:nvSpPr>
        <p:spPr>
          <a:xfrm>
            <a:off x="102995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252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252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外部から見える送信元</a:t>
            </a:r>
          </a:p>
        </p:txBody>
      </p:sp>
      <p:sp>
        <p:nvSpPr>
          <p:cNvPr id="39" name="layout-background:protocol-state-flow:track:1"/>
          <p:cNvSpPr/>
          <p:nvPr/>
        </p:nvSpPr>
        <p:spPr>
          <a:xfrm>
            <a:off x="502920" y="3684524"/>
            <a:ext cx="11185855" cy="896112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3867404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宛先IP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4081018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変化なし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271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2375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2479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92583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protocol-state-flow:marker:plain"/>
          <p:cNvSpPr/>
          <p:nvPr/>
        </p:nvSpPr>
        <p:spPr>
          <a:xfrm>
            <a:off x="22579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83664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83664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49" name="protocol-state-flow:marker:plain"/>
          <p:cNvSpPr/>
          <p:nvPr/>
        </p:nvSpPr>
        <p:spPr>
          <a:xfrm>
            <a:off x="42683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8940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940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2" name="protocol-state-flow:marker:internal"/>
          <p:cNvSpPr/>
          <p:nvPr/>
        </p:nvSpPr>
        <p:spPr>
          <a:xfrm>
            <a:off x="6278727" y="3922268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044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044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5" name="protocol-state-flow:marker:plain"/>
          <p:cNvSpPr/>
          <p:nvPr/>
        </p:nvSpPr>
        <p:spPr>
          <a:xfrm>
            <a:off x="82891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148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148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外部へ転送</a:t>
            </a:r>
          </a:p>
        </p:txBody>
      </p:sp>
      <p:sp>
        <p:nvSpPr>
          <p:cNvPr id="58" name="protocol-state-flow:marker:plain"/>
          <p:cNvSpPr/>
          <p:nvPr/>
        </p:nvSpPr>
        <p:spPr>
          <a:xfrm>
            <a:off x="102995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9252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252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自分宛てとして受信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プロトコル構造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TCPセグメントを分解し、制御情報とデータの位置を読む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フィールドを位置で捉え、パケットキャプチャの値を役割へ結び付ける。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" y="2294636"/>
            <a:ext cx="9784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0" y="2111756"/>
            <a:ext cx="939546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91640" y="2221484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送信元Port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82496" y="2724404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85466" y="2111756"/>
            <a:ext cx="939546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31186" y="2221484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2042" y="2724404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5012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70732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1588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30750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6470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7326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36488" y="2111756"/>
            <a:ext cx="589788" cy="841248"/>
          </a:xfrm>
          <a:prstGeom prst="rect">
            <a:avLst/>
          </a:prstGeom>
          <a:solidFill>
            <a:srgbClr val="F1E3DF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82208" y="2221484"/>
            <a:ext cx="49834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3064" y="2724404"/>
            <a:ext cx="5166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 bit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26276" y="2111756"/>
            <a:ext cx="939546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1996" y="2221484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Window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2852" y="2724404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5822" y="2111756"/>
            <a:ext cx="4422952" cy="841248"/>
          </a:xfrm>
          <a:prstGeom prst="rect">
            <a:avLst/>
          </a:prstGeom>
          <a:solidFill>
            <a:srgbClr val="ECEAE4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1542" y="2221484"/>
            <a:ext cx="4331512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Payload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02398" y="2724404"/>
            <a:ext cx="4349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512 bit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685800" y="2971292"/>
            <a:ext cx="3392081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02920" y="3209035"/>
            <a:ext cx="56692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" y="3209035"/>
            <a:ext cx="297271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受信側が並び順と欠落を判断する番号。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4481474" y="2971292"/>
            <a:ext cx="702145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298594" y="3209035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37506" y="3209035"/>
            <a:ext cx="315559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次に受信したい位置を相手へ通知する。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031382" y="2971292"/>
            <a:ext cx="2245766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094268" y="3209035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33180" y="3209035"/>
            <a:ext cx="315559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接続開始・終了などの状態を示す。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設定と確認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設定例と確認コマンドを並べ、変更後の状態まで検証する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コマンドの実行ではなく、期待状態の確認までを作業単位とする。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11756"/>
            <a:ext cx="6903720" cy="4014723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294636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設定例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614676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service: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image: example/app:2.4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replicas: 3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healthcheck: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  path: /health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393438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確認コマンド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4713477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deploy --file service.yml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status service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logs service --tail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2130044"/>
            <a:ext cx="3898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確認する状態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90688" y="2541524"/>
            <a:ext cx="3898087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90688" y="269697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3" y="2678684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稼働数が指定したreplicasと一致している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23" y="349491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90688" y="3549777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3" y="3531489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healthcheckが成功し、トラフィックを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受けられる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93023" y="4347717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0688" y="4402581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3" y="4384293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直近ログに起動失敗や設定エラーがない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93023" y="520052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90688" y="525538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5237098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切り戻し用の直前バージョンを特定できる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理解度チェック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判断理由を選び、運用設計の理解を確認する</a:t>
            </a:r>
          </a:p>
        </p:txBody>
      </p:sp>
      <p:sp>
        <p:nvSpPr>
          <p:cNvPr id="5" name="Oval 4"/>
          <p:cNvSpPr/>
          <p:nvPr/>
        </p:nvSpPr>
        <p:spPr>
          <a:xfrm>
            <a:off x="521208" y="19067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" y="19067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8884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監視通知を設計するとき、最初に決めるものはどれか。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193218"/>
            <a:ext cx="233400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検知したい利用者影響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23310" y="2193218"/>
            <a:ext cx="17785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通知メールの色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66410" y="21932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担当者の座席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24712" y="26930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21208" y="28211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28211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" y="28028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変更後の確認として最も適切なものはどれか。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コマンドが終了したこと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08476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期待状態と実測値の一致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1076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手順書のページ数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24712" y="36074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1208" y="37355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" y="37355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" y="37172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例外対応を残すときに必要な情報はどれか。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" y="40220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適用条件と承認者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52978" y="40220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作成者の好み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10912" y="4022018"/>
            <a:ext cx="14081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画面の配色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対象範囲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実施範囲と対象外を分け、責任境界を明確にする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必要なデータ、関係部門のレビュー体制、既存基盤の安定稼働を着手条件とする。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020316"/>
            <a:ext cx="5437479" cy="566928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2111756"/>
            <a:ext cx="384048" cy="38404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7864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2920" y="2587244"/>
            <a:ext cx="5437479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31520" y="289356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対象業務の要件整理と新しい運用フローの設計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41832" y="319074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31520" y="348792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既存システムとのインターフェース設計・実装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1832" y="3785107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31520" y="408228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本番移行と初期運用期間の問い合わせ対応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41832" y="437946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31520" y="4676647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利用部門向けの操作説明と運用手順の整備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51295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1295" y="2020316"/>
            <a:ext cx="5437479" cy="566928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34175" y="2111756"/>
            <a:ext cx="384048" cy="384048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4175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6239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対象外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251295" y="2587244"/>
            <a:ext cx="54374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479895" y="289356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90207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端末・ネットワーク機器の調達と設置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690207" y="319074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479895" y="348792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90207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今回の対象外となる周辺システムの機能改修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690207" y="3785107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479895" y="408228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90207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初期運用期間終了後の長期保守業務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690207" y="437946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6479895" y="4676647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90207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移行元データの名寄せと内容補正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経営判断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背景・判断・提案を整理し、意思決定を1枚で支援する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限定導入で効果と運用条件を確認した後、対象業務を段階的に拡大する。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51409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49580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026156"/>
            <a:ext cx="2401824" cy="2450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部門ごとに資料の構成と確認方法が異なり、作成とレビューの双方に手戻りが発生している。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2" y="251409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81600" y="249580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81600" y="3026156"/>
            <a:ext cx="2401824" cy="2450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全資料を一律化するのではなく、頻出する業務パターンから標準化する方が導入負荷を抑えられる。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2" y="251409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91600" y="249580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1600" y="3026156"/>
            <a:ext cx="2401824" cy="2450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対象部門で標準レイアウトを試行し、品質・作成時間・運用負荷を測定して展開可否を判断する。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現行方式と標準方式を、同じ評価軸で比較する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短期の立ち上げは現行方式、中長期の横展開は標準方式が優位となる。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88372"/>
            <a:ext cx="4526280" cy="512064"/>
          </a:xfrm>
          <a:prstGeom prst="roundRect">
            <a:avLst>
              <a:gd name="adj" fmla="val 6000"/>
            </a:avLst>
          </a:prstGeom>
          <a:solidFill>
            <a:srgbClr val="182C4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931152" y="2188372"/>
            <a:ext cx="4757623" cy="512064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188372"/>
            <a:ext cx="4197096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現行方式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95744" y="2188372"/>
            <a:ext cx="4428439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標準方式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307244"/>
            <a:ext cx="153619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評価軸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773588"/>
            <a:ext cx="4526280" cy="31089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31152" y="2773588"/>
            <a:ext cx="4757623" cy="31089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029200" y="3084484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748272" y="3084484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67512" y="3395380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095744" y="3395380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029200" y="3706276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748272" y="3706276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67512" y="4017172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095744" y="4017172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29200" y="4328068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748272" y="4328068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67512" y="4638964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095744" y="4638964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029200" y="4949860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748272" y="4949860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67512" y="5260756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095744" y="5260756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029200" y="5571652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748272" y="5571652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2773588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担当者ごとの個別対応が多い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運用負荷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14032" y="2773588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共通手順により確認作業を削減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3395380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初期設定は少なく短期導入しやすい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導入速度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14032" y="3395380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初期整備後は再利用によって展開を加速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4017172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個別要望へ即時に対応できる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柔軟性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14032" y="4017172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共通部品と例外ルールを組み合わせる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4638964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担当者の経験により差が生じる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品質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14032" y="4638964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標準検証により品質と一貫性を維持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5260756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対象拡大に比例して運用負荷が増える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拡張性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4032" y="5260756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共通基盤を再利用して対象を追加できる</a:t>
            </a:r>
          </a:p>
        </p:txBody>
      </p:sp>
      <p:sp>
        <p:nvSpPr>
          <p:cNvPr id="51" name="Oval 50"/>
          <p:cNvSpPr/>
          <p:nvPr/>
        </p:nvSpPr>
        <p:spPr>
          <a:xfrm>
            <a:off x="4983480" y="3038764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885432" y="3038764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983480" y="3660556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885432" y="3660556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983480" y="4282348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885432" y="4282348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983480" y="4904140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885432" y="4904140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983480" y="5525932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885432" y="5525932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対応関係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主要課題と施策をひも付け、対応漏れを確認する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9224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500823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対応施策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36231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1778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49224" y="2157984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3524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手作業が多く処理時間が長い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24712" y="2688336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649224" y="2807208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3524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承認完了までの待ち時間が長い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24712" y="3337560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49224" y="3456432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3524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データが複数の管理先へ分散している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24712" y="3986784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49224" y="4105656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63524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進捗と課題の把握に時間がかかる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124712" y="4636008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49224" y="4754880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63524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8096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4712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成果物の品質にばらつきがある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36231" y="2157984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199571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204143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00823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定型作業の標準化と自動化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500823" y="2688336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7336231" y="2807208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199571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204143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00823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承認条件と判断権限の見直し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500823" y="3337560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7336231" y="3456432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199571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204143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00823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データ管理先の統合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500823" y="3986784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7336231" y="4105656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199571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204143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00823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進捗・課題ダッシュボードの整備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500823" y="4636008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7336231" y="4754880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199571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204143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500823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レビュー基準と品質ゲートの整備</a:t>
            </a:r>
          </a:p>
        </p:txBody>
      </p:sp>
      <p:sp>
        <p:nvSpPr>
          <p:cNvPr id="69" name="Oval 68"/>
          <p:cNvSpPr/>
          <p:nvPr/>
        </p:nvSpPr>
        <p:spPr>
          <a:xfrm>
            <a:off x="4818888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818888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818888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818888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818888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299655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299655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299655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299655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299655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障害対応フロー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障害対応スイムレーン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担当境界と引き継ぎ点を明示し、対応漏れを防止する。</a:t>
            </a:r>
          </a:p>
        </p:txBody>
      </p:sp>
      <p:sp>
        <p:nvSpPr>
          <p:cNvPr id="6" name="qa-surface-on-canvas:swimlane-stage:detect"/>
          <p:cNvSpPr/>
          <p:nvPr/>
        </p:nvSpPr>
        <p:spPr>
          <a:xfrm>
            <a:off x="1499616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検知・申告</a:t>
            </a:r>
          </a:p>
        </p:txBody>
      </p:sp>
      <p:sp>
        <p:nvSpPr>
          <p:cNvPr id="8" name="qa-surface-on-canvas:swimlane-stage:verify"/>
          <p:cNvSpPr/>
          <p:nvPr/>
        </p:nvSpPr>
        <p:spPr>
          <a:xfrm>
            <a:off x="4087368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15384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確認・切り分け</a:t>
            </a:r>
          </a:p>
        </p:txBody>
      </p:sp>
      <p:sp>
        <p:nvSpPr>
          <p:cNvPr id="10" name="qa-surface-on-canvas:swimlane-stage:recover"/>
          <p:cNvSpPr/>
          <p:nvPr/>
        </p:nvSpPr>
        <p:spPr>
          <a:xfrm>
            <a:off x="6675120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03136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対応・復旧</a:t>
            </a:r>
          </a:p>
        </p:txBody>
      </p:sp>
      <p:sp>
        <p:nvSpPr>
          <p:cNvPr id="12" name="qa-surface-on-canvas:swimlane-stage:close"/>
          <p:cNvSpPr/>
          <p:nvPr/>
        </p:nvSpPr>
        <p:spPr>
          <a:xfrm>
            <a:off x="9262872" y="1892300"/>
            <a:ext cx="2587752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90888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確認・完了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" y="223062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99616" y="223062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" y="223062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38328" y="309930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38328" y="309930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99616" y="309930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" y="309930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38328" y="396798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38328" y="396798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499616" y="396798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" y="396798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NW担当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38328" y="483666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338328" y="483666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99616" y="483666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" y="483666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38328" y="570534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499616" y="2230628"/>
            <a:ext cx="10351008" cy="0"/>
          </a:xfrm>
          <a:prstGeom prst="line">
            <a:avLst/>
          </a:prstGeom>
          <a:ln w="1079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499616" y="2230628"/>
            <a:ext cx="0" cy="3474720"/>
          </a:xfrm>
          <a:prstGeom prst="line">
            <a:avLst/>
          </a:prstGeom>
          <a:ln w="10160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087368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675120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262872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793492" y="289356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93492" y="3099308"/>
            <a:ext cx="0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793492" y="3099308"/>
            <a:ext cx="0" cy="2057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246120" y="3533648"/>
            <a:ext cx="969264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246120" y="3533648"/>
            <a:ext cx="804672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050792" y="3533648"/>
            <a:ext cx="0" cy="868679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050792" y="4402327"/>
            <a:ext cx="235458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088564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191506" y="4402327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863554" y="376224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863554" y="3967988"/>
            <a:ext cx="1603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879592" y="3967988"/>
            <a:ext cx="0" cy="205739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476238" y="4402327"/>
            <a:ext cx="16230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638544" y="4402327"/>
            <a:ext cx="0" cy="868681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638544" y="5271008"/>
            <a:ext cx="621792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677656" y="5271008"/>
            <a:ext cx="38404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9061704" y="3853688"/>
            <a:ext cx="0" cy="141732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7470648" y="3853688"/>
            <a:ext cx="159105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7470648" y="3762248"/>
            <a:ext cx="0" cy="914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923276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8919972" y="3533648"/>
            <a:ext cx="306324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9226296" y="2664968"/>
            <a:ext cx="0" cy="86868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226296" y="2664968"/>
            <a:ext cx="307467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583037" y="266496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2340864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95728" y="243636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① 障害申告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340864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395728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② 一次確認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15384" y="3305048"/>
            <a:ext cx="873179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70248" y="3305048"/>
            <a:ext cx="76345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③ 監視確認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86250" y="4173727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41114" y="4173727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④ 機器確認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282946" y="4173727"/>
            <a:ext cx="1193292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337810" y="4173727"/>
            <a:ext cx="1083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⑤ 回線切り分け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180004" y="3305048"/>
            <a:ext cx="1367099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34868" y="3305048"/>
            <a:ext cx="125737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⑥ エスカレーション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260336" y="5042408"/>
            <a:ext cx="1417320" cy="457200"/>
          </a:xfrm>
          <a:prstGeom prst="rect">
            <a:avLst/>
          </a:prstGeom>
          <a:solidFill>
            <a:srgbClr val="EAF0EF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315200" y="5042408"/>
            <a:ext cx="13075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機器・回線調査／復旧対応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018020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072884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⑦ 復旧作業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33763" y="2436368"/>
            <a:ext cx="1049274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588627" y="2436368"/>
            <a:ext cx="93954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⑧ 利用者連絡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014716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69580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⑨ 結果確認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674477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729341" y="243636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⑩ クローズ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変更作業シーケンス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関係者・機器・確認ポイントを、実行順に整理する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メッセージの順序と送受信者を分けて確認し、作業前の認識差を減らす。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587855" y="2912546"/>
            <a:ext cx="9015984" cy="2185416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15871" y="2930834"/>
            <a:ext cx="1024128" cy="201168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調査フェーズ</a:t>
            </a:r>
          </a:p>
        </p:txBody>
      </p:sp>
      <p:sp>
        <p:nvSpPr>
          <p:cNvPr id="8" name="Rectangle 7"/>
          <p:cNvSpPr/>
          <p:nvPr/>
        </p:nvSpPr>
        <p:spPr>
          <a:xfrm>
            <a:off x="1587855" y="5107106"/>
            <a:ext cx="9015984" cy="960119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15871" y="5125394"/>
            <a:ext cx="1024128" cy="201168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復旧フェーズ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376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8376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02676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41830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監視システム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1830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06130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5284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拠点ルータ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5284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09584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48738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センタールータ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48738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13038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52192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52192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16492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2026767" y="2729666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sequence-message-label:detect"/>
          <p:cNvSpPr txBox="1"/>
          <p:nvPr/>
        </p:nvSpPr>
        <p:spPr>
          <a:xfrm>
            <a:off x="2257653" y="2482778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障害検知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26767" y="3168578"/>
            <a:ext cx="406908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sequence-message-label:request"/>
          <p:cNvSpPr txBox="1"/>
          <p:nvPr/>
        </p:nvSpPr>
        <p:spPr>
          <a:xfrm>
            <a:off x="3274923" y="2921690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確認依頼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2026767" y="3607490"/>
            <a:ext cx="406908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sequence-message-label:reply"/>
          <p:cNvSpPr txBox="1"/>
          <p:nvPr/>
        </p:nvSpPr>
        <p:spPr>
          <a:xfrm>
            <a:off x="3274923" y="3360602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疎通結果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061307" y="4046402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sequence-message-label:logs"/>
          <p:cNvSpPr txBox="1"/>
          <p:nvPr/>
        </p:nvSpPr>
        <p:spPr>
          <a:xfrm>
            <a:off x="4292193" y="3799514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ログ確認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5847" y="4485314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sequence-message-label:isolate"/>
          <p:cNvSpPr txBox="1"/>
          <p:nvPr/>
        </p:nvSpPr>
        <p:spPr>
          <a:xfrm>
            <a:off x="6326733" y="4238426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区間切り分け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130387" y="4924226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sequence-message-label:carrier"/>
          <p:cNvSpPr txBox="1"/>
          <p:nvPr/>
        </p:nvSpPr>
        <p:spPr>
          <a:xfrm>
            <a:off x="8361273" y="4677338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回線確認</a:t>
            </a:r>
          </a:p>
        </p:txBody>
      </p:sp>
      <p:cxnSp>
        <p:nvCxnSpPr>
          <p:cNvPr id="37" name="Connector 36"/>
          <p:cNvCxnSpPr/>
          <p:nvPr/>
        </p:nvCxnSpPr>
        <p:spPr>
          <a:xfrm flipH="1">
            <a:off x="8130387" y="5363138"/>
            <a:ext cx="203454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sequence-message-label:recover"/>
          <p:cNvSpPr txBox="1"/>
          <p:nvPr/>
        </p:nvSpPr>
        <p:spPr>
          <a:xfrm>
            <a:off x="8361273" y="5116250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復旧連絡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2026767" y="5802050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sequence-message-label:report"/>
          <p:cNvSpPr txBox="1"/>
          <p:nvPr/>
        </p:nvSpPr>
        <p:spPr>
          <a:xfrm>
            <a:off x="2257653" y="5555162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正常性確認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6108192"/>
            <a:ext cx="34747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凡例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033271" y="6190488"/>
            <a:ext cx="256033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344168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要求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993391" y="6190488"/>
            <a:ext cx="256033" cy="0"/>
          </a:xfrm>
          <a:prstGeom prst="line">
            <a:avLst/>
          </a:prstGeom>
          <a:ln w="12700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304287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応答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参考資料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確認に使用した情報源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参照先をタイトルと実URLで示し、原典へ移動できるようにする。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9576" y="19288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9576" y="1928876"/>
            <a:ext cx="804672" cy="32004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ferences:index[0]"/>
          <p:cNvSpPr/>
          <p:nvPr/>
        </p:nvSpPr>
        <p:spPr>
          <a:xfrm>
            <a:off x="521208" y="2038604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" y="2038604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[1]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9576" y="2020316"/>
            <a:ext cx="7589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製品ドキュメント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180015" y="2020316"/>
            <a:ext cx="1508760" cy="256032"/>
          </a:xfrm>
          <a:prstGeom prst="roundRect">
            <a:avLst>
              <a:gd name="adj" fmla="val 6000"/>
            </a:avLst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53167" y="2020316"/>
            <a:ext cx="136245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概要・仕様</a:t>
            </a:r>
          </a:p>
        </p:txBody>
      </p:sp>
      <p:sp>
        <p:nvSpPr>
          <p:cNvPr id="13" name="references:url[0]"/>
          <p:cNvSpPr txBox="1"/>
          <p:nvPr/>
        </p:nvSpPr>
        <p:spPr>
          <a:xfrm>
            <a:off x="1179576" y="24043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↗  https://example.com/docs/product-overview</a:t>
            </a:r>
          </a:p>
        </p:txBody>
      </p:sp>
      <p:sp>
        <p:nvSpPr>
          <p:cNvPr id="14" name="references:link[0]">
            <a:hlinkClick r:id="rId2"/>
          </p:cNvPr>
          <p:cNvSpPr/>
          <p:nvPr/>
        </p:nvSpPr>
        <p:spPr>
          <a:xfrm>
            <a:off x="1179576" y="24043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9576" y="28432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9576" y="2843276"/>
            <a:ext cx="804672" cy="32004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ferences:index[1]"/>
          <p:cNvSpPr/>
          <p:nvPr/>
        </p:nvSpPr>
        <p:spPr>
          <a:xfrm>
            <a:off x="521208" y="2953004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208" y="2953004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[2]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9576" y="2934716"/>
            <a:ext cx="7589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運用ガイド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80015" y="2934716"/>
            <a:ext cx="1508760" cy="256032"/>
          </a:xfrm>
          <a:prstGeom prst="roundRect">
            <a:avLst>
              <a:gd name="adj" fmla="val 6000"/>
            </a:avLst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53167" y="2934716"/>
            <a:ext cx="136245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監視・障害対応</a:t>
            </a:r>
          </a:p>
        </p:txBody>
      </p:sp>
      <p:sp>
        <p:nvSpPr>
          <p:cNvPr id="22" name="references:url[1]"/>
          <p:cNvSpPr txBox="1"/>
          <p:nvPr/>
        </p:nvSpPr>
        <p:spPr>
          <a:xfrm>
            <a:off x="1179576" y="33187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↗  https://example.com/docs/operations-guide</a:t>
            </a:r>
          </a:p>
        </p:txBody>
      </p:sp>
      <p:sp>
        <p:nvSpPr>
          <p:cNvPr id="23" name="references:link[1]">
            <a:hlinkClick r:id="rId3"/>
          </p:cNvPr>
          <p:cNvSpPr/>
          <p:nvPr/>
        </p:nvSpPr>
        <p:spPr>
          <a:xfrm>
            <a:off x="1179576" y="33187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79576" y="37576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79576" y="3757676"/>
            <a:ext cx="804672" cy="32004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ferences:index[2]"/>
          <p:cNvSpPr/>
          <p:nvPr/>
        </p:nvSpPr>
        <p:spPr>
          <a:xfrm>
            <a:off x="521208" y="3867404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208" y="3867404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[3]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79576" y="3849116"/>
            <a:ext cx="7589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料金ページ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80015" y="3849116"/>
            <a:ext cx="1508760" cy="256032"/>
          </a:xfrm>
          <a:prstGeom prst="roundRect">
            <a:avLst>
              <a:gd name="adj" fmla="val 6000"/>
            </a:avLst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53167" y="3849116"/>
            <a:ext cx="136245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費用</a:t>
            </a:r>
          </a:p>
        </p:txBody>
      </p:sp>
      <p:sp>
        <p:nvSpPr>
          <p:cNvPr id="31" name="references:url[2]"/>
          <p:cNvSpPr txBox="1"/>
          <p:nvPr/>
        </p:nvSpPr>
        <p:spPr>
          <a:xfrm>
            <a:off x="1179576" y="42331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↗  https://example.com/pricing</a:t>
            </a:r>
          </a:p>
        </p:txBody>
      </p:sp>
      <p:sp>
        <p:nvSpPr>
          <p:cNvPr id="32" name="references:link[2]">
            <a:hlinkClick r:id="rId4"/>
          </p:cNvPr>
          <p:cNvSpPr/>
          <p:nvPr/>
        </p:nvSpPr>
        <p:spPr>
          <a:xfrm>
            <a:off x="1179576" y="42331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