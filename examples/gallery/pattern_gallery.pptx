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従来 (分)</c:v>
                </c:pt>
              </c:strCache>
            </c:strRef>
          </c:tx>
          <c:spPr>
            <a:solidFill>
              <a:srgbClr val="666E70"/>
            </a:solidFill>
          </c:spPr>
          <c:cat>
            <c:strRef>
              <c:f>Sheet1!$A$2:$A$5</c:f>
              <c:strCache>
                <c:ptCount val="4"/>
                <c:pt idx="0">
                  <c:v>週次報告</c:v>
                </c:pt>
                <c:pt idx="1">
                  <c:v>月次レビュー</c:v>
                </c:pt>
                <c:pt idx="2">
                  <c:v>調査サマリ</c:v>
                </c:pt>
                <c:pt idx="3">
                  <c:v>役員向け抜粋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120</c:v>
                </c:pt>
                <c:pt idx="2">
                  <c:v>240</c:v>
                </c:pt>
                <c:pt idx="3">
                  <c:v>90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生成後 (分)</c:v>
                </c:pt>
              </c:strCache>
            </c:strRef>
          </c:tx>
          <c:spPr>
            <a:solidFill>
              <a:srgbClr val="0D7870"/>
            </a:solidFill>
          </c:spPr>
          <c:cat>
            <c:strRef>
              <c:f>Sheet1!$A$2:$A$5</c:f>
              <c:strCache>
                <c:ptCount val="4"/>
                <c:pt idx="0">
                  <c:v>週次報告</c:v>
                </c:pt>
                <c:pt idx="1">
                  <c:v>月次レビュー</c:v>
                </c:pt>
                <c:pt idx="2">
                  <c:v>調査サマリ</c:v>
                </c:pt>
                <c:pt idx="3">
                  <c:v>役員向け抜粋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13</c:v>
                </c:pt>
                <c:pt idx="1">
                  <c:v>42</c:v>
                </c:pt>
                <c:pt idx="2">
                  <c:v>85</c:v>
                </c:pt>
                <c:pt idx="3">
                  <c:v>28</c:v>
                </c:pt>
              </c:numCache>
            </c:numRef>
          </c:val>
        </c:ser>
        <c:dLbls>
          <c:txPr>
            <a:bodyPr/>
            <a:lstStyle/>
            <a:p>
              <a:pPr>
                <a:defRPr sz="11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6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 w="7620">
              <a:solidFill>
                <a:srgbClr val="D1CFC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latin typeface="Yu Gothic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利用率</c:v>
                </c:pt>
              </c:strCache>
            </c:strRef>
          </c:tx>
          <c:spPr>
            <a:ln w="25400">
              <a:solidFill>
                <a:srgbClr val="666E70"/>
              </a:solidFill>
            </a:ln>
          </c:spPr>
          <c:marker>
            <c:spPr>
              <a:solidFill>
                <a:srgbClr val="666E70"/>
              </a:solidFill>
              <a:ln>
                <a:solidFill>
                  <a:srgbClr val="666E70"/>
                </a:solidFill>
              </a:ln>
            </c:spPr>
          </c:marker>
          <c:cat>
            <c:strRef>
              <c:f>Sheet1!$A$2:$A$10</c:f>
              <c:strCache>
                <c:ptCount val="9"/>
                <c:pt idx="0">
                  <c:v>4月</c:v>
                </c:pt>
                <c:pt idx="1">
                  <c:v>5月</c:v>
                </c:pt>
                <c:pt idx="2">
                  <c:v>6月</c:v>
                </c:pt>
                <c:pt idx="3">
                  <c:v>7月</c:v>
                </c:pt>
                <c:pt idx="4">
                  <c:v>8月</c:v>
                </c:pt>
                <c:pt idx="5">
                  <c:v>9月</c:v>
                </c:pt>
                <c:pt idx="6">
                  <c:v>10月</c:v>
                </c:pt>
                <c:pt idx="7">
                  <c:v>11月</c:v>
                </c:pt>
                <c:pt idx="8">
                  <c:v>12月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</c:v>
                </c:pt>
                <c:pt idx="1">
                  <c:v>18</c:v>
                </c:pt>
                <c:pt idx="2">
                  <c:v>25</c:v>
                </c:pt>
                <c:pt idx="3">
                  <c:v>31</c:v>
                </c:pt>
                <c:pt idx="4">
                  <c:v>44</c:v>
                </c:pt>
                <c:pt idx="5">
                  <c:v>52</c:v>
                </c:pt>
                <c:pt idx="6">
                  <c:v>61</c:v>
                </c:pt>
                <c:pt idx="7">
                  <c:v>67</c:v>
                </c:pt>
                <c:pt idx="8">
                  <c:v>74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目標</c:v>
                </c:pt>
              </c:strCache>
            </c:strRef>
          </c:tx>
          <c:spPr>
            <a:ln w="25400">
              <a:solidFill>
                <a:srgbClr val="0D7870"/>
              </a:solidFill>
            </a:ln>
          </c:spPr>
          <c:marker>
            <c:spPr>
              <a:solidFill>
                <a:srgbClr val="0D7870"/>
              </a:solidFill>
              <a:ln>
                <a:solidFill>
                  <a:srgbClr val="0D7870"/>
                </a:solidFill>
              </a:ln>
            </c:spPr>
          </c:marker>
          <c:cat>
            <c:strRef>
              <c:f>Sheet1!$A$2:$A$10</c:f>
              <c:strCache>
                <c:ptCount val="9"/>
                <c:pt idx="0">
                  <c:v>4月</c:v>
                </c:pt>
                <c:pt idx="1">
                  <c:v>5月</c:v>
                </c:pt>
                <c:pt idx="2">
                  <c:v>6月</c:v>
                </c:pt>
                <c:pt idx="3">
                  <c:v>7月</c:v>
                </c:pt>
                <c:pt idx="4">
                  <c:v>8月</c:v>
                </c:pt>
                <c:pt idx="5">
                  <c:v>9月</c:v>
                </c:pt>
                <c:pt idx="6">
                  <c:v>10月</c:v>
                </c:pt>
                <c:pt idx="7">
                  <c:v>11月</c:v>
                </c:pt>
                <c:pt idx="8">
                  <c:v>12月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20</c:v>
                </c:pt>
                <c:pt idx="1">
                  <c:v>25</c:v>
                </c:pt>
                <c:pt idx="2">
                  <c:v>30</c:v>
                </c:pt>
                <c:pt idx="3">
                  <c:v>35</c:v>
                </c:pt>
                <c:pt idx="4">
                  <c:v>40</c:v>
                </c:pt>
                <c:pt idx="5">
                  <c:v>50</c:v>
                </c:pt>
                <c:pt idx="6">
                  <c:v>60</c:v>
                </c:pt>
                <c:pt idx="7">
                  <c:v>70</c:v>
                </c:pt>
                <c:pt idx="8">
                  <c:v>80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noFill/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7620">
              <a:solidFill>
                <a:srgbClr val="D1CFC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latin typeface="Yu Gothic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作成</c:v>
                </c:pt>
              </c:strCache>
            </c:strRef>
          </c:tx>
          <c:spPr>
            <a:solidFill>
              <a:srgbClr val="666E70"/>
            </a:solidFill>
          </c:spPr>
          <c:cat>
            <c:strRef>
              <c:f>Sheet1!$A$2:$A$4</c:f>
              <c:strCache>
                <c:ptCount val="3"/>
                <c:pt idx="0">
                  <c:v>導入前</c:v>
                </c:pt>
                <c:pt idx="1">
                  <c:v>試行中</c:v>
                </c:pt>
                <c:pt idx="2">
                  <c:v>標準化後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70</c:v>
                </c:pt>
                <c:pt idx="1">
                  <c:v>38</c:v>
                </c:pt>
                <c:pt idx="2">
                  <c:v>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レビュー</c:v>
                </c:pt>
              </c:strCache>
            </c:strRef>
          </c:tx>
          <c:spPr>
            <a:solidFill>
              <a:srgbClr val="0D7870"/>
            </a:solidFill>
          </c:spPr>
          <c:cat>
            <c:strRef>
              <c:f>Sheet1!$A$2:$A$4</c:f>
              <c:strCache>
                <c:ptCount val="3"/>
                <c:pt idx="0">
                  <c:v>導入前</c:v>
                </c:pt>
                <c:pt idx="1">
                  <c:v>試行中</c:v>
                </c:pt>
                <c:pt idx="2">
                  <c:v>標準化後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20</c:v>
                </c:pt>
                <c:pt idx="1">
                  <c:v>32</c:v>
                </c:pt>
                <c:pt idx="2">
                  <c:v>42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意思決定</c:v>
                </c:pt>
              </c:strCache>
            </c:strRef>
          </c:tx>
          <c:spPr>
            <a:solidFill>
              <a:srgbClr val="C7583E"/>
            </a:solidFill>
          </c:spPr>
          <c:cat>
            <c:strRef>
              <c:f>Sheet1!$A$2:$A$4</c:f>
              <c:strCache>
                <c:ptCount val="3"/>
                <c:pt idx="0">
                  <c:v>導入前</c:v>
                </c:pt>
                <c:pt idx="1">
                  <c:v>試行中</c:v>
                </c:pt>
                <c:pt idx="2">
                  <c:v>標準化後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10</c:v>
                </c:pt>
                <c:pt idx="1">
                  <c:v>30</c:v>
                </c:pt>
                <c:pt idx="2">
                  <c:v>40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1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6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noFill/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7620">
              <a:solidFill>
                <a:srgbClr val="D1CFC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latin typeface="Yu Gothic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12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16.png"/><Relationship Id="rId6" Type="http://schemas.openxmlformats.org/officeDocument/2006/relationships/image" Target="../media/image22.png"/><Relationship Id="rId7" Type="http://schemas.openxmlformats.org/officeDocument/2006/relationships/image" Target="../media/image7.png"/><Relationship Id="rId8" Type="http://schemas.openxmlformats.org/officeDocument/2006/relationships/image" Target="../media/image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1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7.png"/><Relationship Id="rId4" Type="http://schemas.openxmlformats.org/officeDocument/2006/relationships/image" Target="../media/image26.png"/><Relationship Id="rId5" Type="http://schemas.openxmlformats.org/officeDocument/2006/relationships/image" Target="../media/image28.png"/><Relationship Id="rId6" Type="http://schemas.openxmlformats.org/officeDocument/2006/relationships/image" Target="../media/image1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ver Background" descr="cover-background.png"/>
          <p:cNvPicPr>
            <a:picLocks noChangeAspect="1"/>
          </p:cNvPicPr>
          <p:nvPr/>
        </p:nvPicPr>
        <p:blipFill>
          <a:blip r:embed="rId2"/>
          <a:srcRect t="25" b="2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572768"/>
            <a:ext cx="7360920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社内スライド</a:t>
            </a:r>
          </a:p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パターンライブラリ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3163824"/>
            <a:ext cx="7315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7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意思決定から技術研修まで、24のTypeを34枚で検証</a:t>
            </a:r>
          </a:p>
        </p:txBody>
      </p:sp>
      <p:sp>
        <p:nvSpPr>
          <p:cNvPr id="6" name="Rectangle 5"/>
          <p:cNvSpPr/>
          <p:nvPr/>
        </p:nvSpPr>
        <p:spPr>
          <a:xfrm>
            <a:off x="8641080" y="1536192"/>
            <a:ext cx="10972" cy="3186684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79408" y="166420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79408" y="197510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2026年7月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79408" y="2752344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ORGANIZATION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79408" y="3063239"/>
            <a:ext cx="2148840" cy="4069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業務企画本部</a:t>
            </a:r>
          </a:p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業務改善推進部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79408" y="397306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AUTHOR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79408" y="428396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業務改善検討チーム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検討手順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意思決定資料は、論点を3段階で組み立てる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69533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判断したい論点を1文で定義し、読み手と目的を揃える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1353312" y="2193544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554901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事実と制約を整理し、選択肢ごとの違いを比較する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53312" y="2978912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340269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推奨案と実施条件を示し、次の判断につなげる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53312" y="3764279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判断材料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移行判断では、費用・影響・運用条件を揃える</a:t>
            </a:r>
          </a:p>
        </p:txBody>
      </p:sp>
      <p:sp>
        <p:nvSpPr>
          <p:cNvPr id="5" name="Oval 4"/>
          <p:cNvSpPr/>
          <p:nvPr/>
        </p:nvSpPr>
        <p:spPr>
          <a:xfrm>
            <a:off x="950976" y="1853658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初期費用と継続費用を分け、比較期間を統一する</a:t>
            </a:r>
          </a:p>
        </p:txBody>
      </p:sp>
      <p:sp>
        <p:nvSpPr>
          <p:cNvPr id="7" name="Oval 6"/>
          <p:cNvSpPr/>
          <p:nvPr/>
        </p:nvSpPr>
        <p:spPr>
          <a:xfrm>
            <a:off x="950976" y="2639026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利用部門・既存業務・周辺システムへの影響を確認する</a:t>
            </a:r>
          </a:p>
        </p:txBody>
      </p:sp>
      <p:sp>
        <p:nvSpPr>
          <p:cNvPr id="9" name="Oval 8"/>
          <p:cNvSpPr/>
          <p:nvPr/>
        </p:nvSpPr>
        <p:spPr>
          <a:xfrm>
            <a:off x="950976" y="3424394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移行中の停止時間と、切り戻し条件を明確にする</a:t>
            </a:r>
          </a:p>
        </p:txBody>
      </p:sp>
      <p:sp>
        <p:nvSpPr>
          <p:cNvPr id="11" name="Oval 10"/>
          <p:cNvSpPr/>
          <p:nvPr/>
        </p:nvSpPr>
        <p:spPr>
          <a:xfrm>
            <a:off x="950976" y="4209762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4093464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運用開始後の責任分界と問い合わせ窓口を決める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実施準備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リリース前に、残タスクと完了条件を確認する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905256" y="1807938"/>
            <a:ext cx="219456" cy="219456"/>
          </a:xfrm>
          <a:prstGeom prst="rect">
            <a:avLst/>
          </a:prstGeom>
          <a:solidFill>
            <a:srgbClr val="0D7870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5256" y="1782334"/>
            <a:ext cx="219456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566062"/>
                </a:solidFill>
                <a:latin typeface="Yu Gothic"/>
                <a:ea typeface="Yu Gothic"/>
                <a:cs typeface="Yu Gothic"/>
              </a:rPr>
              <a:t>本番手順と切り戻し手順のレビュー</a:t>
            </a:r>
          </a:p>
        </p:txBody>
      </p:sp>
      <p:sp>
        <p:nvSpPr>
          <p:cNvPr id="8" name="Rectangle 7"/>
          <p:cNvSpPr/>
          <p:nvPr/>
        </p:nvSpPr>
        <p:spPr>
          <a:xfrm>
            <a:off x="905256" y="2593306"/>
            <a:ext cx="219456" cy="219456"/>
          </a:xfrm>
          <a:prstGeom prst="rect">
            <a:avLst/>
          </a:prstGeom>
          <a:solidFill>
            <a:srgbClr val="0D7870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5256" y="2567702"/>
            <a:ext cx="219456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566062"/>
                </a:solidFill>
                <a:latin typeface="Yu Gothic"/>
                <a:ea typeface="Yu Gothic"/>
                <a:cs typeface="Yu Gothic"/>
              </a:rPr>
              <a:t>関係部門への実施日時と影響範囲の連絡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5256" y="3378674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監視項目・通知先・初動担当の最終確認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05256" y="4164042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53312" y="4093464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リリース判定会議での承認取得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結論と根拠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全社展開の推奨案と、効果・実現性・導入リスクを示す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65376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89888" y="1837944"/>
            <a:ext cx="3611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推奨案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89888" y="2560320"/>
            <a:ext cx="3749039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標準テンプレートを対象部門へ</a:t>
            </a:r>
          </a:p>
          <a:p>
            <a:pPr algn="l">
              <a:lnSpc>
                <a:spcPct val="128000"/>
              </a:lnSpc>
            </a:pPr>
            <a:r>
              <a:rPr sz="16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段階展開する。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70448" y="1883664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865376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期待効果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304288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作成とレビューの手戻りを減らし、提出品質を揃える。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907791"/>
            <a:ext cx="4791456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70448" y="3081528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063240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実現性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502152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既存フローを流用し、部門ごとに順次導入できる。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4105656"/>
            <a:ext cx="4791456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70448" y="4279392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261104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導入リスク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700016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初期教育と運用窓口を用意し、例外資料は個別対応とする。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KPIスナップショット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KPIは数値を主役にし、判断材料を添える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作成時間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-72%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週次報告の作成時間が平均45分から13分に短縮。下書き作成の自動化が主因。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233672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43984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手直し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3984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8分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984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生成後の確認と語尾修正に平均8分。テンプレート崩れは検出なし。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64424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74736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再利用率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74736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64%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4736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一度作った構造化データを翌週も流用でき、定型資料ほど効果が高い。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Before / After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導入前後の違いを、同じ観点で比較する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719072"/>
            <a:ext cx="5212080" cy="324307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2416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現状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</a:t>
            </a:r>
          </a:p>
        </p:txBody>
      </p:sp>
      <p:sp>
        <p:nvSpPr>
          <p:cNvPr id="8" name="Rectangle 7"/>
          <p:cNvSpPr/>
          <p:nvPr/>
        </p:nvSpPr>
        <p:spPr>
          <a:xfrm>
            <a:off x="1042416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44752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担当者ごとにスライド構成がばらつき、レビュー観点も揃わない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44752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4752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グラフや表の貼り付け後に、余白・フォント・禁則を手作業で直す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44752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44752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過去資料をコピーして使うため、古い文言や注記が残りやすい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91072" y="1719072"/>
            <a:ext cx="5212080" cy="324307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38544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目標状態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8544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38544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38544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入力schemaに沿って文言を作るため、構成の揺れを抑えられる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40880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38544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rendererが余白・フォント・描画順を決め、提出前の確認に集中できる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40880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38544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品質ゲートで重なりやはみ出しを検知し、修正箇所を特定しやすい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方式比較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選定理由と見送り理由を、同じ粒度で比較する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890979"/>
          <a:ext cx="11185852" cy="35112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79167"/>
                <a:gridCol w="2693004"/>
                <a:gridCol w="3313759"/>
                <a:gridCol w="2899922"/>
              </a:tblGrid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方式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向いている用途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強み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注意点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renderer カタログ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社内標準資料・定型報告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品質を詰めた型を再利用できる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新しい型は実装が必要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万能宣言レイアウト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図の大量バリエーション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座標指定を減らせる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エンジンが複雑化しやすい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手作業PPT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一点物の重要提案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細部まで作り込める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再現性と量産性が低い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効果測定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資料作成時間を最大72%短縮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645920"/>
          <a:ext cx="10789920" cy="437997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利用推移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月次利用率は、試行開始から継続的に上昇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645920"/>
          <a:ext cx="10789920" cy="437997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工数内訳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自動化後は、作成よりレビューへ時間を配分できる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645920"/>
          <a:ext cx="10789920" cy="437997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構成比を示すサンプル。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画面イメージ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画面キャプチャを、スライドの主役として大きく見せる</a:t>
            </a:r>
          </a:p>
        </p:txBody>
      </p:sp>
      <p:pic>
        <p:nvPicPr>
          <p:cNvPr id="5" name="ContentImage" descr="GitHubで公開されているpptxdslリポジトリのトップ画面"/>
          <p:cNvPicPr>
            <a:picLocks noChangeAspect="1"/>
          </p:cNvPicPr>
          <p:nvPr/>
        </p:nvPicPr>
        <p:blipFill>
          <a:blip r:embed="rId2"/>
          <a:srcRect t="7889" b="7889"/>
          <a:stretch>
            <a:fillRect/>
          </a:stretch>
        </p:blipFill>
        <p:spPr>
          <a:xfrm>
            <a:off x="658368" y="1499616"/>
            <a:ext cx="10874959" cy="4727448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標準プロセス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資料生成は5つの工程で品質を担保する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784908" y="2212848"/>
            <a:ext cx="8573414" cy="3200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01444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1444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入力整理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目的・読み手・必須メッセージを整理する。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資料要件</a:t>
            </a:r>
          </a:p>
        </p:txBody>
      </p:sp>
      <p:sp>
        <p:nvSpPr>
          <p:cNvPr id="12" name="Oval 11"/>
          <p:cNvSpPr/>
          <p:nvPr/>
        </p:nvSpPr>
        <p:spPr>
          <a:xfrm>
            <a:off x="3644798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44798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48025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構造化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2033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schemaに沿ってスライド種別と文言を作る。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93745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METHOD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3745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schema</a:t>
            </a:r>
          </a:p>
        </p:txBody>
      </p:sp>
      <p:sp>
        <p:nvSpPr>
          <p:cNvPr id="18" name="Oval 17"/>
          <p:cNvSpPr/>
          <p:nvPr/>
        </p:nvSpPr>
        <p:spPr>
          <a:xfrm>
            <a:off x="5788152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88152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91379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生成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55387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rendererがPPTXを決定論的に出力する。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37099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OUTPUT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37099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PPTX</a:t>
            </a:r>
          </a:p>
        </p:txBody>
      </p:sp>
      <p:sp>
        <p:nvSpPr>
          <p:cNvPr id="24" name="Oval 23"/>
          <p:cNvSpPr/>
          <p:nvPr/>
        </p:nvSpPr>
        <p:spPr>
          <a:xfrm>
            <a:off x="7931505" y="1947672"/>
            <a:ext cx="566928" cy="56692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31505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34732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検証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98740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機械検知と目視で崩れを確認する。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0452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CHECK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80452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機械 + 目視</a:t>
            </a:r>
          </a:p>
        </p:txBody>
      </p:sp>
      <p:sp>
        <p:nvSpPr>
          <p:cNvPr id="30" name="Oval 29"/>
          <p:cNvSpPr/>
          <p:nvPr/>
        </p:nvSpPr>
        <p:spPr>
          <a:xfrm>
            <a:off x="10074859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74859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78086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2094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contentを直して再生成し、提出する。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23806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STATE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23806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提出可能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承認フロー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通常の承認経路と差戻しを、迷わず追える形で示す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994660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843016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691372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691372" y="2517343"/>
            <a:ext cx="256032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947404" y="2517343"/>
            <a:ext cx="0" cy="1316736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947404" y="3834079"/>
            <a:ext cx="25603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371582" y="4327855"/>
            <a:ext cx="0" cy="384048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4674870" y="4711903"/>
            <a:ext cx="5696712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4674870" y="3011119"/>
            <a:ext cx="0" cy="1700784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58368" y="2023567"/>
            <a:ext cx="2336292" cy="9875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申請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必要事項を登録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06724" y="2023567"/>
            <a:ext cx="2336292" cy="9875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34740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形式確認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43884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不足項目を確認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43884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事務局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55080" y="2023567"/>
            <a:ext cx="2336292" cy="987552"/>
          </a:xfrm>
          <a:prstGeom prst="rect">
            <a:avLst/>
          </a:prstGeom>
          <a:solidFill>
            <a:srgbClr val="DFEBE8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3096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内容審査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妥当性とリスクを確認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審査部門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03436" y="2023567"/>
            <a:ext cx="2336292" cy="987552"/>
          </a:xfrm>
          <a:prstGeom prst="rect">
            <a:avLst/>
          </a:prstGeom>
          <a:solidFill>
            <a:srgbClr val="FFFFFC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31452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40596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承認内容に沿って着手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40596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実施部門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203436" y="3340303"/>
            <a:ext cx="2336292" cy="9875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31452" y="3459175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修正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0596" y="3797503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指摘事項を反映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0596" y="4080967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88527" y="2439682"/>
            <a:ext cx="317754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31948" y="3756418"/>
            <a:ext cx="430911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要修正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07770" y="4634242"/>
            <a:ext cx="430911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再申請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展開計画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12か月で型の整備から全社標準へ移行する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76809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788920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76809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069080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553712"/>
            <a:ext cx="10853928" cy="76809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320040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89305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85716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278374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71031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66369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35634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049005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741663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434322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12698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1963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512296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5740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" y="203911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型の定義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33856" y="225856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主要パターンを選定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3232404" y="2098548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3248406" y="213055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標準レイアウトを定義</a:t>
            </a:r>
          </a:p>
        </p:txBody>
      </p:sp>
      <p:sp>
        <p:nvSpPr>
          <p:cNvPr id="44" name="Diamond 43"/>
          <p:cNvSpPr/>
          <p:nvPr/>
        </p:nvSpPr>
        <p:spPr>
          <a:xfrm>
            <a:off x="4179951" y="235000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68915" y="2473452"/>
            <a:ext cx="1140942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型レビュー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58368" y="278892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768096" y="285292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33856" y="283464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6" y="3054096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rendererを整備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3925062" y="2894076"/>
            <a:ext cx="201396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4287393" y="2926080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生成・検証機能を実装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768096" y="3337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33856" y="3319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現場検証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33856" y="353872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複数部門で試行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5310378" y="3378708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6019038" y="341071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パイロット運用</a:t>
            </a:r>
          </a:p>
        </p:txBody>
      </p:sp>
      <p:sp>
        <p:nvSpPr>
          <p:cNvPr id="58" name="Diamond 57"/>
          <p:cNvSpPr/>
          <p:nvPr/>
        </p:nvSpPr>
        <p:spPr>
          <a:xfrm>
            <a:off x="7643241" y="363016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132205" y="3753612"/>
            <a:ext cx="1140942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展開判断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658368" y="406908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768096" y="413308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33856" y="411480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改善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33856" y="4334256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利用結果を反映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388352" y="4174236"/>
            <a:ext cx="201396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7750682" y="4206240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品質・操作性を改善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658368" y="455371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768096" y="461772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33856" y="459943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33856" y="481888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全社手順へ組込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9466326" y="4658868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9828657" y="469087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標準運用へ移行</a:t>
            </a:r>
          </a:p>
        </p:txBody>
      </p:sp>
      <p:sp>
        <p:nvSpPr>
          <p:cNvPr id="72" name="Diamond 71"/>
          <p:cNvSpPr/>
          <p:nvPr/>
        </p:nvSpPr>
        <p:spPr>
          <a:xfrm>
            <a:off x="11106531" y="491032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353065" y="5033772"/>
            <a:ext cx="1140942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658368" y="53218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tangle 7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年間プログラム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5つの改善テーマと並行作業を、年間計画として俯瞰する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457200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478024"/>
            <a:ext cx="10853928" cy="768096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1078992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379976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864608"/>
            <a:ext cx="10853928" cy="76809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320040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89305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8571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278374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71031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66369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35634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049005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741663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434322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12698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1963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51229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9397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" y="207568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利用部門の拡大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405568" y="2098548"/>
            <a:ext cx="166763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3594735" y="213055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対象業務の選定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427338" y="2098548"/>
            <a:ext cx="3052954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9309163" y="213055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追加部門へ展開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58368" y="247802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768096" y="257860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33856" y="256032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デザイン標準化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3232404" y="2583180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3594735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利用要件の整理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4617720" y="2894076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5326379" y="2926079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共通仕様の策定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5310378" y="2583180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6019038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試行版の検証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68096" y="337413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33856" y="335584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運用基盤の再設計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3232404" y="3378708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3248406" y="341071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現状調査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4617720" y="3378708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5326379" y="341071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移行方針の策定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5310378" y="3689604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6019038" y="372160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新環境の構築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6003036" y="4000500"/>
            <a:ext cx="628650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5816155" y="4032504"/>
            <a:ext cx="1002411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運用リハーサル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695694" y="4000500"/>
            <a:ext cx="132130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6855142" y="4032504"/>
            <a:ext cx="1002410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本番移行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8773667" y="3378708"/>
            <a:ext cx="270662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9482328" y="341071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旧環境の停止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658368" y="4379976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768096" y="4480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33856" y="4462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外部サービス連携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3925062" y="4485132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394106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方式検討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5310378" y="4485132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5672708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接続開発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7388352" y="4485132"/>
            <a:ext cx="628649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705802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段階展開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658368" y="48646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768096" y="4965192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33856" y="4946904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データ活用基盤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3925062" y="4969764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3941064" y="500176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要件定義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4617720" y="5280660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5326379" y="5312664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基盤構築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7388352" y="4969764"/>
            <a:ext cx="132130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7404353" y="500176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利用検証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8773667" y="4969764"/>
            <a:ext cx="201396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9135999" y="500176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全社展開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658368" y="563270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月途中の開始・終了は1/4月単位で表現する。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優先度整理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提出品質と再利用性から、整備優先度を決める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6192" y="2029968"/>
            <a:ext cx="9601200" cy="3675887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336792" y="2029968"/>
            <a:ext cx="4800600" cy="1837943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00784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個別対応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0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再利用候補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00784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品質改善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0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優先整備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36192" y="5705856"/>
            <a:ext cx="9601200" cy="0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536192" y="2029968"/>
            <a:ext cx="0" cy="3675888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851392" y="585216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再利用性 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17904" y="1682496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↑ 提出品質</a:t>
            </a:r>
          </a:p>
        </p:txBody>
      </p:sp>
      <p:sp>
        <p:nvSpPr>
          <p:cNvPr id="15" name="Oval 14"/>
          <p:cNvSpPr/>
          <p:nvPr/>
        </p:nvSpPr>
        <p:spPr>
          <a:xfrm>
            <a:off x="3127248" y="3436680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11896" y="2775021"/>
            <a:ext cx="274320" cy="274320"/>
          </a:xfrm>
          <a:prstGeom prst="ellipse">
            <a:avLst/>
          </a:prstGeom>
          <a:solidFill>
            <a:srgbClr val="C7583E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927848" y="3142609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623559" y="3289645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759451" y="2407432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319272" y="4392411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50008" y="3125784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タイトル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34656" y="2464125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要点列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50608" y="3444361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比較表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67327" y="3554821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ロードマップ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82211" y="2096536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42032" y="4081515"/>
            <a:ext cx="1828800" cy="2834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自由配置図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位置づけはテンプレート整備の優先度を示すサンプル。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推進体制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責任者から各チームまで、指揮系統を明確にする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974439" y="2880360"/>
            <a:ext cx="4242816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974439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217255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095847" y="2880360"/>
            <a:ext cx="0" cy="283464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853145" y="4215383"/>
            <a:ext cx="8485404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95847" y="3931920"/>
            <a:ext cx="0" cy="283463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853145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681613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510081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338549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2008479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36495" y="1892807"/>
            <a:ext cx="36758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プロジェクト責任者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36495" y="2157984"/>
            <a:ext cx="367588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方針・予算を決定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51295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9311" y="1892807"/>
            <a:ext cx="36758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システム責任者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9311" y="2157984"/>
            <a:ext cx="367588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システム方針を決定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21327" y="3163824"/>
            <a:ext cx="3749039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49343" y="3227832"/>
            <a:ext cx="349300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プロジェクトマネージャー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9343" y="3493008"/>
            <a:ext cx="349300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計画・課題・品質を統括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" y="4498848"/>
            <a:ext cx="2517571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業務チーム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業務要件・受入を担当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22827" y="4498848"/>
            <a:ext cx="2517571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50843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開発チーム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50843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設計・開発・試験を担当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51295" y="4498848"/>
            <a:ext cx="2517571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79311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基盤チーム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9311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基盤・ネットワークを担当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079763" y="4498848"/>
            <a:ext cx="2517571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07779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移行・運用チーム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07779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移行・運用設計を担当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主要コンポーネントとデータの流れを短く示す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39849"/>
            <a:ext cx="6390170" cy="4306823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5919" y="1594713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783433"/>
            <a:ext cx="3713721" cy="1819655"/>
          </a:xfrm>
          <a:prstGeom prst="rect">
            <a:avLst/>
          </a:prstGeom>
          <a:noFill/>
          <a:ln w="15875">
            <a:prstDash val="dash"/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0239" y="2838297"/>
            <a:ext cx="101955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VPC (private)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15537"/>
            <a:ext cx="1571167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377793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7219759" y="2371953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219759" y="2371953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434175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434175" y="3853281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219759" y="3853281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219759" y="4859121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681999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32073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5" y="3944721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7592" y="4200753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ブラウザ</a:t>
            </a:r>
          </a:p>
        </p:txBody>
      </p:sp>
      <p:pic>
        <p:nvPicPr>
          <p:cNvPr id="22" name="Picture 21" descr="al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32073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647998" y="3944721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01707" y="4200753"/>
            <a:ext cx="492633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内部LB</a:t>
            </a:r>
          </a:p>
        </p:txBody>
      </p:sp>
      <p:pic>
        <p:nvPicPr>
          <p:cNvPr id="25" name="Picture 24" descr="farg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32073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44721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ECS Fargate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12333" y="4200753"/>
            <a:ext cx="13670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生成API (python-pptx)</a:t>
            </a:r>
          </a:p>
        </p:txBody>
      </p:sp>
      <p:pic>
        <p:nvPicPr>
          <p:cNvPr id="28" name="Picture 27" descr="bedro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2088489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665300" y="2701137"/>
            <a:ext cx="135674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Bedrock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24152" y="2957169"/>
            <a:ext cx="143903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Claude (構成JSON生成)</a:t>
            </a:r>
          </a:p>
        </p:txBody>
      </p:sp>
      <p:pic>
        <p:nvPicPr>
          <p:cNvPr id="31" name="Picture 30" descr="s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0207" y="3332073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7881327" y="3944721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11592" y="4200753"/>
            <a:ext cx="126415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テンプレート/成果物</a:t>
            </a:r>
          </a:p>
        </p:txBody>
      </p:sp>
      <p:pic>
        <p:nvPicPr>
          <p:cNvPr id="34" name="Picture 33" descr="cloudwatch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60207" y="4575657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845323" y="5188305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65897" y="5444337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ログ・監査証跡</a:t>
            </a:r>
          </a:p>
        </p:txBody>
      </p:sp>
      <p:pic>
        <p:nvPicPr>
          <p:cNvPr id="37" name="Picture 36" descr="us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3332073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0237165" y="3944721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75443" y="4200753"/>
            <a:ext cx="832104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ダウンロード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7508" y="3378936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27151" y="2793720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構成生成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27151" y="3378936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読み書き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74975" y="3378936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署名URL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AWSアイコンは slidegen/assets/icons/aws/ から読み込む。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高密度なAWS構成も、グリッド仕様で自動配置する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656652" y="1342430"/>
            <a:ext cx="8707511" cy="4753051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66380" y="1397294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957706" y="2384846"/>
            <a:ext cx="6084829" cy="3505809"/>
          </a:xfrm>
          <a:prstGeom prst="rect">
            <a:avLst/>
          </a:prstGeom>
          <a:noFill/>
          <a:ln w="1587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7434" y="2439710"/>
            <a:ext cx="161620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 (private subnets)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0042" y="3573566"/>
            <a:ext cx="1673352" cy="2295143"/>
          </a:xfrm>
          <a:prstGeom prst="rect">
            <a:avLst/>
          </a:prstGeom>
          <a:noFill/>
          <a:ln w="15875">
            <a:prstDash val="dash"/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69770" y="3628430"/>
            <a:ext cx="41262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46273" y="3573566"/>
            <a:ext cx="1693925" cy="2295143"/>
          </a:xfrm>
          <a:prstGeom prst="rect">
            <a:avLst/>
          </a:prstGeom>
          <a:noFill/>
          <a:ln w="15875">
            <a:prstDash val="dash"/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56001" y="3628430"/>
            <a:ext cx="41262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AZ-c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938528" y="2979206"/>
            <a:ext cx="112160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398459" y="2311694"/>
            <a:ext cx="0" cy="329184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736787" y="2979206"/>
            <a:ext cx="291986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5196718" y="3774734"/>
            <a:ext cx="1798259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196718" y="3774734"/>
            <a:ext cx="0" cy="10972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994977" y="3774734"/>
            <a:ext cx="1798259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793236" y="3774734"/>
            <a:ext cx="0" cy="10972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4250314" y="4222790"/>
            <a:ext cx="608076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250314" y="4222790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250314" y="5228630"/>
            <a:ext cx="608076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793236" y="4561118"/>
            <a:ext cx="0" cy="4572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793236" y="4606838"/>
            <a:ext cx="95669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749927" y="4606838"/>
            <a:ext cx="0" cy="62179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9131564" y="5228630"/>
            <a:ext cx="61836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535046" y="5228630"/>
            <a:ext cx="2919862" cy="0"/>
          </a:xfrm>
          <a:prstGeom prst="line">
            <a:avLst/>
          </a:prstGeom>
          <a:ln w="19050">
            <a:prstDash val="dash"/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131564" y="4222790"/>
            <a:ext cx="81953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9951095" y="2979206"/>
            <a:ext cx="0" cy="1243584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951095" y="2979206"/>
            <a:ext cx="30207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0042535" y="5228630"/>
            <a:ext cx="210632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4" name="Picture 33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2695742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91565" y="3308390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pic>
        <p:nvPicPr>
          <p:cNvPr id="36" name="Picture 35" descr="route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4995" y="1689902"/>
            <a:ext cx="566928" cy="56692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3018411" y="2302550"/>
            <a:ext cx="76009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Route 53</a:t>
            </a:r>
          </a:p>
        </p:txBody>
      </p:sp>
      <p:pic>
        <p:nvPicPr>
          <p:cNvPr id="38" name="Picture 37" descr="cloudfro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4995" y="2695742"/>
            <a:ext cx="566928" cy="56692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2930972" y="3308390"/>
            <a:ext cx="934974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CloudFront</a:t>
            </a:r>
          </a:p>
        </p:txBody>
      </p:sp>
      <p:pic>
        <p:nvPicPr>
          <p:cNvPr id="40" name="Picture 39" descr="al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1513" y="2695742"/>
            <a:ext cx="566928" cy="566928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794952" y="3308390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pic>
        <p:nvPicPr>
          <p:cNvPr id="42" name="Picture 41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3254" y="3939326"/>
            <a:ext cx="566928" cy="56692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4852675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4" name="Picture 43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9772" y="3939326"/>
            <a:ext cx="566928" cy="56692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449193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6" name="Picture 45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13254" y="4945166"/>
            <a:ext cx="566928" cy="566928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4616074" y="5557814"/>
            <a:ext cx="1161288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(primary)</a:t>
            </a:r>
          </a:p>
        </p:txBody>
      </p:sp>
      <p:pic>
        <p:nvPicPr>
          <p:cNvPr id="48" name="Picture 47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09772" y="4945166"/>
            <a:ext cx="566928" cy="566928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202305" y="5557814"/>
            <a:ext cx="1181862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(standby)</a:t>
            </a:r>
          </a:p>
        </p:txBody>
      </p:sp>
      <p:pic>
        <p:nvPicPr>
          <p:cNvPr id="50" name="Picture 49" descr="s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2695742"/>
            <a:ext cx="566928" cy="566928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0129151" y="3308390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82860" y="3564422"/>
            <a:ext cx="101727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成果物/静的配信</a:t>
            </a:r>
          </a:p>
        </p:txBody>
      </p:sp>
      <p:pic>
        <p:nvPicPr>
          <p:cNvPr id="53" name="Picture 52" descr="cloudwatch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08031" y="4945166"/>
            <a:ext cx="566928" cy="566928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0093147" y="5557814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237165" y="5813846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438339" y="2523149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名前解決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40114" y="2742605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25813" y="4992029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同期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720209" y="3519845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Fluentアイコン構成図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SSO・監査・バックアップを含む業務システム構成を表現する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3660038" y="2652674"/>
            <a:ext cx="7714411" cy="3063239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769766" y="2707538"/>
            <a:ext cx="108127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データセンター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38528" y="3484778"/>
            <a:ext cx="232044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935626" y="3484778"/>
            <a:ext cx="232044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94396" y="2268626"/>
            <a:ext cx="0" cy="877824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932724" y="3484778"/>
            <a:ext cx="232044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594396" y="3823106"/>
            <a:ext cx="0" cy="4572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6095847" y="3868826"/>
            <a:ext cx="1498549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95847" y="3868826"/>
            <a:ext cx="0" cy="859536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095847" y="4728362"/>
            <a:ext cx="1160221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929823" y="3484778"/>
            <a:ext cx="554355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1484178" y="3484778"/>
            <a:ext cx="0" cy="1243584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10929823" y="4728362"/>
            <a:ext cx="554355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Picture 17" descr="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201314"/>
            <a:ext cx="566928" cy="5669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168717" y="3813962"/>
            <a:ext cx="86296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利用者端末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07592" y="4069994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社内LAN</a:t>
            </a:r>
          </a:p>
        </p:txBody>
      </p:sp>
      <p:pic>
        <p:nvPicPr>
          <p:cNvPr id="21" name="Picture 20" descr="k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0932" y="1646834"/>
            <a:ext cx="566928" cy="56692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306932" y="2259482"/>
            <a:ext cx="57492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ID基盤</a:t>
            </a:r>
          </a:p>
        </p:txBody>
      </p:sp>
      <p:pic>
        <p:nvPicPr>
          <p:cNvPr id="23" name="Picture 22" descr="sh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3834" y="3201314"/>
            <a:ext cx="566928" cy="56692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934358" y="3813962"/>
            <a:ext cx="132588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ファイアウォール</a:t>
            </a:r>
          </a:p>
        </p:txBody>
      </p:sp>
      <p:pic>
        <p:nvPicPr>
          <p:cNvPr id="25" name="Picture 24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0932" y="3201314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998322" y="3813962"/>
            <a:ext cx="119214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業務Webサーバ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40066" y="4069994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アプリ本体</a:t>
            </a:r>
          </a:p>
        </p:txBody>
      </p:sp>
      <p:pic>
        <p:nvPicPr>
          <p:cNvPr id="28" name="Picture 27" descr="datab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3201314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0196017" y="3813962"/>
            <a:ext cx="79095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DBサーバ</a:t>
            </a:r>
          </a:p>
        </p:txBody>
      </p:sp>
      <p:pic>
        <p:nvPicPr>
          <p:cNvPr id="30" name="Picture 29" descr="monit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0932" y="4444898"/>
            <a:ext cx="566928" cy="56692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240066" y="5057546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ログ収集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63510" y="5313578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監査用</a:t>
            </a:r>
          </a:p>
        </p:txBody>
      </p:sp>
      <p:pic>
        <p:nvPicPr>
          <p:cNvPr id="33" name="Picture 32" descr="stor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4444898"/>
            <a:ext cx="566928" cy="56692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0082860" y="5057546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バックアップ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98887" y="5313578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日次保管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42145" y="3248177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25232" y="2754401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認証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23782" y="3248177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52514" y="3632225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監査ログ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15014" y="4025417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日次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同梱のMicrosoft Fluent UIアイコンを使用。ライセンスはslidegen/assets/CREDITS.mdを参照。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イベント駆動構成図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受付と処理を分離し、保存・監視へ非同期分岐する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89227"/>
            <a:ext cx="8437397" cy="4471416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5919" y="1644091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832811"/>
            <a:ext cx="6023267" cy="3063239"/>
          </a:xfrm>
          <a:prstGeom prst="rect">
            <a:avLst/>
          </a:prstGeom>
          <a:noFill/>
          <a:ln w="1587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0239" y="2887675"/>
            <a:ext cx="186309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Asynchronous Processing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64915"/>
            <a:ext cx="1571167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64915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664915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681999" y="3546043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9467583" y="2421331"/>
            <a:ext cx="0" cy="112471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467583" y="2421331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681999" y="3783787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467583" y="3783787"/>
            <a:ext cx="0" cy="112471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467583" y="4908499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343671" y="4003243"/>
            <a:ext cx="0" cy="566928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81451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5" y="3994099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業務システム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2426" y="4250131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イベント送信元</a:t>
            </a:r>
          </a:p>
        </p:txBody>
      </p:sp>
      <p:pic>
        <p:nvPicPr>
          <p:cNvPr id="22" name="Picture 21" descr="glo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81451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519411" y="3994099"/>
            <a:ext cx="65722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受付API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693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検証・受付</a:t>
            </a:r>
          </a:p>
        </p:txBody>
      </p:sp>
      <p:pic>
        <p:nvPicPr>
          <p:cNvPr id="25" name="Picture 24" descr="sq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81451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94099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SQS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18073" y="4250131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処理待ちキュー</a:t>
            </a:r>
          </a:p>
        </p:txBody>
      </p:sp>
      <p:pic>
        <p:nvPicPr>
          <p:cNvPr id="28" name="Picture 27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3381451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757883" y="3994099"/>
            <a:ext cx="117157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非同期ワーカー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89341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変換・集計</a:t>
            </a:r>
          </a:p>
        </p:txBody>
      </p:sp>
      <p:pic>
        <p:nvPicPr>
          <p:cNvPr id="31" name="Picture 30" descr="dynamod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2137867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0113721" y="2750515"/>
            <a:ext cx="95554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DynamoDB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98887" y="3006547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処理状態</a:t>
            </a:r>
          </a:p>
        </p:txBody>
      </p:sp>
      <p:pic>
        <p:nvPicPr>
          <p:cNvPr id="34" name="Picture 33" descr="s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08031" y="4625035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129151" y="5237683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60609" y="5493715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pic>
        <p:nvPicPr>
          <p:cNvPr id="37" name="Picture 36" descr="cloudwatch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60207" y="4625035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845323" y="5237683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89341" y="5493715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7508" y="3428314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02771" y="3428314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88873" y="3428314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非同期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74975" y="2902534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状態更新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36697" y="4264990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言葉の定義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RTOは、障害発生から業務再開までの目標時間を表す</a:t>
            </a:r>
          </a:p>
        </p:txBody>
      </p:sp>
      <p:pic>
        <p:nvPicPr>
          <p:cNvPr id="5" name="Picture 4" descr="cl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" y="1810512"/>
            <a:ext cx="548640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07592" y="1755648"/>
            <a:ext cx="4123944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496" y="2633472"/>
            <a:ext cx="4892040" cy="2916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Recovery Time Objectiveの略です。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障害が起きてから、業務やサービスを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再開するまでに許容する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目標時間を定めます。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797296" y="1755648"/>
            <a:ext cx="9144" cy="3794759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44768" y="1783080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起点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44768" y="2061972"/>
            <a:ext cx="5544007" cy="8854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業務やサービスへ影響する障害が発生した時点。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44768" y="3002280"/>
            <a:ext cx="554400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44768" y="3047999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終点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44768" y="3326892"/>
            <a:ext cx="5544007" cy="8854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利用者が必要な業務を再開できる状態へ戻った時点。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4267200"/>
            <a:ext cx="554400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4768" y="4312920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設計への反映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4591812"/>
            <a:ext cx="5544007" cy="8854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復旧手順、冗長化、バックアップ方式の要求へ</a:t>
            </a:r>
          </a:p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落とし込む。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5687568"/>
            <a:ext cx="11185855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9496" y="5806440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誤解しやすい点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01368" y="5779007"/>
            <a:ext cx="9887407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実際に要した復旧時間の実績値ではなく、事前に合意する目標値です。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ネットワーク構成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物理リンクを共有しながら、用途別の通信範囲を分離する</a:t>
            </a:r>
          </a:p>
        </p:txBody>
      </p:sp>
      <p:sp>
        <p:nvSpPr>
          <p:cNvPr id="5" name="layout-background:network-lane:business"/>
          <p:cNvSpPr/>
          <p:nvPr/>
        </p:nvSpPr>
        <p:spPr>
          <a:xfrm>
            <a:off x="502920" y="2060691"/>
            <a:ext cx="11185855" cy="1298448"/>
          </a:xfrm>
          <a:prstGeom prst="rect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" y="2243571"/>
            <a:ext cx="10972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業務VLAN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2508747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社内端末</a:t>
            </a:r>
          </a:p>
        </p:txBody>
      </p:sp>
      <p:sp>
        <p:nvSpPr>
          <p:cNvPr id="8" name="layout-background:network-lane:guest"/>
          <p:cNvSpPr/>
          <p:nvPr/>
        </p:nvSpPr>
        <p:spPr>
          <a:xfrm>
            <a:off x="502920" y="3450579"/>
            <a:ext cx="11185855" cy="1298448"/>
          </a:xfrm>
          <a:prstGeom prst="rect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3633459"/>
            <a:ext cx="10972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ゲストVLAN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3898635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来訪者端末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37943" y="175893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フロアA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64075" y="175893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スイッチA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175893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スイッチB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16339" y="175893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フロアB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477141" y="2709915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477141" y="3743187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5435993" y="2668767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435993" y="4058655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7903273" y="2709915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903273" y="3743187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7862125" y="2668767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862125" y="4058655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3371049" y="2709915"/>
            <a:ext cx="2106092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371049" y="4099803"/>
            <a:ext cx="210609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477141" y="2709915"/>
            <a:ext cx="2426132" cy="0"/>
          </a:xfrm>
          <a:prstGeom prst="line">
            <a:avLst/>
          </a:prstGeom>
          <a:ln w="2540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477141" y="4099803"/>
            <a:ext cx="2426132" cy="0"/>
          </a:xfrm>
          <a:prstGeom prst="line">
            <a:avLst/>
          </a:prstGeom>
          <a:ln w="2540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684367" y="3020811"/>
            <a:ext cx="2011680" cy="31089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Trunk</a:t>
            </a:r>
          </a:p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業務VLAN / ゲストVLAN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903273" y="2709915"/>
            <a:ext cx="2106092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7903273" y="4099803"/>
            <a:ext cx="210609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2740113" y="2399019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lap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4977" y="2453883"/>
            <a:ext cx="512064" cy="512064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2282913" y="3039099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業務PC A</a:t>
            </a:r>
          </a:p>
        </p:txBody>
      </p:sp>
      <p:sp>
        <p:nvSpPr>
          <p:cNvPr id="33" name="Oval 32"/>
          <p:cNvSpPr/>
          <p:nvPr/>
        </p:nvSpPr>
        <p:spPr>
          <a:xfrm>
            <a:off x="2740113" y="3788907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ph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4977" y="3843771"/>
            <a:ext cx="512064" cy="512064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282913" y="4428987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ゲスト端末 A</a:t>
            </a:r>
          </a:p>
        </p:txBody>
      </p:sp>
      <p:sp>
        <p:nvSpPr>
          <p:cNvPr id="36" name="Oval 35"/>
          <p:cNvSpPr/>
          <p:nvPr/>
        </p:nvSpPr>
        <p:spPr>
          <a:xfrm>
            <a:off x="5166245" y="3093963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21109" y="3148827"/>
            <a:ext cx="512064" cy="512064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4709045" y="3734043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スイッチA</a:t>
            </a:r>
          </a:p>
        </p:txBody>
      </p:sp>
      <p:sp>
        <p:nvSpPr>
          <p:cNvPr id="39" name="Oval 38"/>
          <p:cNvSpPr/>
          <p:nvPr/>
        </p:nvSpPr>
        <p:spPr>
          <a:xfrm>
            <a:off x="7592377" y="3093963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7241" y="3148827"/>
            <a:ext cx="512064" cy="512064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7135177" y="3734043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スイッチB</a:t>
            </a:r>
          </a:p>
        </p:txBody>
      </p:sp>
      <p:sp>
        <p:nvSpPr>
          <p:cNvPr id="42" name="Oval 41"/>
          <p:cNvSpPr/>
          <p:nvPr/>
        </p:nvSpPr>
        <p:spPr>
          <a:xfrm>
            <a:off x="10018509" y="2399019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deskt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73373" y="2453883"/>
            <a:ext cx="512064" cy="512064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9561309" y="3039099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業務PC B</a:t>
            </a:r>
          </a:p>
        </p:txBody>
      </p:sp>
      <p:sp>
        <p:nvSpPr>
          <p:cNvPr id="45" name="Oval 44"/>
          <p:cNvSpPr/>
          <p:nvPr/>
        </p:nvSpPr>
        <p:spPr>
          <a:xfrm>
            <a:off x="10018509" y="3788907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ph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3373" y="3843771"/>
            <a:ext cx="512064" cy="512064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9561309" y="4428987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ゲスト端末 B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576072" y="6117336"/>
            <a:ext cx="256032" cy="0"/>
          </a:xfrm>
          <a:prstGeom prst="line">
            <a:avLst/>
          </a:prstGeom>
          <a:ln w="1905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905256" y="6035040"/>
            <a:ext cx="52692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Access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1651635" y="6117336"/>
            <a:ext cx="256031" cy="0"/>
          </a:xfrm>
          <a:prstGeom prst="line">
            <a:avLst/>
          </a:prstGeom>
          <a:ln w="2540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1980818" y="6035040"/>
            <a:ext cx="10824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Trunk (複数VLAN)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IPパケット状態の追跡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NAT前後の送信元IPを、処理段階ごとに追跡する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端末から送ったIPパケットがルーターで変換され、外部サーバーへ届くまでの送信元情報を比較します。</a:t>
            </a:r>
          </a:p>
        </p:txBody>
      </p:sp>
      <p:pic>
        <p:nvPicPr>
          <p:cNvPr id="6" name="Picture 5" descr="lap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8823" y="1910588"/>
            <a:ext cx="310896" cy="3108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856232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社内端末</a:t>
            </a:r>
          </a:p>
        </p:txBody>
      </p:sp>
      <p:pic>
        <p:nvPicPr>
          <p:cNvPr id="8" name="Picture 7" descr="ethern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9223" y="1910588"/>
            <a:ext cx="310896" cy="3108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866631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ルーター内側</a:t>
            </a:r>
          </a:p>
        </p:txBody>
      </p:sp>
      <p:pic>
        <p:nvPicPr>
          <p:cNvPr id="10" name="Picture 9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9623" y="1910588"/>
            <a:ext cx="310896" cy="31089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77031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NAT処理</a:t>
            </a:r>
          </a:p>
        </p:txBody>
      </p:sp>
      <p:sp>
        <p:nvSpPr>
          <p:cNvPr id="12" name="layout-background:protocol-state-flow:stage:internet"/>
          <p:cNvSpPr/>
          <p:nvPr/>
        </p:nvSpPr>
        <p:spPr>
          <a:xfrm>
            <a:off x="7805135" y="2568956"/>
            <a:ext cx="1900671" cy="2084832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00023" y="1910588"/>
            <a:ext cx="310896" cy="3108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887431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インターネット区間</a:t>
            </a:r>
          </a:p>
        </p:txBody>
      </p:sp>
      <p:pic>
        <p:nvPicPr>
          <p:cNvPr id="15" name="Picture 14" descr="serv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10423" y="1910588"/>
            <a:ext cx="310896" cy="3108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97831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外部サーバー</a:t>
            </a:r>
          </a:p>
        </p:txBody>
      </p:sp>
      <p:sp>
        <p:nvSpPr>
          <p:cNvPr id="17" name="layout-background:protocol-state-flow:track:0"/>
          <p:cNvSpPr/>
          <p:nvPr/>
        </p:nvSpPr>
        <p:spPr>
          <a:xfrm>
            <a:off x="502920" y="2642108"/>
            <a:ext cx="11185855" cy="896112"/>
          </a:xfrm>
          <a:prstGeom prst="rect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2824988"/>
            <a:ext cx="1115568" cy="1770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送信元IP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038602"/>
            <a:ext cx="1115568" cy="408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アドレス変換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227191" y="2898140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237591" y="2898140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247991" y="2898140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258391" y="2898140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protocol-state-flow:marker:plain"/>
          <p:cNvSpPr/>
          <p:nvPr/>
        </p:nvSpPr>
        <p:spPr>
          <a:xfrm>
            <a:off x="2257927" y="28067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83664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10.0.0.25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83664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端末のプライベートIP</a:t>
            </a:r>
          </a:p>
        </p:txBody>
      </p:sp>
      <p:sp>
        <p:nvSpPr>
          <p:cNvPr id="27" name="protocol-state-flow:marker:plain"/>
          <p:cNvSpPr/>
          <p:nvPr/>
        </p:nvSpPr>
        <p:spPr>
          <a:xfrm>
            <a:off x="4268327" y="28067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94063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10.0.0.25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94063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変換前の送信元</a:t>
            </a:r>
          </a:p>
        </p:txBody>
      </p:sp>
      <p:sp>
        <p:nvSpPr>
          <p:cNvPr id="30" name="protocol-state-flow:marker:internal"/>
          <p:cNvSpPr/>
          <p:nvPr/>
        </p:nvSpPr>
        <p:spPr>
          <a:xfrm>
            <a:off x="6278727" y="2879852"/>
            <a:ext cx="932688" cy="3657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04463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04463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送信元を書き換え</a:t>
            </a:r>
          </a:p>
        </p:txBody>
      </p:sp>
      <p:sp>
        <p:nvSpPr>
          <p:cNvPr id="33" name="protocol-state-flow:marker:plain"/>
          <p:cNvSpPr/>
          <p:nvPr/>
        </p:nvSpPr>
        <p:spPr>
          <a:xfrm>
            <a:off x="8289127" y="28067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14863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14863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変換後のパケット</a:t>
            </a:r>
          </a:p>
        </p:txBody>
      </p:sp>
      <p:sp>
        <p:nvSpPr>
          <p:cNvPr id="36" name="protocol-state-flow:marker:plain"/>
          <p:cNvSpPr/>
          <p:nvPr/>
        </p:nvSpPr>
        <p:spPr>
          <a:xfrm>
            <a:off x="10299527" y="28067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925263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25263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外部から見える送信元</a:t>
            </a:r>
          </a:p>
        </p:txBody>
      </p:sp>
      <p:sp>
        <p:nvSpPr>
          <p:cNvPr id="39" name="layout-background:protocol-state-flow:track:1"/>
          <p:cNvSpPr/>
          <p:nvPr/>
        </p:nvSpPr>
        <p:spPr>
          <a:xfrm>
            <a:off x="502920" y="3684524"/>
            <a:ext cx="11185855" cy="896112"/>
          </a:xfrm>
          <a:prstGeom prst="rect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4360" y="3867404"/>
            <a:ext cx="1115568" cy="1770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宛先IP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" y="4081018"/>
            <a:ext cx="1115568" cy="408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変化なし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3227191" y="3940555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5237591" y="3940555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7247991" y="3940555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9258391" y="3940555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protocol-state-flow:marker:plain"/>
          <p:cNvSpPr/>
          <p:nvPr/>
        </p:nvSpPr>
        <p:spPr>
          <a:xfrm>
            <a:off x="2257927" y="3849116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883664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83664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外部サーバー</a:t>
            </a:r>
          </a:p>
        </p:txBody>
      </p:sp>
      <p:sp>
        <p:nvSpPr>
          <p:cNvPr id="49" name="protocol-state-flow:marker:plain"/>
          <p:cNvSpPr/>
          <p:nvPr/>
        </p:nvSpPr>
        <p:spPr>
          <a:xfrm>
            <a:off x="4268327" y="3849116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894063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894063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宛先を維持</a:t>
            </a:r>
          </a:p>
        </p:txBody>
      </p:sp>
      <p:sp>
        <p:nvSpPr>
          <p:cNvPr id="52" name="protocol-state-flow:marker:internal"/>
          <p:cNvSpPr/>
          <p:nvPr/>
        </p:nvSpPr>
        <p:spPr>
          <a:xfrm>
            <a:off x="6278727" y="3922268"/>
            <a:ext cx="932688" cy="365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04463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904463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宛先を維持</a:t>
            </a:r>
          </a:p>
        </p:txBody>
      </p:sp>
      <p:sp>
        <p:nvSpPr>
          <p:cNvPr id="55" name="protocol-state-flow:marker:plain"/>
          <p:cNvSpPr/>
          <p:nvPr/>
        </p:nvSpPr>
        <p:spPr>
          <a:xfrm>
            <a:off x="8289127" y="3849116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914863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914863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外部へ転送</a:t>
            </a:r>
          </a:p>
        </p:txBody>
      </p:sp>
      <p:sp>
        <p:nvSpPr>
          <p:cNvPr id="58" name="protocol-state-flow:marker:plain"/>
          <p:cNvSpPr/>
          <p:nvPr/>
        </p:nvSpPr>
        <p:spPr>
          <a:xfrm>
            <a:off x="10299527" y="3849116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925263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925263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自分宛てとして受信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02920" y="5806440"/>
            <a:ext cx="11185855" cy="384048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67512" y="5879592"/>
            <a:ext cx="5669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要点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344168" y="5870448"/>
            <a:ext cx="10198303" cy="265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NATでは送信元IPを書き換え、宛先IPは維持したまま外部へ転送します。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プロトコル構造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TCPセグメントを分解し、制御情報とデータの位置を読む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8" y="1901952"/>
            <a:ext cx="97840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TCP</a:t>
            </a:r>
          </a:p>
        </p:txBody>
      </p:sp>
      <p:sp>
        <p:nvSpPr>
          <p:cNvPr id="6" name="Rectangle 5"/>
          <p:cNvSpPr/>
          <p:nvPr/>
        </p:nvSpPr>
        <p:spPr>
          <a:xfrm>
            <a:off x="1645920" y="1719072"/>
            <a:ext cx="939546" cy="841248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91640" y="1828800"/>
            <a:ext cx="848106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送信元Port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82496" y="2331720"/>
            <a:ext cx="86639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9" name="Rectangle 8"/>
          <p:cNvSpPr/>
          <p:nvPr/>
        </p:nvSpPr>
        <p:spPr>
          <a:xfrm>
            <a:off x="2585466" y="1719072"/>
            <a:ext cx="939546" cy="841248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31186" y="1828800"/>
            <a:ext cx="848106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宛先Port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22042" y="2331720"/>
            <a:ext cx="86639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5012" y="1719072"/>
            <a:ext cx="1105738" cy="841248"/>
          </a:xfrm>
          <a:prstGeom prst="rect">
            <a:avLst/>
          </a:prstGeom>
          <a:solidFill>
            <a:srgbClr val="DFEBE8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70732" y="1828800"/>
            <a:ext cx="101429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Sequence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1588" y="2331720"/>
            <a:ext cx="103258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32 bit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30750" y="1719072"/>
            <a:ext cx="1105738" cy="841248"/>
          </a:xfrm>
          <a:prstGeom prst="rect">
            <a:avLst/>
          </a:prstGeom>
          <a:solidFill>
            <a:srgbClr val="DFEBE8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76470" y="1828800"/>
            <a:ext cx="101429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7326" y="2331720"/>
            <a:ext cx="103258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32 bit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736488" y="1719072"/>
            <a:ext cx="589788" cy="841248"/>
          </a:xfrm>
          <a:prstGeom prst="rect">
            <a:avLst/>
          </a:prstGeom>
          <a:solidFill>
            <a:srgbClr val="F1E3DF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82208" y="1828800"/>
            <a:ext cx="49834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Flags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73064" y="2331720"/>
            <a:ext cx="51663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9 bit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26276" y="1719072"/>
            <a:ext cx="939546" cy="841248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1996" y="1828800"/>
            <a:ext cx="848106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Window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2852" y="2331720"/>
            <a:ext cx="86639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265822" y="1719072"/>
            <a:ext cx="4422952" cy="841248"/>
          </a:xfrm>
          <a:prstGeom prst="rect">
            <a:avLst/>
          </a:prstGeom>
          <a:solidFill>
            <a:srgbClr val="ECEAE4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1542" y="1828800"/>
            <a:ext cx="4331512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Payload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02398" y="2331720"/>
            <a:ext cx="43498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512 bit</a:t>
            </a:r>
          </a:p>
        </p:txBody>
      </p:sp>
      <p:cxnSp>
        <p:nvCxnSpPr>
          <p:cNvPr id="27" name="Connector 26"/>
          <p:cNvCxnSpPr/>
          <p:nvPr/>
        </p:nvCxnSpPr>
        <p:spPr>
          <a:xfrm flipH="1">
            <a:off x="685800" y="2578608"/>
            <a:ext cx="3392081" cy="18288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02920" y="2816352"/>
            <a:ext cx="56692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Sequence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" y="2816352"/>
            <a:ext cx="2972714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受信側が並び順と欠落を判断する番号。</a:t>
            </a:r>
          </a:p>
        </p:txBody>
      </p:sp>
      <p:cxnSp>
        <p:nvCxnSpPr>
          <p:cNvPr id="30" name="Connector 29"/>
          <p:cNvCxnSpPr/>
          <p:nvPr/>
        </p:nvCxnSpPr>
        <p:spPr>
          <a:xfrm flipH="1">
            <a:off x="4481474" y="2578608"/>
            <a:ext cx="702145" cy="18288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4298594" y="2816352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ACK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37506" y="2816352"/>
            <a:ext cx="3155594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次に受信したい位置を相手へ通知する。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031382" y="2578608"/>
            <a:ext cx="2245766" cy="18288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8094268" y="2816352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Flags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33180" y="2816352"/>
            <a:ext cx="3155594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接続開始・終了などの状態を示す。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5760720"/>
            <a:ext cx="11185855" cy="420624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7512" y="5861304"/>
            <a:ext cx="10856671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フィールドを位置で捉えると、パケットキャプチャの値を役割へ結び付けやすくなります。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設定と確認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設定例と確認コマンドを並べ、変更後の状態まで検証する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719072"/>
            <a:ext cx="6903720" cy="3977639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" y="1901952"/>
            <a:ext cx="63916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8FD4CC"/>
                </a:solidFill>
                <a:latin typeface="Yu Gothic"/>
                <a:ea typeface="Yu Gothic"/>
                <a:cs typeface="Yu Gothic"/>
              </a:rPr>
              <a:t>設定例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2221992"/>
            <a:ext cx="6391656" cy="1239011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service: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image: example/app:2.4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replicas: 3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healthcheck: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  path: /health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3982212"/>
            <a:ext cx="63916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8FD4CC"/>
                </a:solidFill>
                <a:latin typeface="Yu Gothic"/>
                <a:ea typeface="Yu Gothic"/>
                <a:cs typeface="Yu Gothic"/>
              </a:rPr>
              <a:t>確認コマンド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4302252"/>
            <a:ext cx="6391656" cy="1239011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deploy --file service.yml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status service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logs service --tail 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90688" y="1737360"/>
            <a:ext cx="38980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確認する状態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90688" y="2148840"/>
            <a:ext cx="3898087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90688" y="2304288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93023" y="2286000"/>
            <a:ext cx="3495751" cy="770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稼働数が指定したreplicasと一致している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93023" y="3092958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90688" y="314782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93023" y="3129534"/>
            <a:ext cx="3495751" cy="770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healthcheckが成功し、トラフィックを</a:t>
            </a:r>
          </a:p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受けられる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93023" y="3936491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90688" y="3991355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93023" y="3973068"/>
            <a:ext cx="3495751" cy="770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直近ログに起動失敗や設定エラーがない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93023" y="4780026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90688" y="483489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93023" y="4816602"/>
            <a:ext cx="3495751" cy="770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切り戻し用の直前バージョンを特定できる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5806440"/>
            <a:ext cx="11185855" cy="384048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5888736"/>
            <a:ext cx="10856671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コマンドの実行ではなく、期待状態の確認までを作業単位にします。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理解度チェック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判断理由を選び、運用設計の理解を確認する</a:t>
            </a:r>
          </a:p>
        </p:txBody>
      </p:sp>
      <p:sp>
        <p:nvSpPr>
          <p:cNvPr id="5" name="Oval 4"/>
          <p:cNvSpPr/>
          <p:nvPr/>
        </p:nvSpPr>
        <p:spPr>
          <a:xfrm>
            <a:off x="521208" y="19067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21208" y="19067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18884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監視通知を設計するとき、最初に決めるものはどれか。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" y="2193218"/>
            <a:ext cx="233400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検知したい利用者影響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23310" y="2193218"/>
            <a:ext cx="177850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通知メールの色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66410" y="2193218"/>
            <a:ext cx="159334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担当者の座席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24712" y="2693090"/>
            <a:ext cx="1052748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21208" y="28211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208" y="28211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" y="28028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変更後の確認として最も適切なものはどれか。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" y="3107618"/>
            <a:ext cx="25191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コマンドが終了したこと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08476" y="3107618"/>
            <a:ext cx="25191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期待状態と実測値の一致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107618"/>
            <a:ext cx="196367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手順書のページ数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24712" y="3607490"/>
            <a:ext cx="1052748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21208" y="37355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1208" y="37355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4712" y="37172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例外対応を残すときに必要な情報はどれか。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4712" y="4022018"/>
            <a:ext cx="196367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適用条件と承認者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52978" y="4022018"/>
            <a:ext cx="159334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作成者の好み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10912" y="4022018"/>
            <a:ext cx="14081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画面の配色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対象範囲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実施範囲と対象外を分け、責任境界を明確にする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627632"/>
            <a:ext cx="5437479" cy="2953511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627632"/>
            <a:ext cx="5437479" cy="566928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719072"/>
            <a:ext cx="384048" cy="38404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70992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97864" y="1773936"/>
            <a:ext cx="4541367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実施範囲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02920" y="2194560"/>
            <a:ext cx="5437479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731520" y="2500884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" y="2267712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対象業務の要件整理と新しい運用フローの設計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41832" y="2798064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731520" y="3095244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2862072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既存システムとのインターフェース設計・実装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41832" y="3392424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731520" y="3689603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" y="3456432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本番移行と初期運用期間の問い合わせ対応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41832" y="3986783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731520" y="4283964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" y="4050791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利用部門向けの操作説明と運用手順の整備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51295" y="1627632"/>
            <a:ext cx="5437479" cy="2953511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51295" y="1627632"/>
            <a:ext cx="5437479" cy="566928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34175" y="1719072"/>
            <a:ext cx="384048" cy="384048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34175" y="170992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6239" y="1773936"/>
            <a:ext cx="4541367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対象外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251295" y="2194560"/>
            <a:ext cx="54374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6479895" y="2500884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90207" y="2267712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端末・ネットワーク機器の調達と設置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690207" y="2798064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6479895" y="3095244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90207" y="2862072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今回の対象外となる周辺システムの機能改修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690207" y="3392424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6479895" y="3689603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90207" y="3456432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初期運用期間終了後の長期保守業務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690207" y="3986783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6479895" y="4283964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90207" y="4050791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移行元データの名寄せと内容補正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5678424"/>
            <a:ext cx="11185855" cy="493776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49224" y="5742432"/>
            <a:ext cx="365760" cy="365760"/>
          </a:xfrm>
          <a:prstGeom prst="ellipse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1" name="Picture 40" descr="inf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006" y="5830214"/>
            <a:ext cx="190195" cy="190195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1124712" y="5806440"/>
            <a:ext cx="74980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前提条件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892808" y="5751576"/>
            <a:ext cx="9576511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必要なデータを所定形式で受領できる / 関係部門のレビュー担当を確保できる / 既存基盤が計画期間中も安定稼働する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経営判断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背景・判断・提案を整理し、意思決定を1枚で支援する</a:t>
            </a:r>
          </a:p>
        </p:txBody>
      </p:sp>
      <p:sp>
        <p:nvSpPr>
          <p:cNvPr id="5" name="Oval 4"/>
          <p:cNvSpPr/>
          <p:nvPr/>
        </p:nvSpPr>
        <p:spPr>
          <a:xfrm>
            <a:off x="722376" y="2428097"/>
            <a:ext cx="457200" cy="457200"/>
          </a:xfrm>
          <a:prstGeom prst="ellipse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6" name="Picture 5" descr="inf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" y="2537825"/>
            <a:ext cx="237744" cy="23774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44168" y="2464673"/>
            <a:ext cx="26679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背景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22376" y="3013313"/>
            <a:ext cx="3289706" cy="0"/>
          </a:xfrm>
          <a:prstGeom prst="line">
            <a:avLst/>
          </a:prstGeom>
          <a:ln w="101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40664" y="3159617"/>
            <a:ext cx="3253130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部門ごとに資料の構成と確認方法が</a:t>
            </a:r>
          </a:p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異なり、作成とレビューの双方に</a:t>
            </a:r>
          </a:p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手戻りが発生している。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231538" y="2409809"/>
            <a:ext cx="0" cy="1920240"/>
          </a:xfrm>
          <a:prstGeom prst="line">
            <a:avLst/>
          </a:prstGeom>
          <a:ln w="825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4450994" y="2428097"/>
            <a:ext cx="457200" cy="457200"/>
          </a:xfrm>
          <a:prstGeom prst="ellipse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0722" y="2537825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072786" y="2464673"/>
            <a:ext cx="26679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判断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450994" y="3013313"/>
            <a:ext cx="3289706" cy="0"/>
          </a:xfrm>
          <a:prstGeom prst="line">
            <a:avLst/>
          </a:prstGeom>
          <a:ln w="101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469282" y="3159617"/>
            <a:ext cx="3253130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全資料を一律化するのではなく、</a:t>
            </a:r>
          </a:p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頻出する業務パターンから標準化する</a:t>
            </a:r>
          </a:p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方が導入負荷を抑えられる。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960156" y="2409809"/>
            <a:ext cx="0" cy="1920240"/>
          </a:xfrm>
          <a:prstGeom prst="line">
            <a:avLst/>
          </a:prstGeom>
          <a:ln w="825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8179612" y="2428097"/>
            <a:ext cx="457200" cy="457200"/>
          </a:xfrm>
          <a:prstGeom prst="ellipse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8" name="Picture 17" descr="se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89340" y="2537825"/>
            <a:ext cx="237744" cy="23774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801404" y="2464673"/>
            <a:ext cx="26679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提案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179612" y="3013313"/>
            <a:ext cx="3289707" cy="0"/>
          </a:xfrm>
          <a:prstGeom prst="line">
            <a:avLst/>
          </a:prstGeom>
          <a:ln w="101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197900" y="3159617"/>
            <a:ext cx="3253130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対象部門で標準レイアウトを試行し、</a:t>
            </a:r>
          </a:p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品質・作成時間・運用負荷を測定して</a:t>
            </a:r>
          </a:p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展開可否を判断する。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4714097"/>
            <a:ext cx="11185855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9224" y="4787249"/>
            <a:ext cx="384048" cy="384048"/>
          </a:xfrm>
          <a:prstGeom prst="ellipse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4" name="Picture 23" descr="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395" y="4879421"/>
            <a:ext cx="199704" cy="19970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124712" y="4851257"/>
            <a:ext cx="5669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結論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764792" y="4814681"/>
            <a:ext cx="0" cy="329184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1837943" y="4814681"/>
            <a:ext cx="96130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限定導入で効果と運用条件を確認した後、対象業務を段階的に拡大する。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方式比較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現行方式と標準方式を、同じ評価軸で比較する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705355"/>
            <a:ext cx="4526280" cy="512064"/>
          </a:xfrm>
          <a:prstGeom prst="roundRect">
            <a:avLst>
              <a:gd name="adj" fmla="val 6000"/>
            </a:avLst>
          </a:prstGeom>
          <a:solidFill>
            <a:srgbClr val="182C4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931152" y="1705355"/>
            <a:ext cx="4757623" cy="512064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" y="1705355"/>
            <a:ext cx="4197096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現行方式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95744" y="1705355"/>
            <a:ext cx="4428439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標準方式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80" y="1824227"/>
            <a:ext cx="153619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評価軸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290572"/>
            <a:ext cx="4526280" cy="310896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31152" y="2290572"/>
            <a:ext cx="4757623" cy="3108960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992624" y="2564891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894576" y="2564891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5029200" y="2601468"/>
            <a:ext cx="1828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748272" y="2601468"/>
            <a:ext cx="1828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2290572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担当者ごとの個別対応が多い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66944" y="2400300"/>
            <a:ext cx="1426464" cy="40233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66944" y="2400300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運用負荷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14032" y="2290572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共通手順により確認作業を削減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67512" y="2912364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7095744" y="2912364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4992624" y="3186684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894576" y="3186684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5029200" y="3223260"/>
            <a:ext cx="1828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748272" y="3223260"/>
            <a:ext cx="1828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85800" y="2912364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初期設定は少なく短期導入しやすい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66944" y="3022092"/>
            <a:ext cx="1426464" cy="40233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66944" y="3022092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導入速度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4032" y="2912364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初期整備後は再利用によって展開を加速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67512" y="3534156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095744" y="3534156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Oval 31"/>
          <p:cNvSpPr/>
          <p:nvPr/>
        </p:nvSpPr>
        <p:spPr>
          <a:xfrm>
            <a:off x="4992624" y="3808476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894576" y="3808476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5029200" y="3845052"/>
            <a:ext cx="1828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6748272" y="3845052"/>
            <a:ext cx="1828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85800" y="3534156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個別要望へ即時に対応できる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66944" y="3643884"/>
            <a:ext cx="1426464" cy="40233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266944" y="3643884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柔軟性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114032" y="3534156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共通部品と例外ルールを組み合わせる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67512" y="4155948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7095744" y="4155948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Oval 41"/>
          <p:cNvSpPr/>
          <p:nvPr/>
        </p:nvSpPr>
        <p:spPr>
          <a:xfrm>
            <a:off x="4992624" y="4430268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6894576" y="4430268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5029200" y="4466844"/>
            <a:ext cx="1828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6748272" y="4466844"/>
            <a:ext cx="1828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685800" y="4155948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担当者の経験により差が生じる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66944" y="4265676"/>
            <a:ext cx="1426464" cy="40233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266944" y="4265676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品質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114032" y="4155948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標準検証により品質と一貫性を維持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667512" y="4777740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7095744" y="4777740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Oval 51"/>
          <p:cNvSpPr/>
          <p:nvPr/>
        </p:nvSpPr>
        <p:spPr>
          <a:xfrm>
            <a:off x="4992624" y="5052059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6894576" y="5052059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5029200" y="5088636"/>
            <a:ext cx="1828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6748272" y="5088636"/>
            <a:ext cx="1828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685800" y="4777740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対象拡大に比例して運用負荷が増える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266944" y="4887468"/>
            <a:ext cx="1426464" cy="40233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266944" y="4887468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拡張性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114032" y="4777740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共通基盤を再利用して対象を追加できる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5696712"/>
            <a:ext cx="11185855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649224" y="5769864"/>
            <a:ext cx="384048" cy="384048"/>
          </a:xfrm>
          <a:prstGeom prst="ellipse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62" name="Picture 61" descr="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395" y="5862035"/>
            <a:ext cx="199704" cy="199704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1124712" y="5833872"/>
            <a:ext cx="5669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示唆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1764792" y="5797296"/>
            <a:ext cx="0" cy="329183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1837943" y="5797296"/>
            <a:ext cx="96130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短期の立ち上げは現行方式、中長期の横展開は標準方式が優位となる。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対応関係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主要課題と施策をひも付け、対応漏れを確認する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" y="1645920"/>
            <a:ext cx="3566159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主要課題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49224" y="2084832"/>
            <a:ext cx="4206240" cy="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500823" y="1645920"/>
            <a:ext cx="3566159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対応施策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336231" y="2084832"/>
            <a:ext cx="4206240" cy="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55464" y="2423160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855464" y="2423160"/>
            <a:ext cx="2480767" cy="0"/>
          </a:xfrm>
          <a:prstGeom prst="line">
            <a:avLst/>
          </a:prstGeom>
          <a:ln w="1778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855464" y="3721608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855464" y="3721608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55464" y="3721608"/>
            <a:ext cx="2480767" cy="649224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855464" y="3721608"/>
            <a:ext cx="2480767" cy="649224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855464" y="3072384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855464" y="3072384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855464" y="5020056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855464" y="5020056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4855464" y="4370832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855464" y="4370832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649224" y="2157984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63524" y="2308860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2313432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4712" y="2157984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手作業が多く処理時間が長い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124712" y="2688336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649224" y="2807208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63524" y="2958084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8096" y="2962656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" y="2807208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承認完了までの待ち時間が長い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124712" y="3337560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649224" y="3456432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63524" y="3607308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8096" y="3611880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4712" y="3456432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データが複数の管理先へ分散している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124712" y="3986784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649224" y="4105656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63524" y="4256532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68096" y="4261104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4712" y="4105656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進捗と課題の把握に時間がかかる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124712" y="4636008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649224" y="4754880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63524" y="4905756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8096" y="4910328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24712" y="4754880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成果物の品質にばらつきがある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36231" y="2157984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199571" y="2308860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204143" y="2313432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500823" y="2157984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定型作業の標準化と自動化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7500823" y="2688336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7336231" y="2807208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1199571" y="2958084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204143" y="2962656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500823" y="2807208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承認条件と判断権限の見直し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7500823" y="3337560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7336231" y="3456432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1199571" y="3607308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1204143" y="3611880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500823" y="3456432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データ管理先の統合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7500823" y="3986784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ectangle 59"/>
          <p:cNvSpPr/>
          <p:nvPr/>
        </p:nvSpPr>
        <p:spPr>
          <a:xfrm>
            <a:off x="7336231" y="4105656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1199571" y="4256532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1204143" y="4261104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500823" y="4105656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進捗・課題ダッシュボードの整備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500823" y="4636008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/>
          <p:cNvSpPr/>
          <p:nvPr/>
        </p:nvSpPr>
        <p:spPr>
          <a:xfrm>
            <a:off x="7336231" y="4754880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1199571" y="4905756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1204143" y="4910328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500823" y="4754880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レビュー基準と品質ゲートの整備</a:t>
            </a:r>
          </a:p>
        </p:txBody>
      </p:sp>
      <p:sp>
        <p:nvSpPr>
          <p:cNvPr id="69" name="Oval 68"/>
          <p:cNvSpPr/>
          <p:nvPr/>
        </p:nvSpPr>
        <p:spPr>
          <a:xfrm>
            <a:off x="4818888" y="2386584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4818888" y="3035808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4818888" y="3685032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4818888" y="4334256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4818888" y="4983480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299655" y="2386584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7299655" y="3035808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7299655" y="3685032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7299655" y="4334256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7299655" y="4983480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障害対応フロー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担当境界と引き継ぎ点を明確にし、対応漏れを防ぐ</a:t>
            </a:r>
          </a:p>
        </p:txBody>
      </p:sp>
      <p:sp>
        <p:nvSpPr>
          <p:cNvPr id="5" name="qa-surface-on-canvas:swimlane-stage:detect"/>
          <p:cNvSpPr/>
          <p:nvPr/>
        </p:nvSpPr>
        <p:spPr>
          <a:xfrm>
            <a:off x="1892808" y="1517904"/>
            <a:ext cx="2485567" cy="384048"/>
          </a:xfrm>
          <a:prstGeom prst="chevron">
            <a:avLst/>
          </a:prstGeom>
          <a:solidFill>
            <a:srgbClr val="DFEBE8"/>
          </a:solidFill>
          <a:ln w="7620">
            <a:solidFill>
              <a:srgbClr val="D1CFC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20824" y="1572768"/>
            <a:ext cx="2192959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検知・申告</a:t>
            </a:r>
          </a:p>
        </p:txBody>
      </p:sp>
      <p:sp>
        <p:nvSpPr>
          <p:cNvPr id="7" name="qa-surface-on-canvas:swimlane-stage:verify"/>
          <p:cNvSpPr/>
          <p:nvPr/>
        </p:nvSpPr>
        <p:spPr>
          <a:xfrm>
            <a:off x="4341799" y="1517904"/>
            <a:ext cx="2485567" cy="384048"/>
          </a:xfrm>
          <a:prstGeom prst="chevron">
            <a:avLst/>
          </a:prstGeom>
          <a:solidFill>
            <a:srgbClr val="DFEBE8"/>
          </a:solidFill>
          <a:ln w="7620">
            <a:solidFill>
              <a:srgbClr val="D1CFC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69815" y="1572768"/>
            <a:ext cx="2192959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確認・切り分け</a:t>
            </a:r>
          </a:p>
        </p:txBody>
      </p:sp>
      <p:sp>
        <p:nvSpPr>
          <p:cNvPr id="9" name="qa-surface-on-canvas:swimlane-stage:recover"/>
          <p:cNvSpPr/>
          <p:nvPr/>
        </p:nvSpPr>
        <p:spPr>
          <a:xfrm>
            <a:off x="6790791" y="1517904"/>
            <a:ext cx="2485567" cy="384048"/>
          </a:xfrm>
          <a:prstGeom prst="chevron">
            <a:avLst/>
          </a:prstGeom>
          <a:solidFill>
            <a:srgbClr val="DFEBE8"/>
          </a:solidFill>
          <a:ln w="7620">
            <a:solidFill>
              <a:srgbClr val="D1CFC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18807" y="1572768"/>
            <a:ext cx="2192959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対応・復旧</a:t>
            </a:r>
          </a:p>
        </p:txBody>
      </p:sp>
      <p:sp>
        <p:nvSpPr>
          <p:cNvPr id="11" name="qa-surface-on-canvas:swimlane-stage:close"/>
          <p:cNvSpPr/>
          <p:nvPr/>
        </p:nvSpPr>
        <p:spPr>
          <a:xfrm>
            <a:off x="9239783" y="1517904"/>
            <a:ext cx="2448991" cy="384048"/>
          </a:xfrm>
          <a:prstGeom prst="chevron">
            <a:avLst/>
          </a:prstGeom>
          <a:solidFill>
            <a:srgbClr val="DFEBE8"/>
          </a:solidFill>
          <a:ln w="7620">
            <a:solidFill>
              <a:srgbClr val="D1CFC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67799" y="1572768"/>
            <a:ext cx="2192959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確認・完了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527048"/>
            <a:ext cx="347472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凡例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033271" y="1636776"/>
            <a:ext cx="292609" cy="0"/>
          </a:xfrm>
          <a:prstGeom prst="line">
            <a:avLst/>
          </a:prstGeom>
          <a:ln w="14604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399032" y="1554480"/>
            <a:ext cx="566928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順方向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33271" y="1828800"/>
            <a:ext cx="292609" cy="0"/>
          </a:xfrm>
          <a:prstGeom prst="line">
            <a:avLst/>
          </a:prstGeom>
          <a:ln w="14604">
            <a:prstDash val="dash"/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399032" y="1746504"/>
            <a:ext cx="566928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差戻し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1901952"/>
            <a:ext cx="1389888" cy="786384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892808" y="1901952"/>
            <a:ext cx="9795967" cy="786384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2648" y="1901952"/>
            <a:ext cx="118872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02920" y="2688336"/>
            <a:ext cx="11185855" cy="0"/>
          </a:xfrm>
          <a:prstGeom prst="line">
            <a:avLst/>
          </a:prstGeom>
          <a:ln w="825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02920" y="2688336"/>
            <a:ext cx="1389888" cy="786384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892808" y="2688336"/>
            <a:ext cx="9795967" cy="786384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2648" y="2688336"/>
            <a:ext cx="118872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運用担当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02920" y="3474720"/>
            <a:ext cx="11185855" cy="0"/>
          </a:xfrm>
          <a:prstGeom prst="line">
            <a:avLst/>
          </a:prstGeom>
          <a:ln w="825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502920" y="3474720"/>
            <a:ext cx="1389888" cy="786384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892808" y="3474720"/>
            <a:ext cx="9795967" cy="786384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2648" y="3474720"/>
            <a:ext cx="118872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ネットワーク担当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02920" y="4261104"/>
            <a:ext cx="11185855" cy="0"/>
          </a:xfrm>
          <a:prstGeom prst="line">
            <a:avLst/>
          </a:prstGeom>
          <a:ln w="825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502920" y="4261104"/>
            <a:ext cx="1389888" cy="786384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892808" y="4261104"/>
            <a:ext cx="9795967" cy="786384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2648" y="4261104"/>
            <a:ext cx="118872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回線事業者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02920" y="5047488"/>
            <a:ext cx="11185855" cy="0"/>
          </a:xfrm>
          <a:prstGeom prst="line">
            <a:avLst/>
          </a:prstGeom>
          <a:ln w="825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892808" y="1901952"/>
            <a:ext cx="0" cy="3145536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4341799" y="1901952"/>
            <a:ext cx="0" cy="3145536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6790791" y="1901952"/>
            <a:ext cx="0" cy="3145536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9239783" y="1901952"/>
            <a:ext cx="0" cy="3145536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3775671" y="2295144"/>
            <a:ext cx="529552" cy="0"/>
          </a:xfrm>
          <a:prstGeom prst="line">
            <a:avLst/>
          </a:prstGeom>
          <a:ln w="1333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4305223" y="2295144"/>
            <a:ext cx="0" cy="786384"/>
          </a:xfrm>
          <a:prstGeom prst="line">
            <a:avLst/>
          </a:prstGeom>
          <a:ln w="1333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4305223" y="3081528"/>
            <a:ext cx="164592" cy="0"/>
          </a:xfrm>
          <a:prstGeom prst="line">
            <a:avLst/>
          </a:prstGeom>
          <a:ln w="1333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5520575" y="3081528"/>
            <a:ext cx="91440" cy="0"/>
          </a:xfrm>
          <a:prstGeom prst="line">
            <a:avLst/>
          </a:prstGeom>
          <a:ln w="1333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4995195" y="3310128"/>
            <a:ext cx="0" cy="164592"/>
          </a:xfrm>
          <a:prstGeom prst="line">
            <a:avLst/>
          </a:prstGeom>
          <a:ln w="1333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4995195" y="3474720"/>
            <a:ext cx="571100" cy="0"/>
          </a:xfrm>
          <a:prstGeom prst="line">
            <a:avLst/>
          </a:prstGeom>
          <a:ln w="1333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5566295" y="3474720"/>
            <a:ext cx="0" cy="164592"/>
          </a:xfrm>
          <a:prstGeom prst="line">
            <a:avLst/>
          </a:prstGeom>
          <a:ln w="1333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6662775" y="3081528"/>
            <a:ext cx="256032" cy="0"/>
          </a:xfrm>
          <a:prstGeom prst="line">
            <a:avLst/>
          </a:prstGeom>
          <a:ln w="1333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6224663" y="3867912"/>
            <a:ext cx="1132256" cy="0"/>
          </a:xfrm>
          <a:prstGeom prst="line">
            <a:avLst/>
          </a:prstGeom>
          <a:ln w="1333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7444187" y="3310128"/>
            <a:ext cx="0" cy="164592"/>
          </a:xfrm>
          <a:prstGeom prst="line">
            <a:avLst/>
          </a:prstGeom>
          <a:ln w="1333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7444187" y="3474720"/>
            <a:ext cx="571100" cy="0"/>
          </a:xfrm>
          <a:prstGeom prst="line">
            <a:avLst/>
          </a:prstGeom>
          <a:ln w="1333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8015287" y="3474720"/>
            <a:ext cx="0" cy="164592"/>
          </a:xfrm>
          <a:prstGeom prst="line">
            <a:avLst/>
          </a:prstGeom>
          <a:ln w="1333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8015287" y="4096512"/>
            <a:ext cx="0" cy="164592"/>
          </a:xfrm>
          <a:prstGeom prst="line">
            <a:avLst/>
          </a:prstGeom>
          <a:ln w="1333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8015287" y="4261104"/>
            <a:ext cx="0" cy="0"/>
          </a:xfrm>
          <a:prstGeom prst="line">
            <a:avLst/>
          </a:prstGeom>
          <a:ln w="1333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8015287" y="4261104"/>
            <a:ext cx="0" cy="164592"/>
          </a:xfrm>
          <a:prstGeom prst="line">
            <a:avLst/>
          </a:prstGeom>
          <a:ln w="1333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8673655" y="4654296"/>
            <a:ext cx="364960" cy="0"/>
          </a:xfrm>
          <a:prstGeom prst="line">
            <a:avLst/>
          </a:prstGeom>
          <a:ln w="1333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9038615" y="3401568"/>
            <a:ext cx="0" cy="1252728"/>
          </a:xfrm>
          <a:prstGeom prst="line">
            <a:avLst/>
          </a:prstGeom>
          <a:ln w="1333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H="1">
            <a:off x="8586387" y="3401568"/>
            <a:ext cx="452228" cy="0"/>
          </a:xfrm>
          <a:prstGeom prst="line">
            <a:avLst/>
          </a:prstGeom>
          <a:ln w="1333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8586387" y="3310128"/>
            <a:ext cx="0" cy="91440"/>
          </a:xfrm>
          <a:prstGeom prst="line">
            <a:avLst/>
          </a:prstGeom>
          <a:ln w="1333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9111767" y="3081528"/>
            <a:ext cx="91440" cy="0"/>
          </a:xfrm>
          <a:prstGeom prst="line">
            <a:avLst/>
          </a:prstGeom>
          <a:ln w="1333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9203207" y="2295144"/>
            <a:ext cx="0" cy="786384"/>
          </a:xfrm>
          <a:prstGeom prst="line">
            <a:avLst/>
          </a:prstGeom>
          <a:ln w="1333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9203207" y="2295144"/>
            <a:ext cx="164592" cy="0"/>
          </a:xfrm>
          <a:prstGeom prst="line">
            <a:avLst/>
          </a:prstGeom>
          <a:ln w="1333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8586387" y="3310128"/>
            <a:ext cx="0" cy="1828799"/>
          </a:xfrm>
          <a:prstGeom prst="line">
            <a:avLst/>
          </a:prstGeom>
          <a:ln w="1333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H="1">
            <a:off x="4995195" y="5138927"/>
            <a:ext cx="3591192" cy="0"/>
          </a:xfrm>
          <a:prstGeom prst="line">
            <a:avLst/>
          </a:prstGeom>
          <a:ln w="1333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4995195" y="3310128"/>
            <a:ext cx="0" cy="1828799"/>
          </a:xfrm>
          <a:prstGeom prst="line">
            <a:avLst/>
          </a:prstGeom>
          <a:ln w="1333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10418559" y="2295144"/>
            <a:ext cx="91440" cy="0"/>
          </a:xfrm>
          <a:prstGeom prst="line">
            <a:avLst/>
          </a:prstGeom>
          <a:ln w="1333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ectangle 63"/>
          <p:cNvSpPr/>
          <p:nvPr/>
        </p:nvSpPr>
        <p:spPr>
          <a:xfrm>
            <a:off x="2458935" y="2066544"/>
            <a:ext cx="1316736" cy="457200"/>
          </a:xfrm>
          <a:prstGeom prst="rect">
            <a:avLst/>
          </a:prstGeom>
          <a:solidFill>
            <a:srgbClr val="FFFFFC"/>
          </a:solidFill>
          <a:ln w="9525">
            <a:solidFill>
              <a:srgbClr val="0D787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550375" y="2066544"/>
            <a:ext cx="1133856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障害申告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469815" y="2852928"/>
            <a:ext cx="1050759" cy="457200"/>
          </a:xfrm>
          <a:prstGeom prst="rect">
            <a:avLst/>
          </a:prstGeom>
          <a:solidFill>
            <a:srgbClr val="FFFFFC"/>
          </a:solidFill>
          <a:ln w="9525">
            <a:solidFill>
              <a:srgbClr val="0D787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561255" y="2852928"/>
            <a:ext cx="86787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一次確認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612015" y="2852928"/>
            <a:ext cx="1050759" cy="457200"/>
          </a:xfrm>
          <a:prstGeom prst="rect">
            <a:avLst/>
          </a:prstGeom>
          <a:solidFill>
            <a:srgbClr val="FFFFFC"/>
          </a:solidFill>
          <a:ln w="9525">
            <a:solidFill>
              <a:srgbClr val="0D787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703455" y="2852928"/>
            <a:ext cx="86787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監視確認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907927" y="3639312"/>
            <a:ext cx="1316736" cy="457200"/>
          </a:xfrm>
          <a:prstGeom prst="rect">
            <a:avLst/>
          </a:prstGeom>
          <a:solidFill>
            <a:srgbClr val="FFFFFC"/>
          </a:solidFill>
          <a:ln w="9525">
            <a:solidFill>
              <a:srgbClr val="0D787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999367" y="3639312"/>
            <a:ext cx="1133856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機器確認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918807" y="2852928"/>
            <a:ext cx="1050759" cy="457200"/>
          </a:xfrm>
          <a:prstGeom prst="rect">
            <a:avLst/>
          </a:prstGeom>
          <a:solidFill>
            <a:srgbClr val="FFFFFC"/>
          </a:solidFill>
          <a:ln w="9525">
            <a:solidFill>
              <a:srgbClr val="0D787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010247" y="2852928"/>
            <a:ext cx="86787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7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エスカレーション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356919" y="3639312"/>
            <a:ext cx="1316736" cy="457200"/>
          </a:xfrm>
          <a:prstGeom prst="rect">
            <a:avLst/>
          </a:prstGeom>
          <a:solidFill>
            <a:srgbClr val="FFFFFC"/>
          </a:solidFill>
          <a:ln w="9525">
            <a:solidFill>
              <a:srgbClr val="0D787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448359" y="3639312"/>
            <a:ext cx="1133856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回線切り分け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356919" y="4425696"/>
            <a:ext cx="1316736" cy="457200"/>
          </a:xfrm>
          <a:prstGeom prst="rect">
            <a:avLst/>
          </a:prstGeom>
          <a:solidFill>
            <a:srgbClr val="DFEBE8"/>
          </a:solidFill>
          <a:ln w="9525">
            <a:solidFill>
              <a:srgbClr val="0D787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448359" y="4425696"/>
            <a:ext cx="1133856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回線調査・復旧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61007" y="2852928"/>
            <a:ext cx="1050759" cy="457200"/>
          </a:xfrm>
          <a:prstGeom prst="rect">
            <a:avLst/>
          </a:prstGeom>
          <a:solidFill>
            <a:srgbClr val="FFFFFC"/>
          </a:solidFill>
          <a:ln w="9525">
            <a:solidFill>
              <a:srgbClr val="0D787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152447" y="2852928"/>
            <a:ext cx="86787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結果確認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367799" y="2066544"/>
            <a:ext cx="1050759" cy="457200"/>
          </a:xfrm>
          <a:prstGeom prst="rect">
            <a:avLst/>
          </a:prstGeom>
          <a:solidFill>
            <a:srgbClr val="FFFFFC"/>
          </a:solidFill>
          <a:ln w="9525">
            <a:solidFill>
              <a:srgbClr val="0D787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459239" y="2066544"/>
            <a:ext cx="86787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利用者連絡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509999" y="2066544"/>
            <a:ext cx="1050759" cy="457200"/>
          </a:xfrm>
          <a:prstGeom prst="rect">
            <a:avLst/>
          </a:prstGeom>
          <a:solidFill>
            <a:srgbClr val="FFFFFC"/>
          </a:solidFill>
          <a:ln w="9525">
            <a:solidFill>
              <a:srgbClr val="0D787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0601439" y="2066544"/>
            <a:ext cx="86787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クローズ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02920" y="5696712"/>
            <a:ext cx="11185855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649224" y="5769864"/>
            <a:ext cx="384048" cy="384048"/>
          </a:xfrm>
          <a:prstGeom prst="ellipse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6" name="Picture 85" descr="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395" y="5862035"/>
            <a:ext cx="199704" cy="199704"/>
          </a:xfrm>
          <a:prstGeom prst="rect">
            <a:avLst/>
          </a:prstGeom>
        </p:spPr>
      </p:pic>
      <p:sp>
        <p:nvSpPr>
          <p:cNvPr id="87" name="TextBox 86"/>
          <p:cNvSpPr txBox="1"/>
          <p:nvPr/>
        </p:nvSpPr>
        <p:spPr>
          <a:xfrm>
            <a:off x="1124712" y="5833872"/>
            <a:ext cx="5669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示唆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1764792" y="5797296"/>
            <a:ext cx="0" cy="329183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/>
          <p:cNvSpPr txBox="1"/>
          <p:nvPr/>
        </p:nvSpPr>
        <p:spPr>
          <a:xfrm>
            <a:off x="1837943" y="5797296"/>
            <a:ext cx="96130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工程だけでなく、誰が受け取り、どこへ引き継ぐかを同時に確認する。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変更作業シーケンス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関係者・機器・確認ポイントを、実行順に整理する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587855" y="2507650"/>
            <a:ext cx="9015984" cy="1819656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15871" y="2525938"/>
            <a:ext cx="1024128" cy="201168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調査フェーズ</a:t>
            </a:r>
          </a:p>
        </p:txBody>
      </p:sp>
      <p:sp>
        <p:nvSpPr>
          <p:cNvPr id="7" name="Rectangle 6"/>
          <p:cNvSpPr/>
          <p:nvPr/>
        </p:nvSpPr>
        <p:spPr>
          <a:xfrm>
            <a:off x="1587855" y="4336450"/>
            <a:ext cx="9015984" cy="868679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15871" y="4354738"/>
            <a:ext cx="1024128" cy="201168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復旧フェーズ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3761" y="1591056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運用担当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383761" y="2011680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026767" y="2011680"/>
            <a:ext cx="0" cy="3193450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418301" y="1591056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監視システム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418301" y="2011680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061307" y="2011680"/>
            <a:ext cx="0" cy="3193450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452841" y="1591056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拠点ルータ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52841" y="2011680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095847" y="2011680"/>
            <a:ext cx="0" cy="3193450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487381" y="1591056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センタールータ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487381" y="2011680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130387" y="2011680"/>
            <a:ext cx="0" cy="3193450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9521921" y="1591056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回線事業者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521921" y="2011680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0164927" y="2011680"/>
            <a:ext cx="0" cy="3193450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2026767" y="2397922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2257653" y="2151034"/>
            <a:ext cx="1572768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障害検知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026767" y="2763682"/>
            <a:ext cx="406908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3274923" y="2516794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確認依頼</a:t>
            </a:r>
          </a:p>
        </p:txBody>
      </p:sp>
      <p:cxnSp>
        <p:nvCxnSpPr>
          <p:cNvPr id="28" name="Connector 27"/>
          <p:cNvCxnSpPr/>
          <p:nvPr/>
        </p:nvCxnSpPr>
        <p:spPr>
          <a:xfrm flipH="1">
            <a:off x="2026767" y="3129442"/>
            <a:ext cx="4069080" cy="0"/>
          </a:xfrm>
          <a:prstGeom prst="line">
            <a:avLst/>
          </a:prstGeom>
          <a:ln w="13335">
            <a:prstDash val="dash"/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3274923" y="2882554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疎通結果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061307" y="3495202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4292193" y="3248314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ログ確認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095847" y="3860962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326733" y="3614074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区間切り分け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130387" y="4226722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361273" y="3979834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回線確認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8130387" y="4592482"/>
            <a:ext cx="2034540" cy="0"/>
          </a:xfrm>
          <a:prstGeom prst="line">
            <a:avLst/>
          </a:prstGeom>
          <a:ln w="13335">
            <a:prstDash val="dash"/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8361273" y="4345594"/>
            <a:ext cx="1572768" cy="219456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復旧連絡</a:t>
            </a:r>
          </a:p>
        </p:txBody>
      </p:sp>
      <p:cxnSp>
        <p:nvCxnSpPr>
          <p:cNvPr id="38" name="Connector 37"/>
          <p:cNvCxnSpPr/>
          <p:nvPr/>
        </p:nvCxnSpPr>
        <p:spPr>
          <a:xfrm flipH="1">
            <a:off x="2026767" y="4958242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2257653" y="4711354"/>
            <a:ext cx="1572768" cy="219456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正常性確認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" y="5449824"/>
            <a:ext cx="347472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凡例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033271" y="5532120"/>
            <a:ext cx="256033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1344168" y="5449824"/>
            <a:ext cx="512064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要求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993391" y="5532120"/>
            <a:ext cx="256033" cy="0"/>
          </a:xfrm>
          <a:prstGeom prst="line">
            <a:avLst/>
          </a:prstGeom>
          <a:ln w="12700">
            <a:prstDash val="dash"/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2304287" y="5449824"/>
            <a:ext cx="512064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応答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2920" y="5696712"/>
            <a:ext cx="11185855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49224" y="5769864"/>
            <a:ext cx="384048" cy="384048"/>
          </a:xfrm>
          <a:prstGeom prst="ellipse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7" name="Picture 46" descr="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395" y="5862035"/>
            <a:ext cx="199704" cy="199704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124712" y="5833872"/>
            <a:ext cx="5669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示唆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1764792" y="5797296"/>
            <a:ext cx="0" cy="329183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1837943" y="5797296"/>
            <a:ext cx="96130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メッセージの順序と送受信者を分けて確認し、作業前の認識差を減らす。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