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従来 (分)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120</c:v>
                </c:pt>
                <c:pt idx="2">
                  <c:v>240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生成後 (分)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</c:v>
                </c:pt>
                <c:pt idx="1">
                  <c:v>42</c:v>
                </c:pt>
                <c:pt idx="2">
                  <c:v>85</c:v>
                </c:pt>
                <c:pt idx="3">
                  <c:v>28</c:v>
                </c:pt>
              </c:numCache>
            </c:numRef>
          </c:val>
        </c:ser>
        <c:dLbls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利用率</c:v>
                </c:pt>
              </c:strCache>
            </c:strRef>
          </c:tx>
          <c:spPr>
            <a:ln w="25400">
              <a:solidFill>
                <a:srgbClr val="666E70"/>
              </a:solidFill>
            </a:ln>
          </c:spPr>
          <c:marker>
            <c:spPr>
              <a:solidFill>
                <a:srgbClr val="666E70"/>
              </a:solidFill>
              <a:ln>
                <a:solidFill>
                  <a:srgbClr val="666E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31</c:v>
                </c:pt>
                <c:pt idx="4">
                  <c:v>44</c:v>
                </c:pt>
                <c:pt idx="5">
                  <c:v>52</c:v>
                </c:pt>
                <c:pt idx="6">
                  <c:v>61</c:v>
                </c:pt>
                <c:pt idx="7">
                  <c:v>67</c:v>
                </c:pt>
                <c:pt idx="8">
                  <c:v>74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目標</c:v>
                </c:pt>
              </c:strCache>
            </c:strRef>
          </c:tx>
          <c:spPr>
            <a:ln w="25400">
              <a:solidFill>
                <a:srgbClr val="0D7870"/>
              </a:solidFill>
            </a:ln>
          </c:spPr>
          <c:marker>
            <c:spPr>
              <a:solidFill>
                <a:srgbClr val="0D7870"/>
              </a:solidFill>
              <a:ln>
                <a:solidFill>
                  <a:srgbClr val="0D78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20</c:v>
                </c:pt>
                <c:pt idx="1">
                  <c:v>25</c:v>
                </c:pt>
                <c:pt idx="2">
                  <c:v>30</c:v>
                </c:pt>
                <c:pt idx="3">
                  <c:v>35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作成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38</c:v>
                </c:pt>
                <c:pt idx="2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レビュー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</c:v>
                </c:pt>
                <c:pt idx="1">
                  <c:v>32</c:v>
                </c:pt>
                <c:pt idx="2">
                  <c:v>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意思決定</c:v>
                </c:pt>
              </c:strCache>
            </c:strRef>
          </c:tx>
          <c:spPr>
            <a:solidFill>
              <a:srgbClr val="C7583E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</c:v>
                </c:pt>
                <c:pt idx="1">
                  <c:v>30</c:v>
                </c:pt>
                <c:pt idx="2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実績</c:v>
                </c:pt>
              </c:strCache>
            </c:strRef>
          </c:tx>
          <c:spPr>
            <a:ln w="20320">
              <a:solidFill>
                <a:srgbClr val="666E70"/>
              </a:solidFill>
            </a:ln>
          </c:spPr>
          <c:marker>
            <c:spPr>
              <a:solidFill>
                <a:srgbClr val="666E70"/>
              </a:solidFill>
              <a:ln>
                <a:solidFill>
                  <a:srgbClr val="666E70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18</c:v>
                </c:pt>
                <c:pt idx="2">
                  <c:v>27</c:v>
                </c:pt>
                <c:pt idx="3">
                  <c:v>35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850">
          <a:latin typeface="Yu Gothi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7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4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4.png"/><Relationship Id="rId6" Type="http://schemas.openxmlformats.org/officeDocument/2006/relationships/image" Target="../media/image26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4.png"/><Relationship Id="rId4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意思決定からシステム構成まで、21の標準レイアウトを検証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検証方針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LLMは構造化、rendererは提出品質を担う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2366924"/>
            <a:ext cx="5669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2430932"/>
            <a:ext cx="9281160" cy="352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文言・項目・強調は content 側に寄せ、座標や余白は renderer 側に閉じ込める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536192" y="2846984"/>
            <a:ext cx="9281160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3084728"/>
            <a:ext cx="5669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6192" y="3148736"/>
            <a:ext cx="9281160" cy="352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汎用エンジン化しすぎず、よく使うスライド種別をカタログとして増やす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36192" y="3564788"/>
            <a:ext cx="9281160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3802532"/>
            <a:ext cx="5669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36192" y="3866540"/>
            <a:ext cx="9281160" cy="352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PowerPoint 実レンダリングと機械検知を品質ゲートにして、崩れを早期に発見する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要点整理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判断に必要な4つの要点を、読み順に沿って整理する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65376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1837944"/>
            <a:ext cx="3611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目的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2560320"/>
            <a:ext cx="3749039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何を判断してほしいかを1文で示し、</a:t>
            </a:r>
          </a:p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読み手の視点を揃える。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0448" y="1883664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865376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04288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事実・制約・既に分かっていることを短く置く。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907791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3081528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063240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示唆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502152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現状から言えることを、推測と事実を分けて整理する。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105656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0448" y="4279392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261104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次アクション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00016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誰が・いつまでに・何をするかを明確にする。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64208"/>
            <a:ext cx="2423160" cy="438912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737360"/>
            <a:ext cx="2093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フェーズ</a:t>
            </a:r>
          </a:p>
        </p:txBody>
      </p:sp>
      <p:sp>
        <p:nvSpPr>
          <p:cNvPr id="7" name="Rectangle 6"/>
          <p:cNvSpPr/>
          <p:nvPr/>
        </p:nvSpPr>
        <p:spPr>
          <a:xfrm>
            <a:off x="3081528" y="1664208"/>
            <a:ext cx="8430768" cy="438912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81528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84092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84092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6656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6656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89220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89220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91784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91784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94348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94348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96912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96912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99476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9476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02040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02040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04604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04604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07168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07168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09732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809732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2103120"/>
            <a:ext cx="10853928" cy="71323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2816352"/>
            <a:ext cx="10853928" cy="71323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8368" y="3529584"/>
            <a:ext cx="10853928" cy="71323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242816"/>
            <a:ext cx="10853928" cy="71323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" y="4956048"/>
            <a:ext cx="10853928" cy="71323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3081528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784092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486656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189220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891784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594348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296912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999476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8702040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404604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0107168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0809732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512296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58368" y="21031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58368" y="28163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658368" y="352958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658368" y="424281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658368" y="495604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658368" y="56692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2231501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2188707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6" y="2502529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127248" y="2274295"/>
            <a:ext cx="1313688" cy="27432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209544" y="2306299"/>
            <a:ext cx="11490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8096" y="2944733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33856" y="2901939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3215761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829812" y="2987527"/>
            <a:ext cx="2016252" cy="27432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912108" y="3019531"/>
            <a:ext cx="18516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68096" y="3657965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33856" y="3615171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33856" y="3928993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234940" y="3700759"/>
            <a:ext cx="2718816" cy="27432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317236" y="3732763"/>
            <a:ext cx="2554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" y="4371197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328403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6" y="4642225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342632" y="4413991"/>
            <a:ext cx="2016251" cy="27432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424928" y="4445995"/>
            <a:ext cx="18516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8096" y="5084429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33856" y="5041635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" y="5355457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450324" y="5127223"/>
            <a:ext cx="2016251" cy="27432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532620" y="5159227"/>
            <a:ext cx="18516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80" name="Diamond 79"/>
          <p:cNvSpPr/>
          <p:nvPr/>
        </p:nvSpPr>
        <p:spPr>
          <a:xfrm>
            <a:off x="4066794" y="2116835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73322" y="2588117"/>
            <a:ext cx="1124102" cy="164592"/>
          </a:xfrm>
          <a:prstGeom prst="rect">
            <a:avLst/>
          </a:prstGeom>
          <a:solidFill>
            <a:srgbClr val="FFFFFC"/>
          </a:solidFill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sp>
        <p:nvSpPr>
          <p:cNvPr id="82" name="Diamond 81"/>
          <p:cNvSpPr/>
          <p:nvPr/>
        </p:nvSpPr>
        <p:spPr>
          <a:xfrm>
            <a:off x="7579614" y="3543299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086142" y="4014581"/>
            <a:ext cx="1124102" cy="164592"/>
          </a:xfrm>
          <a:prstGeom prst="rect">
            <a:avLst/>
          </a:prstGeom>
          <a:solidFill>
            <a:srgbClr val="FFFFFC"/>
          </a:solidFill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sp>
        <p:nvSpPr>
          <p:cNvPr id="84" name="Diamond 83"/>
          <p:cNvSpPr/>
          <p:nvPr/>
        </p:nvSpPr>
        <p:spPr>
          <a:xfrm>
            <a:off x="11092434" y="4969764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388193" y="5441045"/>
            <a:ext cx="1124102" cy="164592"/>
          </a:xfrm>
          <a:prstGeom prst="rect">
            <a:avLst/>
          </a:prstGeom>
          <a:solidFill>
            <a:srgbClr val="FFFFFC"/>
          </a:solidFill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関係者調整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運用事務局を中心に、5部門の役割をつなぐ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9048" y="2592324"/>
            <a:ext cx="0" cy="78181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>
            <a:off x="7176017" y="3406003"/>
            <a:ext cx="2580030" cy="31620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6812146" y="4224409"/>
            <a:ext cx="1461842" cy="75893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3924107" y="4224409"/>
            <a:ext cx="1461842" cy="75893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442048" y="3406003"/>
            <a:ext cx="2580030" cy="31620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785866" y="3160908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効果報告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74438" y="3501262"/>
            <a:ext cx="770382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権限 / 監査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928" y="4455022"/>
            <a:ext cx="770382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 / 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1928" y="4455022"/>
            <a:ext cx="760095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利用ルール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5284" y="3501262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表現基準</a:t>
            </a:r>
          </a:p>
        </p:txBody>
      </p:sp>
      <p:pic>
        <p:nvPicPr>
          <p:cNvPr id="15" name="Picture 14" descr="brief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988820"/>
            <a:ext cx="585216" cy="5852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21870" y="2619756"/>
            <a:ext cx="55435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経営層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287578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方針承認</a:t>
            </a:r>
          </a:p>
        </p:txBody>
      </p:sp>
      <p:pic>
        <p:nvPicPr>
          <p:cNvPr id="18" name="Picture 17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2026" y="3075575"/>
            <a:ext cx="585216" cy="58521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555999" y="370651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情報システム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2026" y="396254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環境管理</a:t>
            </a:r>
          </a:p>
        </p:txBody>
      </p:sp>
      <p:pic>
        <p:nvPicPr>
          <p:cNvPr id="21" name="Picture 20" descr="te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307" y="4833984"/>
            <a:ext cx="585216" cy="58521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195585" y="4360274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現場部門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9029" y="462595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利用者</a:t>
            </a:r>
          </a:p>
        </p:txBody>
      </p:sp>
      <p:pic>
        <p:nvPicPr>
          <p:cNvPr id="24" name="Picture 23" descr="shield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5572" y="4833984"/>
            <a:ext cx="585216" cy="58521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448155" y="4360274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法務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55572" y="462595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規程確認</a:t>
            </a:r>
          </a:p>
        </p:txBody>
      </p:sp>
      <p:pic>
        <p:nvPicPr>
          <p:cNvPr id="27" name="Picture 26" descr="se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40853" y="3075575"/>
            <a:ext cx="585216" cy="58521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933436" y="370651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広報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40853" y="396254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ブランド</a:t>
            </a:r>
          </a:p>
        </p:txBody>
      </p:sp>
      <p:sp>
        <p:nvSpPr>
          <p:cNvPr id="30" name="Oval 29"/>
          <p:cNvSpPr/>
          <p:nvPr/>
        </p:nvSpPr>
        <p:spPr>
          <a:xfrm>
            <a:off x="4978908" y="3374136"/>
            <a:ext cx="2240280" cy="960120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78908" y="3570732"/>
            <a:ext cx="2240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テンプレート</a:t>
            </a:r>
          </a:p>
          <a:p>
            <a:pPr algn="ctr">
              <a:lnSpc>
                <a:spcPct val="130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運用事務局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5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複合レイアウト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処理経路と設計上の要点を、同じ視野で対応付ける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423659" y="1426464"/>
            <a:ext cx="5106924" cy="48006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481328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453896"/>
            <a:ext cx="4631435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処理経路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130552" y="2922422"/>
            <a:ext cx="742949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550157" y="2922422"/>
            <a:ext cx="742950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pe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760" y="2638958"/>
            <a:ext cx="56692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515046" y="3251606"/>
            <a:ext cx="55435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</a:t>
            </a:r>
          </a:p>
        </p:txBody>
      </p:sp>
      <p:pic>
        <p:nvPicPr>
          <p:cNvPr id="12" name="Picture 1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8365" y="2638958"/>
            <a:ext cx="566928" cy="5669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883217" y="3251606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業務API</a:t>
            </a:r>
          </a:p>
        </p:txBody>
      </p:sp>
      <p:pic>
        <p:nvPicPr>
          <p:cNvPr id="14" name="Picture 13" descr="datab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7971" y="2638958"/>
            <a:ext cx="566928" cy="5669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122800" y="325160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データベース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45423" y="2685821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52469" y="268582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9691" y="1481328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2027" y="1453896"/>
            <a:ext cx="419252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設計上の要点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9691" y="2130552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6891" y="2121408"/>
            <a:ext cx="402793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境界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6891" y="2404872"/>
            <a:ext cx="4027932" cy="2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公開領域とデータ領域を分離する。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6891" y="2768473"/>
            <a:ext cx="4027932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9691" y="2878201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6891" y="2869057"/>
            <a:ext cx="402793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6891" y="3152521"/>
            <a:ext cx="4027932" cy="2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主要な接続点で状態を確認する。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36891" y="3516122"/>
            <a:ext cx="4027932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9691" y="3625850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6891" y="3616706"/>
            <a:ext cx="402793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6891" y="3900169"/>
            <a:ext cx="4027932" cy="2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障害時の切替手順を事前に定める。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画面レビュー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対象画面と確認事項を並べ、指摘の根拠を明確にする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423659" y="1426464"/>
            <a:ext cx="5106924" cy="48006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481328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453896"/>
            <a:ext cx="4631435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対象画面</a:t>
            </a:r>
          </a:p>
        </p:txBody>
      </p:sp>
      <p:pic>
        <p:nvPicPr>
          <p:cNvPr id="8" name="ContentImage" descr="pptxdsl-reposi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2112264"/>
            <a:ext cx="5033771" cy="259817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679691" y="1481328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2027" y="1453896"/>
            <a:ext cx="419252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確認事項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9691" y="2121408"/>
            <a:ext cx="3108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00315" y="2139696"/>
            <a:ext cx="4119372" cy="2705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操作の起点が迷わず見つかるか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9691" y="2620518"/>
            <a:ext cx="3108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00315" y="2638806"/>
            <a:ext cx="4119372" cy="2705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主要な導線を少ない手順で追えるか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9691" y="3119628"/>
            <a:ext cx="3108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5" y="3137916"/>
            <a:ext cx="4119372" cy="2705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権限境界と実行結果を確認できるか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実績レビュー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推移と判断基準を並べ、数値の意味まで読み取れるようにする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423659" y="1426464"/>
            <a:ext cx="5106924" cy="48006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481328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453896"/>
            <a:ext cx="4631435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月別推移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94944" y="2084832"/>
          <a:ext cx="5033771" cy="401421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679691" y="1481328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2027" y="1453896"/>
            <a:ext cx="419252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判断基準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79691" y="2103120"/>
          <a:ext cx="45948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7430"/>
                <a:gridCol w="2297430"/>
              </a:tblGrid>
              <a:tr h="4937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指標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基準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</a:t>
                      </a:r>
                    </a:p>
                  </a:txBody>
                  <a:tcPr anchor="ctr" marL="91440" marR="91440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95%以上</a:t>
                      </a:r>
                    </a:p>
                  </a:txBody>
                  <a:tcPr anchor="ctr" marL="91440" marR="91440" marT="36576" marB="36576">
                    <a:solidFill>
                      <a:srgbClr val="ECEAE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処理時間</a:t>
                      </a:r>
                    </a:p>
                  </a:txBody>
                  <a:tcPr anchor="ctr" marL="91440" marR="91440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8時間以内</a:t>
                      </a:r>
                    </a:p>
                  </a:txBody>
                  <a:tcPr anchor="ctr" marL="91440" marR="91440" marT="36576" marB="36576">
                    <a:solidFill>
                      <a:srgbClr val="FFFFF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継続条件</a:t>
                      </a:r>
                    </a:p>
                  </a:txBody>
                  <a:tcPr anchor="ctr" marL="91440" marR="91440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重大障害なし</a:t>
                      </a:r>
                    </a:p>
                  </a:txBody>
                  <a:tcPr anchor="ctr" marL="91440" marR="91440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