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729359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66865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1930527" y="5864352"/>
            <a:ext cx="833247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554480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49377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755648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542031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743199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2:textLayout xmlns:ns1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0795">
            <a:solidFill>
              <a:srgbClr val="0D78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371951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6906577" y="2786735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06577" y="3371951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314649" y="3371951"/>
            <a:ext cx="63665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8:textLayout xmlns:ns11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0795">
            <a:solidFill>
              <a:srgbClr val="6C737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diagram:path-label"/>
          <p:cNvSpPr txBox="1"/>
          <p:nvPr/>
        </p:nvSpPr>
        <p:spPr>
          <a:xfrm>
            <a:off x="2674940" y="2516164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diagram:path-label"/>
          <p:cNvSpPr txBox="1"/>
          <p:nvPr/>
        </p:nvSpPr>
        <p:spPr>
          <a:xfrm>
            <a:off x="4929827" y="2735620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diagram:path-label"/>
          <p:cNvSpPr txBox="1"/>
          <p:nvPr/>
        </p:nvSpPr>
        <p:spPr>
          <a:xfrm>
            <a:off x="6815526" y="4985044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diagram:path-label"/>
          <p:cNvSpPr txBox="1"/>
          <p:nvPr/>
        </p:nvSpPr>
        <p:spPr>
          <a:xfrm>
            <a:off x="9531614" y="3379002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8:textLayout xmlns:ns13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3970">
            <a:solidFill>
              <a:srgbClr val="6C7372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diagram:path-label"/>
          <p:cNvSpPr txBox="1"/>
          <p:nvPr/>
        </p:nvSpPr>
        <p:spPr>
          <a:xfrm>
            <a:off x="2831858" y="3241192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diagram:path-label"/>
          <p:cNvSpPr txBox="1"/>
          <p:nvPr/>
        </p:nvSpPr>
        <p:spPr>
          <a:xfrm>
            <a:off x="7414945" y="2747416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diagram:path-label"/>
          <p:cNvSpPr txBox="1"/>
          <p:nvPr/>
        </p:nvSpPr>
        <p:spPr>
          <a:xfrm>
            <a:off x="8913495" y="324119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diagram:path-label"/>
          <p:cNvSpPr txBox="1"/>
          <p:nvPr/>
        </p:nvSpPr>
        <p:spPr>
          <a:xfrm>
            <a:off x="6531940" y="3625240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11392738" y="4018432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3:textLayout xmlns:ns10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3:textLayout xmlns:ns11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079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079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2032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3970">
            <a:solidFill>
              <a:srgbClr val="6C7372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diagram:path-label"/>
          <p:cNvSpPr txBox="1"/>
          <p:nvPr/>
        </p:nvSpPr>
        <p:spPr>
          <a:xfrm>
            <a:off x="2354122" y="3421329"/>
            <a:ext cx="53378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diagram:path-label"/>
          <p:cNvSpPr txBox="1"/>
          <p:nvPr/>
        </p:nvSpPr>
        <p:spPr>
          <a:xfrm>
            <a:off x="4792484" y="3421329"/>
            <a:ext cx="358901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diagram:path-label"/>
          <p:cNvSpPr txBox="1"/>
          <p:nvPr/>
        </p:nvSpPr>
        <p:spPr>
          <a:xfrm>
            <a:off x="6973442" y="3421329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diagram:path-label"/>
          <p:cNvSpPr txBox="1"/>
          <p:nvPr/>
        </p:nvSpPr>
        <p:spPr>
          <a:xfrm>
            <a:off x="9222066" y="2895549"/>
            <a:ext cx="626364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diagram:path-label"/>
          <p:cNvSpPr txBox="1"/>
          <p:nvPr/>
        </p:nvSpPr>
        <p:spPr>
          <a:xfrm>
            <a:off x="9221266" y="4258005"/>
            <a:ext cx="492633" cy="17627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障害発生から、業務やサービスの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再開までに許容する目標時間です。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4:textLayout xmlns:ns2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名称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586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270383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274955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02844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36703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37160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399491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463677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468249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4961382"/>
            <a:ext cx="5544007" cy="586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20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6:textLayout xmlns:ns66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22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6:textLayout xmlns:ns7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31065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177369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network-lane:sub:business"/>
          <p:cNvSpPr txBox="1"/>
          <p:nvPr/>
        </p:nvSpPr>
        <p:spPr>
          <a:xfrm>
            <a:off x="649224" y="2479121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20953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567257"/>
            <a:ext cx="10972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network-lane:sub:guest"/>
          <p:cNvSpPr txBox="1"/>
          <p:nvPr/>
        </p:nvSpPr>
        <p:spPr>
          <a:xfrm>
            <a:off x="649224" y="3869009"/>
            <a:ext cx="1097280" cy="7772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29313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680289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13561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39141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29029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network-link:physical:2"/>
          <p:cNvCxnSpPr/>
          <p:nvPr/>
        </p:nvCxnSpPr>
        <p:spPr>
          <a:xfrm>
            <a:off x="5797181" y="3375233"/>
            <a:ext cx="178605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2680289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477141" y="4070177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network-link:trunk-label"/>
          <p:cNvSpPr txBox="1"/>
          <p:nvPr/>
        </p:nvSpPr>
        <p:spPr>
          <a:xfrm>
            <a:off x="5961545" y="2991185"/>
            <a:ext cx="1457325" cy="310896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03273" y="2680289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03273" y="4070177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740113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24257"/>
            <a:ext cx="512064" cy="512064"/>
          </a:xfrm>
          <a:prstGeom prst="rect">
            <a:avLst/>
          </a:prstGeom>
        </p:spPr>
      </p:pic>
      <p:sp>
        <p:nvSpPr>
          <p:cNvPr id="33" name="network-node:label"/>
          <p:cNvSpPr txBox="1"/>
          <p:nvPr/>
        </p:nvSpPr>
        <p:spPr>
          <a:xfrm>
            <a:off x="2695536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4" name="Oval 33"/>
          <p:cNvSpPr/>
          <p:nvPr/>
        </p:nvSpPr>
        <p:spPr>
          <a:xfrm>
            <a:off x="2740113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14145"/>
            <a:ext cx="512064" cy="512064"/>
          </a:xfrm>
          <a:prstGeom prst="rect">
            <a:avLst/>
          </a:prstGeom>
        </p:spPr>
      </p:pic>
      <p:sp>
        <p:nvSpPr>
          <p:cNvPr id="36" name="network-node:label"/>
          <p:cNvSpPr txBox="1"/>
          <p:nvPr/>
        </p:nvSpPr>
        <p:spPr>
          <a:xfrm>
            <a:off x="2582379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7" name="Oval 36"/>
          <p:cNvSpPr/>
          <p:nvPr/>
        </p:nvSpPr>
        <p:spPr>
          <a:xfrm>
            <a:off x="5166245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19201"/>
            <a:ext cx="512064" cy="512064"/>
          </a:xfrm>
          <a:prstGeom prst="rect">
            <a:avLst/>
          </a:prstGeom>
        </p:spPr>
      </p:pic>
      <p:sp>
        <p:nvSpPr>
          <p:cNvPr id="39" name="network-node:label"/>
          <p:cNvSpPr txBox="1"/>
          <p:nvPr/>
        </p:nvSpPr>
        <p:spPr>
          <a:xfrm>
            <a:off x="5101094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40" name="Oval 39"/>
          <p:cNvSpPr/>
          <p:nvPr/>
        </p:nvSpPr>
        <p:spPr>
          <a:xfrm>
            <a:off x="7592377" y="306433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19201"/>
            <a:ext cx="512064" cy="512064"/>
          </a:xfrm>
          <a:prstGeom prst="rect">
            <a:avLst/>
          </a:prstGeom>
        </p:spPr>
      </p:pic>
      <p:sp>
        <p:nvSpPr>
          <p:cNvPr id="42" name="network-node:label"/>
          <p:cNvSpPr txBox="1"/>
          <p:nvPr/>
        </p:nvSpPr>
        <p:spPr>
          <a:xfrm>
            <a:off x="7527226" y="3704417"/>
            <a:ext cx="752094" cy="158305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3" name="Oval 42"/>
          <p:cNvSpPr/>
          <p:nvPr/>
        </p:nvSpPr>
        <p:spPr>
          <a:xfrm>
            <a:off x="10018509" y="2369393"/>
            <a:ext cx="621792" cy="621792"/>
          </a:xfrm>
          <a:prstGeom prst="ellipse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24257"/>
            <a:ext cx="512064" cy="512064"/>
          </a:xfrm>
          <a:prstGeom prst="rect">
            <a:avLst/>
          </a:prstGeom>
        </p:spPr>
      </p:pic>
      <p:sp>
        <p:nvSpPr>
          <p:cNvPr id="45" name="network-node:label"/>
          <p:cNvSpPr txBox="1"/>
          <p:nvPr/>
        </p:nvSpPr>
        <p:spPr>
          <a:xfrm>
            <a:off x="9973932" y="3009473"/>
            <a:ext cx="710946" cy="158305"/>
          </a:xfrm>
          <a:prstGeom prst="rect">
            <a:avLst/>
          </a:prstGeom>
          <a:solidFill>
            <a:srgbClr val="D9EBE8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6" name="Oval 45"/>
          <p:cNvSpPr/>
          <p:nvPr/>
        </p:nvSpPr>
        <p:spPr>
          <a:xfrm>
            <a:off x="10018509" y="3759281"/>
            <a:ext cx="621792" cy="621792"/>
          </a:xfrm>
          <a:prstGeom prst="ellipse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14145"/>
            <a:ext cx="512064" cy="512064"/>
          </a:xfrm>
          <a:prstGeom prst="rect">
            <a:avLst/>
          </a:prstGeom>
        </p:spPr>
      </p:pic>
      <p:sp>
        <p:nvSpPr>
          <p:cNvPr id="48" name="network-node:label"/>
          <p:cNvSpPr txBox="1"/>
          <p:nvPr/>
        </p:nvSpPr>
        <p:spPr>
          <a:xfrm>
            <a:off x="9860775" y="4399361"/>
            <a:ext cx="937260" cy="158305"/>
          </a:xfrm>
          <a:prstGeom prst="rect">
            <a:avLst/>
          </a:prstGeom>
          <a:solidFill>
            <a:srgbClr val="E4E9EE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76072" y="6126479"/>
            <a:ext cx="256032" cy="0"/>
          </a:xfrm>
          <a:prstGeom prst="line">
            <a:avLst/>
          </a:prstGeom>
          <a:ln w="1905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network-legend:physical"/>
          <p:cNvSpPr txBox="1"/>
          <p:nvPr/>
        </p:nvSpPr>
        <p:spPr>
          <a:xfrm>
            <a:off x="905256" y="6044183"/>
            <a:ext cx="814959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物理リンク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939671" y="6126479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network-legend:access"/>
          <p:cNvSpPr txBox="1"/>
          <p:nvPr/>
        </p:nvSpPr>
        <p:spPr>
          <a:xfrm>
            <a:off x="2268855" y="6044183"/>
            <a:ext cx="1792224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Access（単一セグメント）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280535" y="6089903"/>
            <a:ext cx="2560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280535" y="6163055"/>
            <a:ext cx="2560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network-legend:trunk"/>
          <p:cNvSpPr txBox="1"/>
          <p:nvPr/>
        </p:nvSpPr>
        <p:spPr>
          <a:xfrm>
            <a:off x="4609719" y="6044183"/>
            <a:ext cx="1720215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Trunk（複数セグメント）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sp>
        <p:nvSpPr>
          <p:cNvPr id="6" name="protocol-state-flow:legend:protocol-state-flow:marker:plain"/>
          <p:cNvSpPr/>
          <p:nvPr/>
        </p:nvSpPr>
        <p:spPr>
          <a:xfrm>
            <a:off x="502920" y="1855724"/>
            <a:ext cx="38404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tocol-state-flow:legend:plain"/>
          <p:cNvSpPr txBox="1"/>
          <p:nvPr/>
        </p:nvSpPr>
        <p:spPr>
          <a:xfrm>
            <a:off x="996696" y="1855724"/>
            <a:ext cx="530352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通常の値</a:t>
            </a:r>
          </a:p>
        </p:txBody>
      </p:sp>
      <p:sp>
        <p:nvSpPr>
          <p:cNvPr id="8" name="protocol-state-flow:legend:protocol-state-flow:marker:internal"/>
          <p:cNvSpPr/>
          <p:nvPr/>
        </p:nvSpPr>
        <p:spPr>
          <a:xfrm>
            <a:off x="1764792" y="1928876"/>
            <a:ext cx="38404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tocol-state-flow:legend:internal"/>
          <p:cNvSpPr txBox="1"/>
          <p:nvPr/>
        </p:nvSpPr>
        <p:spPr>
          <a:xfrm>
            <a:off x="2258568" y="1855724"/>
            <a:ext cx="77724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装置内部処理</a:t>
            </a:r>
          </a:p>
        </p:txBody>
      </p:sp>
      <p:sp>
        <p:nvSpPr>
          <p:cNvPr id="10" name="protocol-state-flow:legend:change"/>
          <p:cNvSpPr txBox="1"/>
          <p:nvPr/>
        </p:nvSpPr>
        <p:spPr>
          <a:xfrm>
            <a:off x="3273552" y="1855724"/>
            <a:ext cx="8415223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下線：直前から値・付加情報が変化</a:t>
            </a:r>
          </a:p>
        </p:txBody>
      </p:sp>
      <p:pic>
        <p:nvPicPr>
          <p:cNvPr id="11" name="Picture 1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223977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13" name="Picture 12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223977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666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5" name="Picture 14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223977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70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7" name="layout-background:protocol-state-flow:stage:internet"/>
          <p:cNvSpPr/>
          <p:nvPr/>
        </p:nvSpPr>
        <p:spPr>
          <a:xfrm>
            <a:off x="7805135" y="2898140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2239772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874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20" name="Picture 19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223977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978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22" name="layout-background:protocol-state-flow:track:0"/>
          <p:cNvSpPr/>
          <p:nvPr/>
        </p:nvSpPr>
        <p:spPr>
          <a:xfrm>
            <a:off x="502920" y="2971292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54172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67786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271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375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479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583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rotocol-state-flow:marker:plain"/>
          <p:cNvSpPr/>
          <p:nvPr/>
        </p:nvSpPr>
        <p:spPr>
          <a:xfrm>
            <a:off x="22579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rotocol-state-flow:value:unchanged:0:client"/>
          <p:cNvSpPr txBox="1"/>
          <p:nvPr/>
        </p:nvSpPr>
        <p:spPr>
          <a:xfrm>
            <a:off x="1883664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83664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32" name="protocol-state-flow:marker:plain"/>
          <p:cNvSpPr/>
          <p:nvPr/>
        </p:nvSpPr>
        <p:spPr>
          <a:xfrm>
            <a:off x="42683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rotocol-state-flow:value:unchanged:0:inside"/>
          <p:cNvSpPr txBox="1"/>
          <p:nvPr/>
        </p:nvSpPr>
        <p:spPr>
          <a:xfrm>
            <a:off x="38940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40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5" name="protocol-state-flow:marker:internal"/>
          <p:cNvSpPr/>
          <p:nvPr/>
        </p:nvSpPr>
        <p:spPr>
          <a:xfrm>
            <a:off x="6278727" y="3209036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rotocol-state-flow:value:changed:0:nat"/>
          <p:cNvSpPr txBox="1"/>
          <p:nvPr/>
        </p:nvSpPr>
        <p:spPr>
          <a:xfrm>
            <a:off x="59044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44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8" name="protocol-state-flow:marker:plain"/>
          <p:cNvSpPr/>
          <p:nvPr/>
        </p:nvSpPr>
        <p:spPr>
          <a:xfrm>
            <a:off x="82891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rotocol-state-flow:value:unchanged:0:internet"/>
          <p:cNvSpPr txBox="1"/>
          <p:nvPr/>
        </p:nvSpPr>
        <p:spPr>
          <a:xfrm>
            <a:off x="79148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48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41" name="protocol-state-flow:marker:plain"/>
          <p:cNvSpPr/>
          <p:nvPr/>
        </p:nvSpPr>
        <p:spPr>
          <a:xfrm>
            <a:off x="102995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rotocol-state-flow:value:unchanged:0:server"/>
          <p:cNvSpPr txBox="1"/>
          <p:nvPr/>
        </p:nvSpPr>
        <p:spPr>
          <a:xfrm>
            <a:off x="99252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52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6:textLayout xmlns:ns11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44" name="layout-background:protocol-state-flow:track:1"/>
          <p:cNvSpPr/>
          <p:nvPr/>
        </p:nvSpPr>
        <p:spPr>
          <a:xfrm>
            <a:off x="502920" y="4013708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965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1:textLayout xmlns:ns12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410202"/>
            <a:ext cx="1115568" cy="408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2271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2375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2479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2583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protocol-state-flow:marker:plain"/>
          <p:cNvSpPr/>
          <p:nvPr/>
        </p:nvSpPr>
        <p:spPr>
          <a:xfrm>
            <a:off x="22579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rotocol-state-flow:value:unchanged:1:client"/>
          <p:cNvSpPr txBox="1"/>
          <p:nvPr/>
        </p:nvSpPr>
        <p:spPr>
          <a:xfrm>
            <a:off x="1883664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83664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54" name="protocol-state-flow:marker:plain"/>
          <p:cNvSpPr/>
          <p:nvPr/>
        </p:nvSpPr>
        <p:spPr>
          <a:xfrm>
            <a:off x="42683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rotocol-state-flow:value:unchanged:1:inside"/>
          <p:cNvSpPr txBox="1"/>
          <p:nvPr/>
        </p:nvSpPr>
        <p:spPr>
          <a:xfrm>
            <a:off x="38940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940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7" name="protocol-state-flow:marker:internal"/>
          <p:cNvSpPr/>
          <p:nvPr/>
        </p:nvSpPr>
        <p:spPr>
          <a:xfrm>
            <a:off x="6278727" y="4251452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protocol-state-flow:value:unchanged:1:nat"/>
          <p:cNvSpPr txBox="1"/>
          <p:nvPr/>
        </p:nvSpPr>
        <p:spPr>
          <a:xfrm>
            <a:off x="59044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044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60" name="protocol-state-flow:marker:plain"/>
          <p:cNvSpPr/>
          <p:nvPr/>
        </p:nvSpPr>
        <p:spPr>
          <a:xfrm>
            <a:off x="82891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rotocol-state-flow:value:unchanged:1:internet"/>
          <p:cNvSpPr txBox="1"/>
          <p:nvPr/>
        </p:nvSpPr>
        <p:spPr>
          <a:xfrm>
            <a:off x="79148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148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0:textLayout xmlns:ns17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63" name="protocol-state-flow:marker:plain"/>
          <p:cNvSpPr/>
          <p:nvPr/>
        </p:nvSpPr>
        <p:spPr>
          <a:xfrm>
            <a:off x="102995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rotocol-state-flow:value:unchanged:1:server"/>
          <p:cNvSpPr txBox="1"/>
          <p:nvPr/>
        </p:nvSpPr>
        <p:spPr>
          <a:xfrm>
            <a:off x="99252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5:textLayout xmlns:ns17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252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0:textLayout xmlns:ns18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85:textLayout xmlns:ns18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0:textLayout xmlns:ns19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protocol-anatomy:scale-note"/>
          <p:cNvSpPr txBox="1"/>
          <p:nvPr/>
        </p:nvSpPr>
        <p:spPr>
          <a:xfrm>
            <a:off x="502920" y="1855724"/>
            <a:ext cx="11185855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幅はbit数に比例しない概念図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9" name="protocol-anatomy:annotation:0:seq"/>
          <p:cNvCxnSpPr/>
          <p:nvPr/>
        </p:nvCxnSpPr>
        <p:spPr>
          <a:xfrm flipH="1">
            <a:off x="685800" y="2971292"/>
            <a:ext cx="3392081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3081020"/>
            <a:ext cx="6080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5860" y="3081020"/>
            <a:ext cx="2931566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2" name="protocol-anatomy:annotation:0:ack"/>
          <p:cNvCxnSpPr/>
          <p:nvPr/>
        </p:nvCxnSpPr>
        <p:spPr>
          <a:xfrm flipH="1">
            <a:off x="4481474" y="2971292"/>
            <a:ext cx="702145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98594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5" name="protocol-anatomy:annotation:0:flags"/>
          <p:cNvCxnSpPr/>
          <p:nvPr/>
        </p:nvCxnSpPr>
        <p:spPr>
          <a:xfrm>
            <a:off x="6031382" y="2971292"/>
            <a:ext cx="2245766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94268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3180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2:textLayout xmlns:ns12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80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5167" y="2912546"/>
            <a:ext cx="9948672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sequence-phase-label:0"/>
          <p:cNvSpPr txBox="1"/>
          <p:nvPr/>
        </p:nvSpPr>
        <p:spPr>
          <a:xfrm>
            <a:off x="764895" y="2949122"/>
            <a:ext cx="1097280" cy="512064"/>
          </a:xfrm>
          <a:prstGeom prst="rect">
            <a:avLst/>
          </a:prstGeom>
          <a:solidFill>
            <a:srgbClr val="DFEBE8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655167" y="5107106"/>
            <a:ext cx="9948672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sequence-phase-label:1"/>
          <p:cNvSpPr txBox="1"/>
          <p:nvPr/>
        </p:nvSpPr>
        <p:spPr>
          <a:xfrm>
            <a:off x="764895" y="5143682"/>
            <a:ext cx="1097280" cy="512064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equence-message-line:detect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sequence-message-line:request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sequence-message-line:reply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sequence-message-line:logs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sequence-message-line:isolate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sequence-message-line:carrier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sequence-message-line:recover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5875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sequence-message-line:report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5875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6:textLayout xmlns:ns10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