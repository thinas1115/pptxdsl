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従来 (分)</c:v>
                </c:pt>
              </c:strCache>
            </c:strRef>
          </c:tx>
          <c:spPr>
            <a:solidFill>
              <a:srgbClr val="666E70"/>
            </a:solidFill>
          </c:spPr>
          <c:cat>
            <c:strRef>
              <c:f>Sheet1!$A$2:$A$5</c:f>
              <c:strCache>
                <c:ptCount val="4"/>
                <c:pt idx="0">
                  <c:v>週次報告</c:v>
                </c:pt>
                <c:pt idx="1">
                  <c:v>月次レビュー</c:v>
                </c:pt>
                <c:pt idx="2">
                  <c:v>調査サマリ</c:v>
                </c:pt>
                <c:pt idx="3">
                  <c:v>役員向け抜粋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120</c:v>
                </c:pt>
                <c:pt idx="2">
                  <c:v>240</c:v>
                </c:pt>
                <c:pt idx="3">
                  <c:v>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生成後 (分)</c:v>
                </c:pt>
              </c:strCache>
            </c:strRef>
          </c:tx>
          <c:spPr>
            <a:solidFill>
              <a:srgbClr val="0D7870"/>
            </a:solidFill>
          </c:spPr>
          <c:cat>
            <c:strRef>
              <c:f>Sheet1!$A$2:$A$5</c:f>
              <c:strCache>
                <c:ptCount val="4"/>
                <c:pt idx="0">
                  <c:v>週次報告</c:v>
                </c:pt>
                <c:pt idx="1">
                  <c:v>月次レビュー</c:v>
                </c:pt>
                <c:pt idx="2">
                  <c:v>調査サマリ</c:v>
                </c:pt>
                <c:pt idx="3">
                  <c:v>役員向け抜粋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13</c:v>
                </c:pt>
                <c:pt idx="1">
                  <c:v>42</c:v>
                </c:pt>
                <c:pt idx="2">
                  <c:v>85</c:v>
                </c:pt>
                <c:pt idx="3">
                  <c:v>28</c:v>
                </c:pt>
              </c:numCache>
            </c:numRef>
          </c:val>
        </c:ser>
        <c:dLbls>
          <c:txPr>
            <a:bodyPr/>
            <a:lstStyle/>
            <a:p>
              <a:pPr>
                <a:defRPr sz="11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6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 w="762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latin typeface="Yu Gothi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利用率</c:v>
                </c:pt>
              </c:strCache>
            </c:strRef>
          </c:tx>
          <c:spPr>
            <a:ln w="25400">
              <a:solidFill>
                <a:srgbClr val="666E70"/>
              </a:solidFill>
            </a:ln>
          </c:spPr>
          <c:marker>
            <c:spPr>
              <a:solidFill>
                <a:srgbClr val="666E70"/>
              </a:solidFill>
              <a:ln>
                <a:solidFill>
                  <a:srgbClr val="666E70"/>
                </a:solidFill>
              </a:ln>
            </c:spPr>
          </c:marker>
          <c:cat>
            <c:strRef>
              <c:f>Sheet1!$A$2:$A$10</c:f>
              <c:strCache>
                <c:ptCount val="9"/>
                <c:pt idx="0">
                  <c:v>4月</c:v>
                </c:pt>
                <c:pt idx="1">
                  <c:v>5月</c:v>
                </c:pt>
                <c:pt idx="2">
                  <c:v>6月</c:v>
                </c:pt>
                <c:pt idx="3">
                  <c:v>7月</c:v>
                </c:pt>
                <c:pt idx="4">
                  <c:v>8月</c:v>
                </c:pt>
                <c:pt idx="5">
                  <c:v>9月</c:v>
                </c:pt>
                <c:pt idx="6">
                  <c:v>10月</c:v>
                </c:pt>
                <c:pt idx="7">
                  <c:v>11月</c:v>
                </c:pt>
                <c:pt idx="8">
                  <c:v>12月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25</c:v>
                </c:pt>
                <c:pt idx="3">
                  <c:v>31</c:v>
                </c:pt>
                <c:pt idx="4">
                  <c:v>44</c:v>
                </c:pt>
                <c:pt idx="5">
                  <c:v>52</c:v>
                </c:pt>
                <c:pt idx="6">
                  <c:v>61</c:v>
                </c:pt>
                <c:pt idx="7">
                  <c:v>67</c:v>
                </c:pt>
                <c:pt idx="8">
                  <c:v>74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目標</c:v>
                </c:pt>
              </c:strCache>
            </c:strRef>
          </c:tx>
          <c:spPr>
            <a:ln w="25400">
              <a:solidFill>
                <a:srgbClr val="0D7870"/>
              </a:solidFill>
            </a:ln>
          </c:spPr>
          <c:marker>
            <c:spPr>
              <a:solidFill>
                <a:srgbClr val="0D7870"/>
              </a:solidFill>
              <a:ln>
                <a:solidFill>
                  <a:srgbClr val="0D7870"/>
                </a:solidFill>
              </a:ln>
            </c:spPr>
          </c:marker>
          <c:cat>
            <c:strRef>
              <c:f>Sheet1!$A$2:$A$10</c:f>
              <c:strCache>
                <c:ptCount val="9"/>
                <c:pt idx="0">
                  <c:v>4月</c:v>
                </c:pt>
                <c:pt idx="1">
                  <c:v>5月</c:v>
                </c:pt>
                <c:pt idx="2">
                  <c:v>6月</c:v>
                </c:pt>
                <c:pt idx="3">
                  <c:v>7月</c:v>
                </c:pt>
                <c:pt idx="4">
                  <c:v>8月</c:v>
                </c:pt>
                <c:pt idx="5">
                  <c:v>9月</c:v>
                </c:pt>
                <c:pt idx="6">
                  <c:v>10月</c:v>
                </c:pt>
                <c:pt idx="7">
                  <c:v>11月</c:v>
                </c:pt>
                <c:pt idx="8">
                  <c:v>12月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20</c:v>
                </c:pt>
                <c:pt idx="1">
                  <c:v>25</c:v>
                </c:pt>
                <c:pt idx="2">
                  <c:v>30</c:v>
                </c:pt>
                <c:pt idx="3">
                  <c:v>35</c:v>
                </c:pt>
                <c:pt idx="4">
                  <c:v>40</c:v>
                </c:pt>
                <c:pt idx="5">
                  <c:v>50</c:v>
                </c:pt>
                <c:pt idx="6">
                  <c:v>60</c:v>
                </c:pt>
                <c:pt idx="7">
                  <c:v>70</c:v>
                </c:pt>
                <c:pt idx="8">
                  <c:v>80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noFill/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762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latin typeface="Yu Gothic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作成</c:v>
                </c:pt>
              </c:strCache>
            </c:strRef>
          </c:tx>
          <c:spPr>
            <a:solidFill>
              <a:srgbClr val="666E70"/>
            </a:solidFill>
          </c:spPr>
          <c:cat>
            <c:strRef>
              <c:f>Sheet1!$A$2:$A$4</c:f>
              <c:strCache>
                <c:ptCount val="3"/>
                <c:pt idx="0">
                  <c:v>導入前</c:v>
                </c:pt>
                <c:pt idx="1">
                  <c:v>試行中</c:v>
                </c:pt>
                <c:pt idx="2">
                  <c:v>標準化後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70</c:v>
                </c:pt>
                <c:pt idx="1">
                  <c:v>38</c:v>
                </c:pt>
                <c:pt idx="2">
                  <c:v>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レビュー</c:v>
                </c:pt>
              </c:strCache>
            </c:strRef>
          </c:tx>
          <c:spPr>
            <a:solidFill>
              <a:srgbClr val="0D7870"/>
            </a:solidFill>
          </c:spPr>
          <c:cat>
            <c:strRef>
              <c:f>Sheet1!$A$2:$A$4</c:f>
              <c:strCache>
                <c:ptCount val="3"/>
                <c:pt idx="0">
                  <c:v>導入前</c:v>
                </c:pt>
                <c:pt idx="1">
                  <c:v>試行中</c:v>
                </c:pt>
                <c:pt idx="2">
                  <c:v>標準化後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20</c:v>
                </c:pt>
                <c:pt idx="1">
                  <c:v>32</c:v>
                </c:pt>
                <c:pt idx="2">
                  <c:v>42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意思決定</c:v>
                </c:pt>
              </c:strCache>
            </c:strRef>
          </c:tx>
          <c:spPr>
            <a:solidFill>
              <a:srgbClr val="C7583E"/>
            </a:solidFill>
          </c:spPr>
          <c:cat>
            <c:strRef>
              <c:f>Sheet1!$A$2:$A$4</c:f>
              <c:strCache>
                <c:ptCount val="3"/>
                <c:pt idx="0">
                  <c:v>導入前</c:v>
                </c:pt>
                <c:pt idx="1">
                  <c:v>試行中</c:v>
                </c:pt>
                <c:pt idx="2">
                  <c:v>標準化後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10</c:v>
                </c:pt>
                <c:pt idx="1">
                  <c:v>30</c:v>
                </c:pt>
                <c:pt idx="2">
                  <c:v>40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6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noFill/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762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latin typeface="Yu Gothic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7.png"/><Relationship Id="rId8" Type="http://schemas.openxmlformats.org/officeDocument/2006/relationships/image" Target="../media/image12.png"/><Relationship Id="rId9" Type="http://schemas.openxmlformats.org/officeDocument/2006/relationships/image" Target="../media/image1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4.png"/><Relationship Id="rId6" Type="http://schemas.openxmlformats.org/officeDocument/2006/relationships/image" Target="../media/image21.png"/><Relationship Id="rId7" Type="http://schemas.openxmlformats.org/officeDocument/2006/relationships/image" Target="../media/image22.png"/><Relationship Id="rId8" Type="http://schemas.openxmlformats.org/officeDocument/2006/relationships/image" Target="../media/image2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4.png"/><Relationship Id="rId6" Type="http://schemas.openxmlformats.org/officeDocument/2006/relationships/image" Target="../media/image26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ver Background" descr="cover-background.png"/>
          <p:cNvPicPr>
            <a:picLocks noChangeAspect="1"/>
          </p:cNvPicPr>
          <p:nvPr/>
        </p:nvPicPr>
        <p:blipFill>
          <a:blip r:embed="rId2"/>
          <a:srcRect t="25" b="2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572768"/>
            <a:ext cx="7360920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社内スライド</a:t>
            </a:r>
          </a:p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パターンライブラリ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3163824"/>
            <a:ext cx="7315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7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意思決定からシステム構成まで、21の標準レイアウトを検証</a:t>
            </a:r>
          </a:p>
        </p:txBody>
      </p:sp>
      <p:sp>
        <p:nvSpPr>
          <p:cNvPr id="6" name="Rectangle 5"/>
          <p:cNvSpPr/>
          <p:nvPr/>
        </p:nvSpPr>
        <p:spPr>
          <a:xfrm>
            <a:off x="8641080" y="1536192"/>
            <a:ext cx="10972" cy="3186684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79408" y="166420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79408" y="197510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2026年7月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79408" y="2752344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ORGANIZATION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79408" y="3063239"/>
            <a:ext cx="2148840" cy="4069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業務企画本部</a:t>
            </a:r>
          </a:p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業務改善推進部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79408" y="397306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AUTHOR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9408" y="428396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業務改善検討チーム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検証方針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LLMは構造化、rendererは提出品質を担う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2366924"/>
            <a:ext cx="56692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36192" y="2430932"/>
            <a:ext cx="9281160" cy="3520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文言・項目・強調は content 側に寄せ、座標や余白は renderer 側に閉じ込める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1536192" y="2846984"/>
            <a:ext cx="9281160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3084728"/>
            <a:ext cx="56692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36192" y="3148736"/>
            <a:ext cx="9281160" cy="3520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汎用エンジン化しすぎず、よく使うスライド種別をカタログとして増やす</a:t>
            </a:r>
          </a:p>
        </p:txBody>
      </p:sp>
      <p:sp>
        <p:nvSpPr>
          <p:cNvPr id="10" name="Rectangle 9"/>
          <p:cNvSpPr/>
          <p:nvPr/>
        </p:nvSpPr>
        <p:spPr>
          <a:xfrm>
            <a:off x="1536192" y="3564788"/>
            <a:ext cx="9281160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3802532"/>
            <a:ext cx="56692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36192" y="3866540"/>
            <a:ext cx="9281160" cy="3520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PowerPoint 実レンダリングと機械検知を品質ゲートにして、崩れを早期に発見する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要点整理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判断に必要な4つの要点を、読み順に沿って整理する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65376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89888" y="1837944"/>
            <a:ext cx="3611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目的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89888" y="2560320"/>
            <a:ext cx="3749039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何を判断してほしいかを1文で示し、</a:t>
            </a:r>
          </a:p>
          <a:p>
            <a:pPr algn="l">
              <a:lnSpc>
                <a:spcPct val="128000"/>
              </a:lnSpc>
            </a:pPr>
            <a:r>
              <a:rPr sz="16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読み手の視点を揃える。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70448" y="1883664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865376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304288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事実・制約・既に分かっていることを短く置く。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907791"/>
            <a:ext cx="4791456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70448" y="3081528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063240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示唆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502152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現状から言えることを、推測と事実を分けて整理する。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4105656"/>
            <a:ext cx="4791456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70448" y="4279392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261104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次アクション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700016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誰が・いつまでに・何をするかを明確にする。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KPIスナップショット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KPIは数値を主役にし、判断材料を添える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作成時間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-72%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週次報告の作成時間が平均45分から13分に短縮。下書き作成の自動化が主因。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233672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43984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手直し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3984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8分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984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生成後の確認と語尾修正に平均8分。テンプレート崩れは検出なし。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64424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74736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再利用率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74736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64%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4736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一度作った構造化データを翌週も流用でき、定型資料ほど効果が高い。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Before / After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導入前後の違いを、同じ観点で比較する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719072"/>
            <a:ext cx="5212080" cy="324307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2416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現状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</a:t>
            </a:r>
          </a:p>
        </p:txBody>
      </p:sp>
      <p:sp>
        <p:nvSpPr>
          <p:cNvPr id="8" name="Rectangle 7"/>
          <p:cNvSpPr/>
          <p:nvPr/>
        </p:nvSpPr>
        <p:spPr>
          <a:xfrm>
            <a:off x="1042416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4752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担当者ごとにスライド構成がばらつき、レビュー観点も揃わない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44752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4752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グラフや表の貼り付け後に、余白・フォント・禁則を手作業で直す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44752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4752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過去資料をコピーして使うため、古い文言や注記が残りやすい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91072" y="1719072"/>
            <a:ext cx="5212080" cy="324307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38544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目標状態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8544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38544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38544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入力schemaに沿って文言を作るため、構成の揺れを抑えられる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40880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8544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rendererが余白・フォント・描画順を決め、提出前の確認に集中できる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40880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38544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品質ゲートで重なりやはみ出しを検知し、修正箇所を特定しやすい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選定理由と見送り理由を、同じ粒度で比較する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90979"/>
          <a:ext cx="11185852" cy="35112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79167"/>
                <a:gridCol w="2693004"/>
                <a:gridCol w="3313759"/>
                <a:gridCol w="2899922"/>
              </a:tblGrid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方式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向いている用途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強み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注意点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renderer カタログ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社内標準資料・定型報告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品質を詰めた型を再利用できる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新しい型は実装が必要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万能宣言レイアウト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図の大量バリエーション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座標指定を減らせる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エンジンが複雑化しやすい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手作業PPT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一点物の重要提案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細部まで作り込める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再現性と量産性が低い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効果測定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資料作成時間を最大72%短縮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10789920" cy="4379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利用推移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月次利用率は、試行開始から継続的に上昇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10789920" cy="4379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工数内訳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自動化後は、作成よりレビューへ時間を配分できる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10789920" cy="4379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構成比を示すサンプル。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画面イメージ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画面キャプチャを、スライドの主役として大きく見せる</a:t>
            </a:r>
          </a:p>
        </p:txBody>
      </p:sp>
      <p:pic>
        <p:nvPicPr>
          <p:cNvPr id="5" name="ContentImage" descr="GitHubで公開されているpptxdslリポジトリのトップ画面"/>
          <p:cNvPicPr>
            <a:picLocks noChangeAspect="1"/>
          </p:cNvPicPr>
          <p:nvPr/>
        </p:nvPicPr>
        <p:blipFill>
          <a:blip r:embed="rId2"/>
          <a:srcRect t="7889" b="7889"/>
          <a:stretch>
            <a:fillRect/>
          </a:stretch>
        </p:blipFill>
        <p:spPr>
          <a:xfrm>
            <a:off x="658368" y="1499616"/>
            <a:ext cx="10874959" cy="4727448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標準プロセス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資料生成は5つの工程で品質を担保する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784908" y="2212848"/>
            <a:ext cx="8573414" cy="3200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01444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1444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入力整理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目的・読み手・必須メッセージを整理する。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資料要件</a:t>
            </a:r>
          </a:p>
        </p:txBody>
      </p:sp>
      <p:sp>
        <p:nvSpPr>
          <p:cNvPr id="12" name="Oval 11"/>
          <p:cNvSpPr/>
          <p:nvPr/>
        </p:nvSpPr>
        <p:spPr>
          <a:xfrm>
            <a:off x="3644798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4798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48025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構造化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2033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schemaに沿ってスライド種別と文言を作る。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3745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METHOD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3745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schema</a:t>
            </a:r>
          </a:p>
        </p:txBody>
      </p:sp>
      <p:sp>
        <p:nvSpPr>
          <p:cNvPr id="18" name="Oval 17"/>
          <p:cNvSpPr/>
          <p:nvPr/>
        </p:nvSpPr>
        <p:spPr>
          <a:xfrm>
            <a:off x="5788152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88152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91379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55387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rendererがPPTXを決定論的に出力する。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37099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OUTPUT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7099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PPTX</a:t>
            </a:r>
          </a:p>
        </p:txBody>
      </p:sp>
      <p:sp>
        <p:nvSpPr>
          <p:cNvPr id="24" name="Oval 23"/>
          <p:cNvSpPr/>
          <p:nvPr/>
        </p:nvSpPr>
        <p:spPr>
          <a:xfrm>
            <a:off x="7931505" y="1947672"/>
            <a:ext cx="566928" cy="56692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31505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3473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検証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9874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機械検知と目視で崩れを確認する。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045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CHECK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8045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機械 + 目視</a:t>
            </a:r>
          </a:p>
        </p:txBody>
      </p:sp>
      <p:sp>
        <p:nvSpPr>
          <p:cNvPr id="30" name="Oval 29"/>
          <p:cNvSpPr/>
          <p:nvPr/>
        </p:nvSpPr>
        <p:spPr>
          <a:xfrm>
            <a:off x="10074859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74859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78086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2094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contentを直して再生成し、提出する。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23806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STATE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23806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提出可能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承認フロー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通常の承認経路と差戻しを、迷わず追える形で示す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994660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843016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691372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691372" y="2517343"/>
            <a:ext cx="256032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947404" y="2517343"/>
            <a:ext cx="0" cy="1316736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947404" y="3834079"/>
            <a:ext cx="25603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371582" y="4327855"/>
            <a:ext cx="0" cy="384048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4674870" y="4711903"/>
            <a:ext cx="569671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674870" y="3011119"/>
            <a:ext cx="0" cy="17007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58368" y="2023567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申請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必要事項を登録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06724" y="2023567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34740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形式確認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43884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不足項目を確認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43884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事務局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55080" y="2023567"/>
            <a:ext cx="2336292" cy="987552"/>
          </a:xfrm>
          <a:prstGeom prst="rect">
            <a:avLst/>
          </a:prstGeom>
          <a:solidFill>
            <a:srgbClr val="DFEBE8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3096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内容審査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妥当性とリスクを確認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審査部門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03436" y="2023567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31452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40596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承認内容に沿って着手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0596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実施部門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203436" y="3340303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31452" y="3459175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修正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0596" y="3797503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指摘事項を反映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0596" y="4080967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88527" y="2439682"/>
            <a:ext cx="317754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31948" y="3756418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要修正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07770" y="4634242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再申請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展開計画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12か月で型の整備から全社標準へ移行する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64208"/>
            <a:ext cx="2423160" cy="438912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737360"/>
            <a:ext cx="2093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フェーズ</a:t>
            </a:r>
          </a:p>
        </p:txBody>
      </p:sp>
      <p:sp>
        <p:nvSpPr>
          <p:cNvPr id="7" name="Rectangle 6"/>
          <p:cNvSpPr/>
          <p:nvPr/>
        </p:nvSpPr>
        <p:spPr>
          <a:xfrm>
            <a:off x="3081528" y="1664208"/>
            <a:ext cx="8430768" cy="438912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81528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84092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84092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6656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6656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89220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89220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91784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91784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94348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94348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96912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96912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99476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99476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02040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702040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04604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04604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107168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107168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09732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809732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2103120"/>
            <a:ext cx="10853928" cy="713232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8368" y="2816352"/>
            <a:ext cx="10853928" cy="71323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58368" y="3529584"/>
            <a:ext cx="10853928" cy="713232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4242816"/>
            <a:ext cx="10853928" cy="71323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58368" y="4956048"/>
            <a:ext cx="10853928" cy="713232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3081528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3784092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4486656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5189220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5891784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594348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7296912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7999476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8702040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9404604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0107168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0809732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1512296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658368" y="210312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658368" y="28163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658368" y="352958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658368" y="4242816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658368" y="495604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658368" y="566928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68096" y="2231501"/>
            <a:ext cx="310896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33856" y="2188707"/>
            <a:ext cx="1837943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型の定義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6" y="2502529"/>
            <a:ext cx="183794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主要パターンを選定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127248" y="2274295"/>
            <a:ext cx="1313688" cy="274320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209544" y="2306299"/>
            <a:ext cx="114909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標準レイアウトを定義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68096" y="2944733"/>
            <a:ext cx="310896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33856" y="2901939"/>
            <a:ext cx="1837943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実装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33856" y="3215761"/>
            <a:ext cx="183794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rendererを整備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829812" y="2987527"/>
            <a:ext cx="2016252" cy="274320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912108" y="3019531"/>
            <a:ext cx="18516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生成・検証機能を実装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68096" y="3657965"/>
            <a:ext cx="310896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33856" y="3615171"/>
            <a:ext cx="1837943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現場検証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33856" y="3928993"/>
            <a:ext cx="183794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複数部門で試行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234940" y="3700759"/>
            <a:ext cx="2718816" cy="274320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317236" y="3732763"/>
            <a:ext cx="25542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パイロット運用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" y="4371197"/>
            <a:ext cx="310896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33856" y="4328403"/>
            <a:ext cx="1837943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改善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6" y="4642225"/>
            <a:ext cx="183794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利用結果を反映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342632" y="4413991"/>
            <a:ext cx="2016251" cy="274320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424928" y="4445995"/>
            <a:ext cx="18516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品質・操作性を改善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68096" y="5084429"/>
            <a:ext cx="310896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133856" y="5041635"/>
            <a:ext cx="1837943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33856" y="5355457"/>
            <a:ext cx="183794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全社手順へ組込</a:t>
            </a:r>
          </a:p>
        </p:txBody>
      </p:sp>
      <p:sp>
        <p:nvSpPr>
          <p:cNvPr id="78" name="Rectangle 77"/>
          <p:cNvSpPr/>
          <p:nvPr/>
        </p:nvSpPr>
        <p:spPr>
          <a:xfrm>
            <a:off x="9450324" y="5127223"/>
            <a:ext cx="2016251" cy="274320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532620" y="5159227"/>
            <a:ext cx="18516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標準運用へ移行</a:t>
            </a:r>
          </a:p>
        </p:txBody>
      </p:sp>
      <p:sp>
        <p:nvSpPr>
          <p:cNvPr id="80" name="Diamond 79"/>
          <p:cNvSpPr/>
          <p:nvPr/>
        </p:nvSpPr>
        <p:spPr>
          <a:xfrm>
            <a:off x="4066794" y="2116835"/>
            <a:ext cx="137160" cy="137160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73322" y="2588117"/>
            <a:ext cx="1124102" cy="164592"/>
          </a:xfrm>
          <a:prstGeom prst="rect">
            <a:avLst/>
          </a:prstGeom>
          <a:solidFill>
            <a:srgbClr val="FFFFFC"/>
          </a:solidFill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型レビュー</a:t>
            </a:r>
          </a:p>
        </p:txBody>
      </p:sp>
      <p:sp>
        <p:nvSpPr>
          <p:cNvPr id="82" name="Diamond 81"/>
          <p:cNvSpPr/>
          <p:nvPr/>
        </p:nvSpPr>
        <p:spPr>
          <a:xfrm>
            <a:off x="7579614" y="3543299"/>
            <a:ext cx="137160" cy="137160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086142" y="4014581"/>
            <a:ext cx="1124102" cy="164592"/>
          </a:xfrm>
          <a:prstGeom prst="rect">
            <a:avLst/>
          </a:prstGeom>
          <a:solidFill>
            <a:srgbClr val="FFFFFC"/>
          </a:solidFill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展開判断</a:t>
            </a:r>
          </a:p>
        </p:txBody>
      </p:sp>
      <p:sp>
        <p:nvSpPr>
          <p:cNvPr id="84" name="Diamond 83"/>
          <p:cNvSpPr/>
          <p:nvPr/>
        </p:nvSpPr>
        <p:spPr>
          <a:xfrm>
            <a:off x="11092434" y="4969764"/>
            <a:ext cx="137160" cy="137160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388193" y="5441045"/>
            <a:ext cx="1124102" cy="164592"/>
          </a:xfrm>
          <a:prstGeom prst="rect">
            <a:avLst/>
          </a:prstGeom>
          <a:solidFill>
            <a:srgbClr val="FFFFFC"/>
          </a:solidFill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年間プログラム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5つの改善テーマと並行作業を、年間計画として俯瞰する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457200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478024"/>
            <a:ext cx="10853928" cy="768096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1078992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379976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864608"/>
            <a:ext cx="10853928" cy="76809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9397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7568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利用部門の拡大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405568" y="2098548"/>
            <a:ext cx="166763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3594735" y="213055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対象業務の選定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427338" y="2098548"/>
            <a:ext cx="3052954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9309163" y="213055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追加部門へ展開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58368" y="247802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768096" y="257860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33856" y="256032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デザイン標準化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3232404" y="2583180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3594735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利用要件の整理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617720" y="2894076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5326379" y="2926079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共通仕様の策定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310378" y="2583180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019038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試行版の検証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68096" y="337413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33856" y="335584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運用基盤の再設計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3232404" y="337870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3248406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現状調査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4617720" y="3378708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5326379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移行方針の策定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5310378" y="3689604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6019038" y="372160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新環境の構築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003036" y="4000500"/>
            <a:ext cx="628650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5816155" y="4032504"/>
            <a:ext cx="1002411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運用リハーサル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695694" y="4000500"/>
            <a:ext cx="132130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6855142" y="4032504"/>
            <a:ext cx="1002410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8773667" y="3378708"/>
            <a:ext cx="270662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9482328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旧環境の停止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58368" y="4379976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768096" y="4480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33856" y="4462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外部サービス連携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3925062" y="4485132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394106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方式検討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5310378" y="4485132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5672708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接続開発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7388352" y="4485132"/>
            <a:ext cx="628649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705802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段階展開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658368" y="48646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768096" y="4965192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33856" y="4946904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データ活用基盤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3925062" y="4969764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3941064" y="500176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要件定義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4617720" y="5280660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5326379" y="5312664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基盤構築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7388352" y="4969764"/>
            <a:ext cx="132130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7404353" y="500176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利用検証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8773667" y="4969764"/>
            <a:ext cx="201396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9135999" y="500176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全社展開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658368" y="563270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月途中の開始・終了は1/4月単位で表現する。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優先度整理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提出品質と再利用性から、整備優先度を決める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6192" y="2029968"/>
            <a:ext cx="9601200" cy="3675887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336792" y="2029968"/>
            <a:ext cx="4800600" cy="1837943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00784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個別対応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0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再利用候補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0784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品質改善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0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優先整備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36192" y="5705856"/>
            <a:ext cx="9601200" cy="0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536192" y="2029968"/>
            <a:ext cx="0" cy="3675888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851392" y="585216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再利用性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17904" y="168249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↑ 提出品質</a:t>
            </a:r>
          </a:p>
        </p:txBody>
      </p:sp>
      <p:sp>
        <p:nvSpPr>
          <p:cNvPr id="15" name="Oval 14"/>
          <p:cNvSpPr/>
          <p:nvPr/>
        </p:nvSpPr>
        <p:spPr>
          <a:xfrm>
            <a:off x="3127248" y="3436680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11896" y="2775021"/>
            <a:ext cx="274320" cy="274320"/>
          </a:xfrm>
          <a:prstGeom prst="ellipse">
            <a:avLst/>
          </a:prstGeom>
          <a:solidFill>
            <a:srgbClr val="C7583E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927848" y="3142609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623559" y="3289645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759451" y="2407432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319272" y="4392411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50008" y="3125784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タイトル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34656" y="2464125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要点列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50608" y="344436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比較表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67327" y="355482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ロードマップ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82211" y="2096536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42032" y="4081515"/>
            <a:ext cx="1828800" cy="2834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自由配置図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位置づけはテンプレート整備の優先度を示すサンプル。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関係者調整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運用事務局を中心に、5部門の役割をつなぐ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9048" y="2592324"/>
            <a:ext cx="0" cy="781812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H="1">
            <a:off x="7176017" y="3406003"/>
            <a:ext cx="2580030" cy="316202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 flipV="1">
            <a:off x="6812146" y="4224409"/>
            <a:ext cx="1461842" cy="758932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3924107" y="4224409"/>
            <a:ext cx="1461842" cy="758932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442048" y="3406003"/>
            <a:ext cx="2580030" cy="316202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785866" y="3160908"/>
            <a:ext cx="626364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効果報告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74438" y="3501262"/>
            <a:ext cx="770382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権限 / 監査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928" y="4455022"/>
            <a:ext cx="770382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要件 / 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91928" y="4455022"/>
            <a:ext cx="760095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利用ルール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25284" y="3501262"/>
            <a:ext cx="626364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表現基準</a:t>
            </a:r>
          </a:p>
        </p:txBody>
      </p:sp>
      <p:pic>
        <p:nvPicPr>
          <p:cNvPr id="15" name="Picture 14" descr="brief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988820"/>
            <a:ext cx="585216" cy="5852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821870" y="2619756"/>
            <a:ext cx="55435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経営層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06440" y="2875788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方針承認</a:t>
            </a:r>
          </a:p>
        </p:txBody>
      </p:sp>
      <p:pic>
        <p:nvPicPr>
          <p:cNvPr id="18" name="Picture 17" descr="ser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2026" y="3075575"/>
            <a:ext cx="585216" cy="58521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555999" y="3706511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情報システム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72026" y="3962543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環境管理</a:t>
            </a:r>
          </a:p>
        </p:txBody>
      </p:sp>
      <p:pic>
        <p:nvPicPr>
          <p:cNvPr id="21" name="Picture 20" descr="te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7307" y="4833984"/>
            <a:ext cx="585216" cy="58521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195585" y="4360274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現場部門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9029" y="4625958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利用者</a:t>
            </a:r>
          </a:p>
        </p:txBody>
      </p:sp>
      <p:pic>
        <p:nvPicPr>
          <p:cNvPr id="24" name="Picture 23" descr="shield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55572" y="4833984"/>
            <a:ext cx="585216" cy="58521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3448155" y="4360274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法務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55572" y="4625958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規程確認</a:t>
            </a:r>
          </a:p>
        </p:txBody>
      </p:sp>
      <p:pic>
        <p:nvPicPr>
          <p:cNvPr id="27" name="Picture 26" descr="sen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40853" y="3075575"/>
            <a:ext cx="585216" cy="585216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933436" y="3706511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広報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40853" y="3962543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ブランド</a:t>
            </a:r>
          </a:p>
        </p:txBody>
      </p:sp>
      <p:sp>
        <p:nvSpPr>
          <p:cNvPr id="30" name="Oval 29"/>
          <p:cNvSpPr/>
          <p:nvPr/>
        </p:nvSpPr>
        <p:spPr>
          <a:xfrm>
            <a:off x="4978908" y="3374136"/>
            <a:ext cx="2240280" cy="960120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978908" y="3570732"/>
            <a:ext cx="2240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テンプレート</a:t>
            </a:r>
          </a:p>
          <a:p>
            <a:pPr algn="ctr">
              <a:lnSpc>
                <a:spcPct val="130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運用事務局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推進体制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責任者から各チームまで、指揮系統を明確にする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974439" y="2880360"/>
            <a:ext cx="4242816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974439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217255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095847" y="2880360"/>
            <a:ext cx="0" cy="283464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853145" y="4215383"/>
            <a:ext cx="8485404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95847" y="3931920"/>
            <a:ext cx="0" cy="283463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853145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681613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510081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338549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2008479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6495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プロジェクト責任者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36495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方針・予算を決定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51295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9311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システム責任者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9311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システム方針を決定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21327" y="3163824"/>
            <a:ext cx="3749039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49343" y="3227832"/>
            <a:ext cx="349300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プロジェクトマネージャー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9343" y="3493008"/>
            <a:ext cx="349300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計画・課題・品質を統括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業務チーム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業務要件・受入を担当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22827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50843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開発チーム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50843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設計・開発・試験を担当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51295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79311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基盤チーム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9311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基盤・ネットワークを担当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079763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07779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移行・運用チーム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07779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移行・運用設計を担当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主要コンポーネントとデータの流れを短く示す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39849"/>
            <a:ext cx="6390170" cy="4306823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594713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783433"/>
            <a:ext cx="3713721" cy="1819655"/>
          </a:xfrm>
          <a:prstGeom prst="rect">
            <a:avLst/>
          </a:prstGeom>
          <a:noFill/>
          <a:ln w="15875">
            <a:prstDash val="dash"/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38297"/>
            <a:ext cx="101955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VPC (private)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15537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37779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219759" y="2371953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219759" y="2371953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34175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434175" y="3853281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219759" y="3853281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219759" y="485912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681999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32073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5" y="3944721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7592" y="4200753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ブラウザ</a:t>
            </a:r>
          </a:p>
        </p:txBody>
      </p:sp>
      <p:pic>
        <p:nvPicPr>
          <p:cNvPr id="22" name="Picture 21" descr="al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32073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647998" y="3944721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01707" y="4200753"/>
            <a:ext cx="492633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内部LB</a:t>
            </a:r>
          </a:p>
        </p:txBody>
      </p:sp>
      <p:pic>
        <p:nvPicPr>
          <p:cNvPr id="25" name="Picture 24" descr="farg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32073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44721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ECS Fargate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12333" y="4200753"/>
            <a:ext cx="13670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生成API (python-pptx)</a:t>
            </a:r>
          </a:p>
        </p:txBody>
      </p:sp>
      <p:pic>
        <p:nvPicPr>
          <p:cNvPr id="28" name="Picture 27" descr="bedr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2088489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665300" y="2701137"/>
            <a:ext cx="135674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Bedrock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4152" y="2957169"/>
            <a:ext cx="143903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Claude (構成JSON生成)</a:t>
            </a:r>
          </a:p>
        </p:txBody>
      </p:sp>
      <p:pic>
        <p:nvPicPr>
          <p:cNvPr id="31" name="Picture 30" descr="s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0207" y="3332073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881327" y="3944721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11592" y="4200753"/>
            <a:ext cx="126415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テンプレート/成果物</a:t>
            </a:r>
          </a:p>
        </p:txBody>
      </p:sp>
      <p:pic>
        <p:nvPicPr>
          <p:cNvPr id="34" name="Picture 33" descr="cloudwatc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60207" y="4575657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845323" y="5188305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65897" y="5444337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ログ・監査証跡</a:t>
            </a:r>
          </a:p>
        </p:txBody>
      </p:sp>
      <p:pic>
        <p:nvPicPr>
          <p:cNvPr id="37" name="Picture 36" descr="us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3332073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237165" y="3944721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75443" y="4200753"/>
            <a:ext cx="832104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ダウンロード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378936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27151" y="2793720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構成生成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27151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読み書き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署名URL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AWSアイコンは slidegen/assets/icons/aws/ から読み込む。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高密度なAWS構成も、グリッド仕様で自動配置する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656652" y="1342430"/>
            <a:ext cx="8707511" cy="4753051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66380" y="1397294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957706" y="2384846"/>
            <a:ext cx="6084829" cy="350580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7434" y="2439710"/>
            <a:ext cx="161620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 (private subnets)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0042" y="3573566"/>
            <a:ext cx="1673352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69770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46273" y="3573566"/>
            <a:ext cx="1693925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56001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AZ-c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938528" y="2979206"/>
            <a:ext cx="112160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398459" y="2311694"/>
            <a:ext cx="0" cy="3291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736787" y="2979206"/>
            <a:ext cx="291986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5196718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196718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994977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793236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4250314" y="4222790"/>
            <a:ext cx="608076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250314" y="4222790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250314" y="5228630"/>
            <a:ext cx="608076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793236" y="4561118"/>
            <a:ext cx="0" cy="4572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793236" y="4606838"/>
            <a:ext cx="95669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749927" y="4606838"/>
            <a:ext cx="0" cy="62179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9131564" y="5228630"/>
            <a:ext cx="61836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535046" y="5228630"/>
            <a:ext cx="2919862" cy="0"/>
          </a:xfrm>
          <a:prstGeom prst="line">
            <a:avLst/>
          </a:prstGeom>
          <a:ln w="19050">
            <a:prstDash val="dash"/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131564" y="4222790"/>
            <a:ext cx="81953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9951095" y="2979206"/>
            <a:ext cx="0" cy="1243584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951095" y="2979206"/>
            <a:ext cx="30207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042535" y="5228630"/>
            <a:ext cx="21063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4" name="Picture 33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2695742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91565" y="3308390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pic>
        <p:nvPicPr>
          <p:cNvPr id="36" name="Picture 35" descr="route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4995" y="1689902"/>
            <a:ext cx="566928" cy="56692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3018411" y="2302550"/>
            <a:ext cx="76009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Route 53</a:t>
            </a:r>
          </a:p>
        </p:txBody>
      </p:sp>
      <p:pic>
        <p:nvPicPr>
          <p:cNvPr id="38" name="Picture 37" descr="cloudfro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4995" y="2695742"/>
            <a:ext cx="566928" cy="56692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2930972" y="3308390"/>
            <a:ext cx="934974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CloudFront</a:t>
            </a:r>
          </a:p>
        </p:txBody>
      </p:sp>
      <p:pic>
        <p:nvPicPr>
          <p:cNvPr id="40" name="Picture 39" descr="al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513" y="2695742"/>
            <a:ext cx="566928" cy="566928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794952" y="3308390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pic>
        <p:nvPicPr>
          <p:cNvPr id="42" name="Picture 41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3254" y="3939326"/>
            <a:ext cx="566928" cy="56692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852675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4" name="Picture 43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9772" y="3939326"/>
            <a:ext cx="566928" cy="56692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449193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6" name="Picture 45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13254" y="4945166"/>
            <a:ext cx="566928" cy="566928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4616074" y="5557814"/>
            <a:ext cx="1161288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(primary)</a:t>
            </a:r>
          </a:p>
        </p:txBody>
      </p:sp>
      <p:pic>
        <p:nvPicPr>
          <p:cNvPr id="48" name="Picture 47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09772" y="4945166"/>
            <a:ext cx="566928" cy="566928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202305" y="5557814"/>
            <a:ext cx="1181862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(standby)</a:t>
            </a:r>
          </a:p>
        </p:txBody>
      </p:sp>
      <p:pic>
        <p:nvPicPr>
          <p:cNvPr id="50" name="Picture 49" descr="s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2695742"/>
            <a:ext cx="566928" cy="566928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0129151" y="3308390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82860" y="3564422"/>
            <a:ext cx="101727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成果物/静的配信</a:t>
            </a:r>
          </a:p>
        </p:txBody>
      </p:sp>
      <p:pic>
        <p:nvPicPr>
          <p:cNvPr id="53" name="Picture 52" descr="cloudwatc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08031" y="4945166"/>
            <a:ext cx="566928" cy="566928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0093147" y="5557814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237165" y="5813846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438339" y="2523149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名前解決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40114" y="2742605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25813" y="4992029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同期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Fluentアイコン構成図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SSO・監査・バックアップを含む業務システム構成を表現する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60038" y="2652674"/>
            <a:ext cx="7714411" cy="3063239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69766" y="2707538"/>
            <a:ext cx="108127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データセンター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38528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935626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94396" y="2268626"/>
            <a:ext cx="0" cy="877824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932724" y="3484778"/>
            <a:ext cx="232044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594396" y="3823106"/>
            <a:ext cx="0" cy="4572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6095847" y="3868826"/>
            <a:ext cx="1498549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5847" y="3868826"/>
            <a:ext cx="0" cy="859536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95847" y="4728362"/>
            <a:ext cx="1160221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929823" y="3484778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1484178" y="3484778"/>
            <a:ext cx="0" cy="1243584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10929823" y="4728362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Picture 17" descr="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201314"/>
            <a:ext cx="566928" cy="5669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168717" y="3813962"/>
            <a:ext cx="86296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利用者端末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07592" y="406999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社内LAN</a:t>
            </a:r>
          </a:p>
        </p:txBody>
      </p:sp>
      <p:pic>
        <p:nvPicPr>
          <p:cNvPr id="21" name="Picture 20" descr="k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0932" y="1646834"/>
            <a:ext cx="566928" cy="5669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06932" y="2259482"/>
            <a:ext cx="57492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ID基盤</a:t>
            </a:r>
          </a:p>
        </p:txBody>
      </p:sp>
      <p:pic>
        <p:nvPicPr>
          <p:cNvPr id="23" name="Picture 22" descr="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3834" y="3201314"/>
            <a:ext cx="566928" cy="56692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934358" y="3813962"/>
            <a:ext cx="132588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ファイアウォール</a:t>
            </a:r>
          </a:p>
        </p:txBody>
      </p:sp>
      <p:pic>
        <p:nvPicPr>
          <p:cNvPr id="25" name="Picture 24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0932" y="3201314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998322" y="3813962"/>
            <a:ext cx="119214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業務Webサーバ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40066" y="4069994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アプリ本体</a:t>
            </a:r>
          </a:p>
        </p:txBody>
      </p:sp>
      <p:pic>
        <p:nvPicPr>
          <p:cNvPr id="28" name="Picture 27" descr="datab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3201314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196017" y="3813962"/>
            <a:ext cx="79095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DBサーバ</a:t>
            </a:r>
          </a:p>
        </p:txBody>
      </p:sp>
      <p:pic>
        <p:nvPicPr>
          <p:cNvPr id="30" name="Picture 29" descr="monit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0932" y="4444898"/>
            <a:ext cx="566928" cy="56692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240066" y="5057546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ログ収集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63510" y="5313578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監査用</a:t>
            </a:r>
          </a:p>
        </p:txBody>
      </p:sp>
      <p:pic>
        <p:nvPicPr>
          <p:cNvPr id="33" name="Picture 32" descr="stor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4444898"/>
            <a:ext cx="566928" cy="56692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0082860" y="5057546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バックアップ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98887" y="5313578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日次保管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42145" y="3248177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25232" y="2754401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認証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23782" y="324817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52514" y="3632225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15014" y="402541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日次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同梱のMicrosoft Fluent UIアイコンを使用。ライセンスはslidegen/assets/CREDITS.mdを参照。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イベント駆動構成図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受付と処理を分離し、保存・監視へ非同期分岐する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89227"/>
            <a:ext cx="8437397" cy="4471416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644091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832811"/>
            <a:ext cx="6023267" cy="306323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87675"/>
            <a:ext cx="186309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Asynchronous Processing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64915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681999" y="354604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9467583" y="2421331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467583" y="242133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681999" y="3783787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467583" y="3783787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467583" y="4908499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343671" y="4003243"/>
            <a:ext cx="0" cy="566928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81451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5" y="3994099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業務システム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2426" y="4250131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イベント送信元</a:t>
            </a:r>
          </a:p>
        </p:txBody>
      </p:sp>
      <p:pic>
        <p:nvPicPr>
          <p:cNvPr id="22" name="Picture 21" descr="gl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81451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519411" y="3994099"/>
            <a:ext cx="65722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693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検証・受付</a:t>
            </a:r>
          </a:p>
        </p:txBody>
      </p:sp>
      <p:pic>
        <p:nvPicPr>
          <p:cNvPr id="25" name="Picture 24" descr="sq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81451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94099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SQS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18073" y="4250131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処理待ちキュー</a:t>
            </a:r>
          </a:p>
        </p:txBody>
      </p:sp>
      <p:pic>
        <p:nvPicPr>
          <p:cNvPr id="28" name="Picture 27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3381451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757883" y="3994099"/>
            <a:ext cx="117157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非同期ワーカー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89341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変換・集計</a:t>
            </a:r>
          </a:p>
        </p:txBody>
      </p:sp>
      <p:pic>
        <p:nvPicPr>
          <p:cNvPr id="31" name="Picture 30" descr="dynamod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2137867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0113721" y="2750515"/>
            <a:ext cx="95554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DynamoDB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98887" y="3006547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処理状態</a:t>
            </a:r>
          </a:p>
        </p:txBody>
      </p:sp>
      <p:pic>
        <p:nvPicPr>
          <p:cNvPr id="34" name="Picture 33" descr="s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08031" y="4625035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129151" y="5237683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60609" y="549371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pic>
        <p:nvPicPr>
          <p:cNvPr id="37" name="Picture 36" descr="cloudwatch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0207" y="4625035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845323" y="5237683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89341" y="5493715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428314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02771" y="3428314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88873" y="3428314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非同期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290253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状態更新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36697" y="4264990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