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従来 (分)</c:v>
                </c:pt>
              </c:strCache>
            </c:strRef>
          </c:tx>
          <c:spPr>
            <a:solidFill>
              <a:srgbClr val="666E70"/>
            </a:solidFill>
          </c:spPr>
          <c:cat>
            <c:strRef>
              <c:f>Sheet1!$A$2:$A$5</c:f>
              <c:strCache>
                <c:ptCount val="4"/>
                <c:pt idx="0">
                  <c:v>週次報告</c:v>
                </c:pt>
                <c:pt idx="1">
                  <c:v>月次レビュー</c:v>
                </c:pt>
                <c:pt idx="2">
                  <c:v>調査サマリ</c:v>
                </c:pt>
                <c:pt idx="3">
                  <c:v>役員向け抜粋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45</c:v>
                </c:pt>
                <c:pt idx="1">
                  <c:v>120</c:v>
                </c:pt>
                <c:pt idx="2">
                  <c:v>240</c:v>
                </c:pt>
                <c:pt idx="3">
                  <c:v>90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生成後 (分)</c:v>
                </c:pt>
              </c:strCache>
            </c:strRef>
          </c:tx>
          <c:spPr>
            <a:solidFill>
              <a:srgbClr val="0D7870"/>
            </a:solidFill>
          </c:spPr>
          <c:cat>
            <c:strRef>
              <c:f>Sheet1!$A$2:$A$5</c:f>
              <c:strCache>
                <c:ptCount val="4"/>
                <c:pt idx="0">
                  <c:v>週次報告</c:v>
                </c:pt>
                <c:pt idx="1">
                  <c:v>月次レビュー</c:v>
                </c:pt>
                <c:pt idx="2">
                  <c:v>調査サマリ</c:v>
                </c:pt>
                <c:pt idx="3">
                  <c:v>役員向け抜粋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13</c:v>
                </c:pt>
                <c:pt idx="1">
                  <c:v>42</c:v>
                </c:pt>
                <c:pt idx="2">
                  <c:v>85</c:v>
                </c:pt>
                <c:pt idx="3">
                  <c:v>28</c:v>
                </c:pt>
              </c:numCache>
            </c:numRef>
          </c:val>
        </c:ser>
        <c:dLbls>
          <c:txPr>
            <a:bodyPr/>
            <a:lstStyle/>
            <a:p>
              <a:pPr>
                <a:defRPr sz="115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76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>
          <c:spPr>
            <a:ln w="7620">
              <a:solidFill>
                <a:srgbClr val="D1CFC8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200">
          <a:latin typeface="Yu Gothic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利用率</c:v>
                </c:pt>
              </c:strCache>
            </c:strRef>
          </c:tx>
          <c:spPr>
            <a:ln w="25400">
              <a:solidFill>
                <a:srgbClr val="666E70"/>
              </a:solidFill>
            </a:ln>
          </c:spPr>
          <c:marker>
            <c:spPr>
              <a:solidFill>
                <a:srgbClr val="666E70"/>
              </a:solidFill>
              <a:ln>
                <a:solidFill>
                  <a:srgbClr val="666E70"/>
                </a:solidFill>
              </a:ln>
            </c:spPr>
          </c:marker>
          <c:cat>
            <c:strRef>
              <c:f>Sheet1!$A$2:$A$10</c:f>
              <c:strCache>
                <c:ptCount val="9"/>
                <c:pt idx="0">
                  <c:v>4月</c:v>
                </c:pt>
                <c:pt idx="1">
                  <c:v>5月</c:v>
                </c:pt>
                <c:pt idx="2">
                  <c:v>6月</c:v>
                </c:pt>
                <c:pt idx="3">
                  <c:v>7月</c:v>
                </c:pt>
                <c:pt idx="4">
                  <c:v>8月</c:v>
                </c:pt>
                <c:pt idx="5">
                  <c:v>9月</c:v>
                </c:pt>
                <c:pt idx="6">
                  <c:v>10月</c:v>
                </c:pt>
                <c:pt idx="7">
                  <c:v>11月</c:v>
                </c:pt>
                <c:pt idx="8">
                  <c:v>12月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12</c:v>
                </c:pt>
                <c:pt idx="1">
                  <c:v>18</c:v>
                </c:pt>
                <c:pt idx="2">
                  <c:v>25</c:v>
                </c:pt>
                <c:pt idx="3">
                  <c:v>31</c:v>
                </c:pt>
                <c:pt idx="4">
                  <c:v>44</c:v>
                </c:pt>
                <c:pt idx="5">
                  <c:v>52</c:v>
                </c:pt>
                <c:pt idx="6">
                  <c:v>61</c:v>
                </c:pt>
                <c:pt idx="7">
                  <c:v>67</c:v>
                </c:pt>
                <c:pt idx="8">
                  <c:v>74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目標</c:v>
                </c:pt>
              </c:strCache>
            </c:strRef>
          </c:tx>
          <c:spPr>
            <a:ln w="25400">
              <a:solidFill>
                <a:srgbClr val="0D7870"/>
              </a:solidFill>
            </a:ln>
          </c:spPr>
          <c:marker>
            <c:spPr>
              <a:solidFill>
                <a:srgbClr val="0D7870"/>
              </a:solidFill>
              <a:ln>
                <a:solidFill>
                  <a:srgbClr val="0D7870"/>
                </a:solidFill>
              </a:ln>
            </c:spPr>
          </c:marker>
          <c:cat>
            <c:strRef>
              <c:f>Sheet1!$A$2:$A$10</c:f>
              <c:strCache>
                <c:ptCount val="9"/>
                <c:pt idx="0">
                  <c:v>4月</c:v>
                </c:pt>
                <c:pt idx="1">
                  <c:v>5月</c:v>
                </c:pt>
                <c:pt idx="2">
                  <c:v>6月</c:v>
                </c:pt>
                <c:pt idx="3">
                  <c:v>7月</c:v>
                </c:pt>
                <c:pt idx="4">
                  <c:v>8月</c:v>
                </c:pt>
                <c:pt idx="5">
                  <c:v>9月</c:v>
                </c:pt>
                <c:pt idx="6">
                  <c:v>10月</c:v>
                </c:pt>
                <c:pt idx="7">
                  <c:v>11月</c:v>
                </c:pt>
                <c:pt idx="8">
                  <c:v>12月</c:v>
                </c:pt>
              </c:strCache>
            </c: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20</c:v>
                </c:pt>
                <c:pt idx="1">
                  <c:v>25</c:v>
                </c:pt>
                <c:pt idx="2">
                  <c:v>30</c:v>
                </c:pt>
                <c:pt idx="3">
                  <c:v>35</c:v>
                </c:pt>
                <c:pt idx="4">
                  <c:v>40</c:v>
                </c:pt>
                <c:pt idx="5">
                  <c:v>50</c:v>
                </c:pt>
                <c:pt idx="6">
                  <c:v>60</c:v>
                </c:pt>
                <c:pt idx="7">
                  <c:v>70</c:v>
                </c:pt>
                <c:pt idx="8">
                  <c:v>80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noFill/>
          </a:ln>
        </c:sp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 w="7620">
              <a:solidFill>
                <a:srgbClr val="D1CFC8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200">
          <a:latin typeface="Yu Gothic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作成</c:v>
                </c:pt>
              </c:strCache>
            </c:strRef>
          </c:tx>
          <c:spPr>
            <a:solidFill>
              <a:srgbClr val="666E70"/>
            </a:solidFill>
          </c:spPr>
          <c:cat>
            <c:strRef>
              <c:f>Sheet1!$A$2:$A$4</c:f>
              <c:strCache>
                <c:ptCount val="3"/>
                <c:pt idx="0">
                  <c:v>導入前</c:v>
                </c:pt>
                <c:pt idx="1">
                  <c:v>試行中</c:v>
                </c:pt>
                <c:pt idx="2">
                  <c:v>標準化後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70</c:v>
                </c:pt>
                <c:pt idx="1">
                  <c:v>38</c:v>
                </c:pt>
                <c:pt idx="2">
                  <c:v>18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レビュー</c:v>
                </c:pt>
              </c:strCache>
            </c:strRef>
          </c:tx>
          <c:spPr>
            <a:solidFill>
              <a:srgbClr val="0D7870"/>
            </a:solidFill>
          </c:spPr>
          <c:cat>
            <c:strRef>
              <c:f>Sheet1!$A$2:$A$4</c:f>
              <c:strCache>
                <c:ptCount val="3"/>
                <c:pt idx="0">
                  <c:v>導入前</c:v>
                </c:pt>
                <c:pt idx="1">
                  <c:v>試行中</c:v>
                </c:pt>
                <c:pt idx="2">
                  <c:v>標準化後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20</c:v>
                </c:pt>
                <c:pt idx="1">
                  <c:v>32</c:v>
                </c:pt>
                <c:pt idx="2">
                  <c:v>42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意思決定</c:v>
                </c:pt>
              </c:strCache>
            </c:strRef>
          </c:tx>
          <c:spPr>
            <a:solidFill>
              <a:srgbClr val="C7583E"/>
            </a:solidFill>
          </c:spPr>
          <c:cat>
            <c:strRef>
              <c:f>Sheet1!$A$2:$A$4</c:f>
              <c:strCache>
                <c:ptCount val="3"/>
                <c:pt idx="0">
                  <c:v>導入前</c:v>
                </c:pt>
                <c:pt idx="1">
                  <c:v>試行中</c:v>
                </c:pt>
                <c:pt idx="2">
                  <c:v>標準化後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10</c:v>
                </c:pt>
                <c:pt idx="1">
                  <c:v>30</c:v>
                </c:pt>
                <c:pt idx="2">
                  <c:v>40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sz="115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76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noFill/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 w="7620">
              <a:solidFill>
                <a:srgbClr val="D1CFC8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200">
          <a:latin typeface="Yu Gothic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image" Target="../media/image12.png"/><Relationship Id="rId7" Type="http://schemas.openxmlformats.org/officeDocument/2006/relationships/image" Target="../media/image13.png"/><Relationship Id="rId8" Type="http://schemas.openxmlformats.org/officeDocument/2006/relationships/image" Target="../media/image14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15.png"/><Relationship Id="rId4" Type="http://schemas.openxmlformats.org/officeDocument/2006/relationships/image" Target="../media/image16.png"/><Relationship Id="rId5" Type="http://schemas.openxmlformats.org/officeDocument/2006/relationships/image" Target="../media/image9.png"/><Relationship Id="rId6" Type="http://schemas.openxmlformats.org/officeDocument/2006/relationships/image" Target="../media/image10.png"/><Relationship Id="rId7" Type="http://schemas.openxmlformats.org/officeDocument/2006/relationships/image" Target="../media/image17.png"/><Relationship Id="rId8" Type="http://schemas.openxmlformats.org/officeDocument/2006/relationships/image" Target="../media/image12.png"/><Relationship Id="rId9" Type="http://schemas.openxmlformats.org/officeDocument/2006/relationships/image" Target="../media/image13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image" Target="../media/image19.png"/><Relationship Id="rId4" Type="http://schemas.openxmlformats.org/officeDocument/2006/relationships/image" Target="../media/image20.png"/><Relationship Id="rId5" Type="http://schemas.openxmlformats.org/officeDocument/2006/relationships/image" Target="../media/image4.png"/><Relationship Id="rId6" Type="http://schemas.openxmlformats.org/officeDocument/2006/relationships/image" Target="../media/image21.png"/><Relationship Id="rId7" Type="http://schemas.openxmlformats.org/officeDocument/2006/relationships/image" Target="../media/image22.png"/><Relationship Id="rId8" Type="http://schemas.openxmlformats.org/officeDocument/2006/relationships/image" Target="../media/image23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24.png"/><Relationship Id="rId4" Type="http://schemas.openxmlformats.org/officeDocument/2006/relationships/image" Target="../media/image25.png"/><Relationship Id="rId5" Type="http://schemas.openxmlformats.org/officeDocument/2006/relationships/image" Target="../media/image4.png"/><Relationship Id="rId6" Type="http://schemas.openxmlformats.org/officeDocument/2006/relationships/image" Target="../media/image26.png"/><Relationship Id="rId7" Type="http://schemas.openxmlformats.org/officeDocument/2006/relationships/image" Target="../media/image12.png"/><Relationship Id="rId8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Cover Background" descr="cover-background.png"/>
          <p:cNvPicPr>
            <a:picLocks noChangeAspect="1"/>
          </p:cNvPicPr>
          <p:nvPr/>
        </p:nvPicPr>
        <p:blipFill>
          <a:blip r:embed="rId2"/>
          <a:srcRect t="25" b="25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1572768"/>
            <a:ext cx="7360920" cy="12435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42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社内スライド</a:t>
            </a:r>
          </a:p>
          <a:p>
            <a:pPr algn="l">
              <a:lnSpc>
                <a:spcPct val="108000"/>
              </a:lnSpc>
            </a:pPr>
            <a:r>
              <a:rPr sz="42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パターンライブラリ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9536" y="3163824"/>
            <a:ext cx="7315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750" b="0" lang="ja-JP">
                <a:solidFill>
                  <a:srgbClr val="DFEBE8"/>
                </a:solidFill>
                <a:latin typeface="Yu Gothic"/>
                <a:ea typeface="Yu Gothic"/>
                <a:cs typeface="Yu Gothic"/>
              </a:rPr>
              <a:t>意思決定からシステム構成まで、23の標準レイアウトを検証</a:t>
            </a:r>
          </a:p>
        </p:txBody>
      </p:sp>
      <p:sp>
        <p:nvSpPr>
          <p:cNvPr id="6" name="Rectangle 5"/>
          <p:cNvSpPr/>
          <p:nvPr/>
        </p:nvSpPr>
        <p:spPr>
          <a:xfrm>
            <a:off x="8641080" y="1536192"/>
            <a:ext cx="10972" cy="3186684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79408" y="1664208"/>
            <a:ext cx="2057400" cy="22860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80" b="1" lang="ja-JP">
                <a:solidFill>
                  <a:srgbClr val="DFEBE8"/>
                </a:solidFill>
                <a:latin typeface="Yu Gothic"/>
                <a:ea typeface="Yu Gothic"/>
                <a:cs typeface="Yu Gothic"/>
              </a:rPr>
              <a:t>DATE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79408" y="1975104"/>
            <a:ext cx="2148840" cy="27432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2026年7月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79408" y="2752344"/>
            <a:ext cx="2057400" cy="22860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80" b="1" lang="ja-JP">
                <a:solidFill>
                  <a:srgbClr val="DFEBE8"/>
                </a:solidFill>
                <a:latin typeface="Yu Gothic"/>
                <a:ea typeface="Yu Gothic"/>
                <a:cs typeface="Yu Gothic"/>
              </a:rPr>
              <a:t>ORGANIZATION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79408" y="3063239"/>
            <a:ext cx="2148840" cy="4069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業務企画本部</a:t>
            </a:r>
          </a:p>
          <a:p>
            <a:pPr algn="l">
              <a:lnSpc>
                <a:spcPct val="108000"/>
              </a:lnSpc>
            </a:pPr>
            <a:r>
              <a:rPr sz="13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業務改善推進部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79408" y="3973068"/>
            <a:ext cx="2057400" cy="22860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80" b="1" lang="ja-JP">
                <a:solidFill>
                  <a:srgbClr val="DFEBE8"/>
                </a:solidFill>
                <a:latin typeface="Yu Gothic"/>
                <a:ea typeface="Yu Gothic"/>
                <a:cs typeface="Yu Gothic"/>
              </a:rPr>
              <a:t>AUTHOR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79408" y="4283964"/>
            <a:ext cx="2148840" cy="27432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業務改善検討チーム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検討手順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意思決定資料は、論点を3段階で組み立てる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769533"/>
            <a:ext cx="420624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5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53312" y="1737360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判断したい論点を1文で定義し、読み手と目的を揃える</a:t>
            </a:r>
          </a:p>
        </p:txBody>
      </p:sp>
      <p:sp>
        <p:nvSpPr>
          <p:cNvPr id="7" name="Rectangle 6"/>
          <p:cNvSpPr/>
          <p:nvPr/>
        </p:nvSpPr>
        <p:spPr>
          <a:xfrm>
            <a:off x="1353312" y="2193544"/>
            <a:ext cx="7094601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554901"/>
            <a:ext cx="420624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5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53312" y="2522728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事実と制約を整理し、選択肢ごとの違いを比較する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53312" y="2978912"/>
            <a:ext cx="7094601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3340269"/>
            <a:ext cx="420624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5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3312" y="3308096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推奨案と実施条件を示し、次の判断につなげる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353312" y="3764279"/>
            <a:ext cx="7094601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05872" y="6382512"/>
            <a:ext cx="58521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9376" y="6391656"/>
            <a:ext cx="53035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/ 23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判断材料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移行判断では、費用・影響・運用条件を揃える</a:t>
            </a:r>
          </a:p>
        </p:txBody>
      </p:sp>
      <p:sp>
        <p:nvSpPr>
          <p:cNvPr id="5" name="Oval 4"/>
          <p:cNvSpPr/>
          <p:nvPr/>
        </p:nvSpPr>
        <p:spPr>
          <a:xfrm>
            <a:off x="950976" y="1853658"/>
            <a:ext cx="128016" cy="128016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53312" y="1737360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初期費用と継続費用を分け、比較期間を統一する</a:t>
            </a:r>
          </a:p>
        </p:txBody>
      </p:sp>
      <p:sp>
        <p:nvSpPr>
          <p:cNvPr id="7" name="Oval 6"/>
          <p:cNvSpPr/>
          <p:nvPr/>
        </p:nvSpPr>
        <p:spPr>
          <a:xfrm>
            <a:off x="950976" y="2639026"/>
            <a:ext cx="128016" cy="128016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53312" y="2522728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利用部門・既存業務・周辺システムへの影響を確認する</a:t>
            </a:r>
          </a:p>
        </p:txBody>
      </p:sp>
      <p:sp>
        <p:nvSpPr>
          <p:cNvPr id="9" name="Oval 8"/>
          <p:cNvSpPr/>
          <p:nvPr/>
        </p:nvSpPr>
        <p:spPr>
          <a:xfrm>
            <a:off x="950976" y="3424394"/>
            <a:ext cx="128016" cy="128016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53312" y="3308096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移行中の停止時間と、切り戻し条件を明確にする</a:t>
            </a:r>
          </a:p>
        </p:txBody>
      </p:sp>
      <p:sp>
        <p:nvSpPr>
          <p:cNvPr id="11" name="Oval 10"/>
          <p:cNvSpPr/>
          <p:nvPr/>
        </p:nvSpPr>
        <p:spPr>
          <a:xfrm>
            <a:off x="950976" y="4209762"/>
            <a:ext cx="128016" cy="128016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53312" y="4093464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運用開始後の責任分界と問い合わせ窓口を決める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05872" y="6382512"/>
            <a:ext cx="58521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009376" y="6391656"/>
            <a:ext cx="53035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/ 23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実施準備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リリース前に、残タスクと完了条件を確認する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905256" y="1807938"/>
            <a:ext cx="219456" cy="219456"/>
          </a:xfrm>
          <a:prstGeom prst="rect">
            <a:avLst/>
          </a:prstGeom>
          <a:solidFill>
            <a:srgbClr val="0D7870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05256" y="1782334"/>
            <a:ext cx="219456" cy="22860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53312" y="1737360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566062"/>
                </a:solidFill>
                <a:latin typeface="Yu Gothic"/>
                <a:ea typeface="Yu Gothic"/>
                <a:cs typeface="Yu Gothic"/>
              </a:rPr>
              <a:t>本番手順と切り戻し手順のレビュー</a:t>
            </a:r>
          </a:p>
        </p:txBody>
      </p:sp>
      <p:sp>
        <p:nvSpPr>
          <p:cNvPr id="8" name="Rectangle 7"/>
          <p:cNvSpPr/>
          <p:nvPr/>
        </p:nvSpPr>
        <p:spPr>
          <a:xfrm>
            <a:off x="905256" y="2593306"/>
            <a:ext cx="219456" cy="219456"/>
          </a:xfrm>
          <a:prstGeom prst="rect">
            <a:avLst/>
          </a:prstGeom>
          <a:solidFill>
            <a:srgbClr val="0D7870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05256" y="2567702"/>
            <a:ext cx="219456" cy="22860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53312" y="2522728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566062"/>
                </a:solidFill>
                <a:latin typeface="Yu Gothic"/>
                <a:ea typeface="Yu Gothic"/>
                <a:cs typeface="Yu Gothic"/>
              </a:rPr>
              <a:t>関係部門への実施日時と影響範囲の連絡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05256" y="3378674"/>
            <a:ext cx="219456" cy="219456"/>
          </a:xfrm>
          <a:prstGeom prst="rect">
            <a:avLst/>
          </a:prstGeom>
          <a:solidFill>
            <a:srgbClr val="F7F5EF"/>
          </a:solidFill>
          <a:ln w="9525">
            <a:solidFill>
              <a:srgbClr val="66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53312" y="3308096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監視項目・通知先・初動担当の最終確認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05256" y="4164042"/>
            <a:ext cx="219456" cy="219456"/>
          </a:xfrm>
          <a:prstGeom prst="rect">
            <a:avLst/>
          </a:prstGeom>
          <a:solidFill>
            <a:srgbClr val="F7F5EF"/>
          </a:solidFill>
          <a:ln w="9525">
            <a:solidFill>
              <a:srgbClr val="66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53312" y="4093464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リリース判定会議での承認取得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05872" y="6382512"/>
            <a:ext cx="58521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009376" y="6391656"/>
            <a:ext cx="53035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/ 23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結論と根拠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全社展開の推奨案と、効果・実現性・導入リスクを示す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65376"/>
            <a:ext cx="530352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89888" y="1837944"/>
            <a:ext cx="361188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3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推奨案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89888" y="2560320"/>
            <a:ext cx="3749039" cy="18745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6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標準テンプレートを対象部門へ</a:t>
            </a:r>
          </a:p>
          <a:p>
            <a:pPr algn="l">
              <a:lnSpc>
                <a:spcPct val="128000"/>
              </a:lnSpc>
            </a:pPr>
            <a:r>
              <a:rPr sz="16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段階展開する。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70448" y="1883664"/>
            <a:ext cx="457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1865376"/>
            <a:ext cx="479145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期待効果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2304288"/>
            <a:ext cx="475488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作成とレビューの手戻りを減らし、提出品質を揃える。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92240" y="2907791"/>
            <a:ext cx="4791456" cy="10972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70448" y="3081528"/>
            <a:ext cx="457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3063240"/>
            <a:ext cx="479145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実現性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3502152"/>
            <a:ext cx="475488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既存フローを流用し、部門ごとに順次導入できる。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92240" y="4105656"/>
            <a:ext cx="4791456" cy="10972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870448" y="4279392"/>
            <a:ext cx="457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4261104"/>
            <a:ext cx="479145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導入リスク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4700016"/>
            <a:ext cx="475488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初期教育と運用窓口を用意し、例外資料は個別対応とする。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05872" y="6382512"/>
            <a:ext cx="58521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009376" y="6391656"/>
            <a:ext cx="53035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/ 23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KPIスナップショット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KPIは数値を主役にし、判断材料を添える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1828800"/>
            <a:ext cx="331012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作成時間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2212848"/>
            <a:ext cx="3310127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3200" b="1" lang="ja-JP">
                <a:solidFill>
                  <a:srgbClr val="C7583E"/>
                </a:solidFill>
                <a:latin typeface="Yu Gothic"/>
                <a:ea typeface="Yu Gothic"/>
                <a:cs typeface="Yu Gothic"/>
              </a:rPr>
              <a:t>-72%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2944368"/>
            <a:ext cx="3310127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週次報告の作成時間が平均45分から13分に短縮。下書き作成の自動化が主因。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4233672" y="1865376"/>
            <a:ext cx="10972" cy="2414016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43984" y="1828800"/>
            <a:ext cx="331012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手直し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43984" y="2212848"/>
            <a:ext cx="3310127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320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8分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984" y="2944368"/>
            <a:ext cx="3310127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生成後の確認と語尾修正に平均8分。テンプレート崩れは検出なし。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64424" y="1865376"/>
            <a:ext cx="10972" cy="2414016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74736" y="1828800"/>
            <a:ext cx="331012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再利用率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74736" y="2212848"/>
            <a:ext cx="3310127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320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64%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74736" y="2944368"/>
            <a:ext cx="3310127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一度作った構造化データを翌週も流用でき、定型資料ほど効果が高い。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05872" y="6382512"/>
            <a:ext cx="58521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009376" y="6391656"/>
            <a:ext cx="53035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/ 23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Before / After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導入前後の違いを、同じ観点で比較する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694944" y="1719072"/>
            <a:ext cx="5212080" cy="3243072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42416" y="1984248"/>
            <a:ext cx="451713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現状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" y="2304288"/>
            <a:ext cx="451713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導入前</a:t>
            </a:r>
          </a:p>
        </p:txBody>
      </p:sp>
      <p:sp>
        <p:nvSpPr>
          <p:cNvPr id="8" name="Rectangle 7"/>
          <p:cNvSpPr/>
          <p:nvPr/>
        </p:nvSpPr>
        <p:spPr>
          <a:xfrm>
            <a:off x="1042416" y="2779776"/>
            <a:ext cx="4517136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2416" y="2953512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44752" y="2944368"/>
            <a:ext cx="4206240" cy="474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担当者ごとにスライド構成がばらつき、レビュー観点も揃わない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444752" y="3501136"/>
            <a:ext cx="4206240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2416" y="3592576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44752" y="3583432"/>
            <a:ext cx="4206240" cy="474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グラフや表の貼り付け後に、余白・フォント・禁則を手作業で直す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444752" y="4140200"/>
            <a:ext cx="4206240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42416" y="4231640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44752" y="4222496"/>
            <a:ext cx="4206240" cy="474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過去資料をコピーして使うため、古い文言や注記が残りやすい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91072" y="1719072"/>
            <a:ext cx="5212080" cy="3243072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38544" y="1984248"/>
            <a:ext cx="451713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目標状態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38544" y="2304288"/>
            <a:ext cx="451713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導入後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638544" y="2779776"/>
            <a:ext cx="4517136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38544" y="2953512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40880" y="2944368"/>
            <a:ext cx="4206240" cy="474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入力schemaに沿って文言を作るため、構成の揺れを抑えられる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040880" y="3501136"/>
            <a:ext cx="4206240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38544" y="3592576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40880" y="3583432"/>
            <a:ext cx="4206240" cy="474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rendererが余白・フォント・描画順を決め、提出前の確認に集中できる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040880" y="4140200"/>
            <a:ext cx="4206240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638544" y="4231640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40880" y="4222496"/>
            <a:ext cx="4206240" cy="474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品質ゲートで重なりやはみ出しを検知し、修正箇所を特定しやすい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405872" y="6382512"/>
            <a:ext cx="58521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009376" y="6391656"/>
            <a:ext cx="53035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/ 23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方式比較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選定理由と見送り理由を、同じ粒度で比較する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890979"/>
          <a:ext cx="11185852" cy="351129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279167"/>
                <a:gridCol w="2693004"/>
                <a:gridCol w="3313759"/>
                <a:gridCol w="2899922"/>
              </a:tblGrid>
              <a:tr h="658368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FFFFFC"/>
                          </a:solidFill>
                          <a:latin typeface="Yu Gothic"/>
                          <a:ea typeface="Yu Gothic"/>
                          <a:cs typeface="Yu Gothic"/>
                        </a:rPr>
                        <a:t>方式</a:t>
                      </a:r>
                    </a:p>
                  </a:txBody>
                  <a:tcPr anchor="ctr" marL="82296" marR="82296" marT="36576" marB="36576">
                    <a:solidFill>
                      <a:srgbClr val="182C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FFFFFC"/>
                          </a:solidFill>
                          <a:latin typeface="Yu Gothic"/>
                          <a:ea typeface="Yu Gothic"/>
                          <a:cs typeface="Yu Gothic"/>
                        </a:rPr>
                        <a:t>向いている用途</a:t>
                      </a:r>
                    </a:p>
                  </a:txBody>
                  <a:tcPr anchor="ctr" marL="82296" marR="82296" marT="36576" marB="36576">
                    <a:solidFill>
                      <a:srgbClr val="182C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FFFFFC"/>
                          </a:solidFill>
                          <a:latin typeface="Yu Gothic"/>
                          <a:ea typeface="Yu Gothic"/>
                          <a:cs typeface="Yu Gothic"/>
                        </a:rPr>
                        <a:t>強み</a:t>
                      </a:r>
                    </a:p>
                  </a:txBody>
                  <a:tcPr anchor="ctr" marL="82296" marR="82296" marT="36576" marB="36576">
                    <a:solidFill>
                      <a:srgbClr val="182C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FFFFFC"/>
                          </a:solidFill>
                          <a:latin typeface="Yu Gothic"/>
                          <a:ea typeface="Yu Gothic"/>
                          <a:cs typeface="Yu Gothic"/>
                        </a:rPr>
                        <a:t>注意点</a:t>
                      </a:r>
                    </a:p>
                  </a:txBody>
                  <a:tcPr anchor="ctr" marL="82296" marR="82296" marT="36576" marB="36576">
                    <a:solidFill>
                      <a:srgbClr val="182C43"/>
                    </a:solidFill>
                  </a:tcPr>
                </a:tc>
              </a:tr>
              <a:tr h="95097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182C43"/>
                          </a:solidFill>
                          <a:latin typeface="Yu Gothic"/>
                          <a:ea typeface="Yu Gothic"/>
                          <a:cs typeface="Yu Gothic"/>
                        </a:rPr>
                        <a:t>renderer カタログ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社内標準資料・定型報告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品質を詰めた型を再利用できる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新しい型は実装が必要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</a:tr>
              <a:tr h="95097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182C43"/>
                          </a:solidFill>
                          <a:latin typeface="Yu Gothic"/>
                          <a:ea typeface="Yu Gothic"/>
                          <a:cs typeface="Yu Gothic"/>
                        </a:rPr>
                        <a:t>万能宣言レイアウト</a:t>
                      </a:r>
                    </a:p>
                  </a:txBody>
                  <a:tcPr anchor="ctr" marL="82296" marR="82296" marT="36576" marB="36576">
                    <a:solidFill>
                      <a:srgbClr val="FFFF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図の大量バリエーション</a:t>
                      </a:r>
                    </a:p>
                  </a:txBody>
                  <a:tcPr anchor="ctr" marL="82296" marR="82296" marT="36576" marB="36576">
                    <a:solidFill>
                      <a:srgbClr val="FFFF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座標指定を減らせる</a:t>
                      </a:r>
                    </a:p>
                  </a:txBody>
                  <a:tcPr anchor="ctr" marL="82296" marR="82296" marT="36576" marB="36576">
                    <a:solidFill>
                      <a:srgbClr val="FFFF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エンジンが複雑化しやすい</a:t>
                      </a:r>
                    </a:p>
                  </a:txBody>
                  <a:tcPr anchor="ctr" marL="82296" marR="82296" marT="36576" marB="36576">
                    <a:solidFill>
                      <a:srgbClr val="FFFFFC"/>
                    </a:solidFill>
                  </a:tcPr>
                </a:tc>
              </a:tr>
              <a:tr h="95097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182C43"/>
                          </a:solidFill>
                          <a:latin typeface="Yu Gothic"/>
                          <a:ea typeface="Yu Gothic"/>
                          <a:cs typeface="Yu Gothic"/>
                        </a:rPr>
                        <a:t>手作業PPT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一点物の重要提案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細部まで作り込める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再現性と量産性が低い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05872" y="6382512"/>
            <a:ext cx="58521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9376" y="6391656"/>
            <a:ext cx="53035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/ 23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効果測定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資料作成時間を最大72%短縮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822960" y="1645920"/>
          <a:ext cx="10789920" cy="4379975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02920" y="6053328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値は検証用のサンプルデータ。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05872" y="6382512"/>
            <a:ext cx="58521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09376" y="6391656"/>
            <a:ext cx="53035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/ 23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利用推移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月次利用率は、試行開始から継続的に上昇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822960" y="1645920"/>
          <a:ext cx="10789920" cy="4379975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02920" y="6053328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値は検証用のサンプルデータ。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05872" y="6382512"/>
            <a:ext cx="58521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09376" y="6391656"/>
            <a:ext cx="53035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/ 23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工数内訳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自動化後は、作成よりレビューへ時間を配分できる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822960" y="1645920"/>
          <a:ext cx="10789920" cy="4379975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02920" y="6053328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構成比を示すサンプル。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05872" y="6382512"/>
            <a:ext cx="58521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09376" y="6391656"/>
            <a:ext cx="53035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/ 23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画面イメージ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画面キャプチャを、スライドの主役として大きく見せる</a:t>
            </a:r>
          </a:p>
        </p:txBody>
      </p:sp>
      <p:pic>
        <p:nvPicPr>
          <p:cNvPr id="5" name="ContentImage" descr="GitHubで公開されているpptxdslリポジトリのトップ画面"/>
          <p:cNvPicPr>
            <a:picLocks noChangeAspect="1"/>
          </p:cNvPicPr>
          <p:nvPr/>
        </p:nvPicPr>
        <p:blipFill>
          <a:blip r:embed="rId2"/>
          <a:srcRect t="7889" b="7889"/>
          <a:stretch>
            <a:fillRect/>
          </a:stretch>
        </p:blipFill>
        <p:spPr>
          <a:xfrm>
            <a:off x="658368" y="1499616"/>
            <a:ext cx="10874959" cy="4727448"/>
          </a:xfrm>
          <a:prstGeom prst="rect">
            <a:avLst/>
          </a:prstGeom>
          <a:effectLst>
            <a:outerShdw blurRad="76200" dist="50800" dir="2700000" algn="ctr" rotWithShape="0">
              <a:srgbClr val="000000">
                <a:alpha val="28000"/>
              </a:srgbClr>
            </a:outerShdw>
          </a:effectLst>
        </p:spPr>
      </p:pic>
      <p:sp>
        <p:nvSpPr>
          <p:cNvPr id="6" name="Rectangle 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05872" y="6382512"/>
            <a:ext cx="58521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9376" y="6391656"/>
            <a:ext cx="53035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/ 23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標準プロセス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資料生成は5つの工程で品質を担保する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1784908" y="2212848"/>
            <a:ext cx="8573414" cy="3200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501444" y="1947672"/>
            <a:ext cx="566928" cy="566928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501444" y="2029967"/>
            <a:ext cx="56692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2688336"/>
            <a:ext cx="1960473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入力整理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3255264"/>
            <a:ext cx="1832457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目的・読み手・必須メッセージを整理する。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" y="4818888"/>
            <a:ext cx="186903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INPUT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" y="5084064"/>
            <a:ext cx="186903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資料要件</a:t>
            </a:r>
          </a:p>
        </p:txBody>
      </p:sp>
      <p:sp>
        <p:nvSpPr>
          <p:cNvPr id="12" name="Oval 11"/>
          <p:cNvSpPr/>
          <p:nvPr/>
        </p:nvSpPr>
        <p:spPr>
          <a:xfrm>
            <a:off x="3644798" y="1947672"/>
            <a:ext cx="566928" cy="566928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44798" y="2029967"/>
            <a:ext cx="56692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48025" y="2688336"/>
            <a:ext cx="1960473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構造化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12033" y="3255264"/>
            <a:ext cx="1832457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schemaに沿ってスライド種別と文言を作る。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93745" y="4818888"/>
            <a:ext cx="186903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METHOD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93745" y="5084064"/>
            <a:ext cx="186903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schema</a:t>
            </a:r>
          </a:p>
        </p:txBody>
      </p:sp>
      <p:sp>
        <p:nvSpPr>
          <p:cNvPr id="18" name="Oval 17"/>
          <p:cNvSpPr/>
          <p:nvPr/>
        </p:nvSpPr>
        <p:spPr>
          <a:xfrm>
            <a:off x="5788152" y="1947672"/>
            <a:ext cx="566928" cy="566928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788152" y="2029967"/>
            <a:ext cx="56692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91379" y="2688336"/>
            <a:ext cx="1960473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生成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55387" y="3255264"/>
            <a:ext cx="1832457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rendererがPPTXを決定論的に出力する。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37099" y="4818888"/>
            <a:ext cx="186903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OUTPUT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37099" y="5084064"/>
            <a:ext cx="186903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PPTX</a:t>
            </a:r>
          </a:p>
        </p:txBody>
      </p:sp>
      <p:sp>
        <p:nvSpPr>
          <p:cNvPr id="24" name="Oval 23"/>
          <p:cNvSpPr/>
          <p:nvPr/>
        </p:nvSpPr>
        <p:spPr>
          <a:xfrm>
            <a:off x="7931505" y="1947672"/>
            <a:ext cx="566928" cy="566928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931505" y="2029967"/>
            <a:ext cx="56692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34732" y="2688336"/>
            <a:ext cx="1960473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検証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98740" y="3255264"/>
            <a:ext cx="1832457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機械検知と目視で崩れを確認する。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80452" y="4818888"/>
            <a:ext cx="186903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CHECK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280452" y="5084064"/>
            <a:ext cx="186903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機械 + 目視</a:t>
            </a:r>
          </a:p>
        </p:txBody>
      </p:sp>
      <p:sp>
        <p:nvSpPr>
          <p:cNvPr id="30" name="Oval 29"/>
          <p:cNvSpPr/>
          <p:nvPr/>
        </p:nvSpPr>
        <p:spPr>
          <a:xfrm>
            <a:off x="10074859" y="1947672"/>
            <a:ext cx="566928" cy="566928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074859" y="2029967"/>
            <a:ext cx="56692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378086" y="2688336"/>
            <a:ext cx="1960473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提出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442094" y="3255264"/>
            <a:ext cx="1832457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contentを直して再生成し、提出する。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423806" y="4818888"/>
            <a:ext cx="186903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STATE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423806" y="5084064"/>
            <a:ext cx="186903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提出可能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405872" y="6382512"/>
            <a:ext cx="58521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009376" y="6391656"/>
            <a:ext cx="53035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/ 23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承認フロー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通常の承認経路と差戻しを、迷わず追える形で示す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994660" y="2517343"/>
            <a:ext cx="512064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5843016" y="2517343"/>
            <a:ext cx="512064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8691372" y="2517343"/>
            <a:ext cx="512064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8691372" y="2517343"/>
            <a:ext cx="256032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8947404" y="2517343"/>
            <a:ext cx="0" cy="1316736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8947404" y="3834079"/>
            <a:ext cx="256032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0371582" y="4327855"/>
            <a:ext cx="0" cy="384048"/>
          </a:xfrm>
          <a:prstGeom prst="line">
            <a:avLst/>
          </a:prstGeom>
          <a:ln w="15875">
            <a:prstDash val="dash"/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H="1">
            <a:off x="4674870" y="4711903"/>
            <a:ext cx="5696712" cy="0"/>
          </a:xfrm>
          <a:prstGeom prst="line">
            <a:avLst/>
          </a:prstGeom>
          <a:ln w="15875">
            <a:prstDash val="dash"/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4674870" y="3011119"/>
            <a:ext cx="0" cy="1700784"/>
          </a:xfrm>
          <a:prstGeom prst="line">
            <a:avLst/>
          </a:prstGeom>
          <a:ln w="15875">
            <a:prstDash val="dash"/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658368" y="2023567"/>
            <a:ext cx="2336292" cy="987552"/>
          </a:xfrm>
          <a:prstGeom prst="rect">
            <a:avLst/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86384" y="2142439"/>
            <a:ext cx="20802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申請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5528" y="2480767"/>
            <a:ext cx="2061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必要事項を登録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5528" y="2764231"/>
            <a:ext cx="206197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申請部門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506724" y="2023567"/>
            <a:ext cx="2336292" cy="987552"/>
          </a:xfrm>
          <a:prstGeom prst="rect">
            <a:avLst/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34740" y="2142439"/>
            <a:ext cx="20802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形式確認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43884" y="2480767"/>
            <a:ext cx="2061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不足項目を確認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43884" y="2764231"/>
            <a:ext cx="206197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事務局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55080" y="2023567"/>
            <a:ext cx="2336292" cy="987552"/>
          </a:xfrm>
          <a:prstGeom prst="rect">
            <a:avLst/>
          </a:prstGeom>
          <a:solidFill>
            <a:srgbClr val="DFEBE8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83096" y="2142439"/>
            <a:ext cx="20802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内容審査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2480767"/>
            <a:ext cx="2061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妥当性とリスクを確認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2764231"/>
            <a:ext cx="206197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審査部門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203436" y="2023567"/>
            <a:ext cx="2336292" cy="987552"/>
          </a:xfrm>
          <a:prstGeom prst="rect">
            <a:avLst/>
          </a:prstGeom>
          <a:solidFill>
            <a:srgbClr val="FFFFFC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331452" y="2142439"/>
            <a:ext cx="20802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実施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40596" y="2480767"/>
            <a:ext cx="2061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承認内容に沿って着手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40596" y="2764231"/>
            <a:ext cx="206197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実施部門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203436" y="3340303"/>
            <a:ext cx="2336292" cy="987552"/>
          </a:xfrm>
          <a:prstGeom prst="rect">
            <a:avLst/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331452" y="3459175"/>
            <a:ext cx="20802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修正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340596" y="3797503"/>
            <a:ext cx="2061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指摘事項を反映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340596" y="4080967"/>
            <a:ext cx="206197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申請部門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788527" y="2439682"/>
            <a:ext cx="317754" cy="155321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承認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731948" y="3756418"/>
            <a:ext cx="430911" cy="155321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要修正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307770" y="4634242"/>
            <a:ext cx="430911" cy="155321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再申請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405872" y="6382512"/>
            <a:ext cx="58521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009376" y="6391656"/>
            <a:ext cx="53035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/ 23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展開計画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12か月で型の整備から全社標準へ移行する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664208"/>
            <a:ext cx="2423160" cy="438912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59" y="1737360"/>
            <a:ext cx="209397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フェーズ</a:t>
            </a:r>
          </a:p>
        </p:txBody>
      </p:sp>
      <p:sp>
        <p:nvSpPr>
          <p:cNvPr id="7" name="Rectangle 6"/>
          <p:cNvSpPr/>
          <p:nvPr/>
        </p:nvSpPr>
        <p:spPr>
          <a:xfrm>
            <a:off x="3081528" y="1664208"/>
            <a:ext cx="8430768" cy="438912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081528" y="1737360"/>
            <a:ext cx="7025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4月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84092" y="1737360"/>
            <a:ext cx="7025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5月</a:t>
            </a:r>
          </a:p>
        </p:txBody>
      </p:sp>
      <p:sp>
        <p:nvSpPr>
          <p:cNvPr id="10" name="Rectangle 9"/>
          <p:cNvSpPr/>
          <p:nvPr/>
        </p:nvSpPr>
        <p:spPr>
          <a:xfrm>
            <a:off x="3784092" y="1737360"/>
            <a:ext cx="9144" cy="292607"/>
          </a:xfrm>
          <a:prstGeom prst="rect">
            <a:avLst/>
          </a:prstGeom>
          <a:solidFill>
            <a:srgbClr val="66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86656" y="1737360"/>
            <a:ext cx="7025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6月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86656" y="1737360"/>
            <a:ext cx="9144" cy="292607"/>
          </a:xfrm>
          <a:prstGeom prst="rect">
            <a:avLst/>
          </a:prstGeom>
          <a:solidFill>
            <a:srgbClr val="66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89220" y="1737360"/>
            <a:ext cx="7025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7月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189220" y="1737360"/>
            <a:ext cx="9144" cy="292607"/>
          </a:xfrm>
          <a:prstGeom prst="rect">
            <a:avLst/>
          </a:prstGeom>
          <a:solidFill>
            <a:srgbClr val="66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891784" y="1737360"/>
            <a:ext cx="7025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8月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891784" y="1737360"/>
            <a:ext cx="9144" cy="292607"/>
          </a:xfrm>
          <a:prstGeom prst="rect">
            <a:avLst/>
          </a:prstGeom>
          <a:solidFill>
            <a:srgbClr val="66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94348" y="1737360"/>
            <a:ext cx="7025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9月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94348" y="1737360"/>
            <a:ext cx="9144" cy="292607"/>
          </a:xfrm>
          <a:prstGeom prst="rect">
            <a:avLst/>
          </a:prstGeom>
          <a:solidFill>
            <a:srgbClr val="66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296912" y="1737360"/>
            <a:ext cx="7025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10月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296912" y="1737360"/>
            <a:ext cx="9144" cy="292607"/>
          </a:xfrm>
          <a:prstGeom prst="rect">
            <a:avLst/>
          </a:prstGeom>
          <a:solidFill>
            <a:srgbClr val="66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999476" y="1737360"/>
            <a:ext cx="7025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11月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999476" y="1737360"/>
            <a:ext cx="9144" cy="292607"/>
          </a:xfrm>
          <a:prstGeom prst="rect">
            <a:avLst/>
          </a:prstGeom>
          <a:solidFill>
            <a:srgbClr val="66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702040" y="1737360"/>
            <a:ext cx="7025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12月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702040" y="1737360"/>
            <a:ext cx="9144" cy="292607"/>
          </a:xfrm>
          <a:prstGeom prst="rect">
            <a:avLst/>
          </a:prstGeom>
          <a:solidFill>
            <a:srgbClr val="66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404604" y="1737360"/>
            <a:ext cx="7025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1月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404604" y="1737360"/>
            <a:ext cx="9144" cy="292607"/>
          </a:xfrm>
          <a:prstGeom prst="rect">
            <a:avLst/>
          </a:prstGeom>
          <a:solidFill>
            <a:srgbClr val="66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107168" y="1737360"/>
            <a:ext cx="7025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2月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0107168" y="1737360"/>
            <a:ext cx="9144" cy="292607"/>
          </a:xfrm>
          <a:prstGeom prst="rect">
            <a:avLst/>
          </a:prstGeom>
          <a:solidFill>
            <a:srgbClr val="66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809732" y="1737360"/>
            <a:ext cx="7025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3月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0809732" y="1737360"/>
            <a:ext cx="9144" cy="292607"/>
          </a:xfrm>
          <a:prstGeom prst="rect">
            <a:avLst/>
          </a:prstGeom>
          <a:solidFill>
            <a:srgbClr val="66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58368" y="2103120"/>
            <a:ext cx="10853928" cy="713232"/>
          </a:xfrm>
          <a:prstGeom prst="rect">
            <a:avLst/>
          </a:prstGeom>
          <a:solidFill>
            <a:srgbClr val="FFFF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58368" y="2816352"/>
            <a:ext cx="10853928" cy="713232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58368" y="3529584"/>
            <a:ext cx="10853928" cy="713232"/>
          </a:xfrm>
          <a:prstGeom prst="rect">
            <a:avLst/>
          </a:prstGeom>
          <a:solidFill>
            <a:srgbClr val="FFFF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58368" y="4242816"/>
            <a:ext cx="10853928" cy="713232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58368" y="4956048"/>
            <a:ext cx="10853928" cy="713232"/>
          </a:xfrm>
          <a:prstGeom prst="rect">
            <a:avLst/>
          </a:prstGeom>
          <a:solidFill>
            <a:srgbClr val="FFFF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6" name="Connector 35"/>
          <p:cNvCxnSpPr/>
          <p:nvPr/>
        </p:nvCxnSpPr>
        <p:spPr>
          <a:xfrm>
            <a:off x="3081528" y="2103120"/>
            <a:ext cx="0" cy="356616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3784092" y="2103120"/>
            <a:ext cx="0" cy="356616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4486656" y="2103120"/>
            <a:ext cx="0" cy="356616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5189220" y="2103120"/>
            <a:ext cx="0" cy="356616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5891784" y="2103120"/>
            <a:ext cx="0" cy="356616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6594348" y="2103120"/>
            <a:ext cx="0" cy="356616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7296912" y="2103120"/>
            <a:ext cx="0" cy="356616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7999476" y="2103120"/>
            <a:ext cx="0" cy="356616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8702040" y="2103120"/>
            <a:ext cx="0" cy="356616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9404604" y="2103120"/>
            <a:ext cx="0" cy="356616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10107168" y="2103120"/>
            <a:ext cx="0" cy="356616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10809732" y="2103120"/>
            <a:ext cx="0" cy="356616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11512296" y="2103120"/>
            <a:ext cx="0" cy="356616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658368" y="2103120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658368" y="2816352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658368" y="3529584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658368" y="4242816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658368" y="4956048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658368" y="5669280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Box 54"/>
          <p:cNvSpPr txBox="1"/>
          <p:nvPr/>
        </p:nvSpPr>
        <p:spPr>
          <a:xfrm>
            <a:off x="768096" y="2231501"/>
            <a:ext cx="310896" cy="2468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33856" y="2188707"/>
            <a:ext cx="1837943" cy="2468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型の定義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133856" y="2502529"/>
            <a:ext cx="1837943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主要パターンを選定</a:t>
            </a:r>
          </a:p>
        </p:txBody>
      </p:sp>
      <p:sp>
        <p:nvSpPr>
          <p:cNvPr id="58" name="Rectangle 57"/>
          <p:cNvSpPr/>
          <p:nvPr/>
        </p:nvSpPr>
        <p:spPr>
          <a:xfrm>
            <a:off x="3127248" y="2274295"/>
            <a:ext cx="1313688" cy="274320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3209544" y="2306299"/>
            <a:ext cx="114909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標準レイアウトを定義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68096" y="2944733"/>
            <a:ext cx="310896" cy="2468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133856" y="2901939"/>
            <a:ext cx="1837943" cy="2468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実装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133856" y="3215761"/>
            <a:ext cx="1837943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rendererを整備</a:t>
            </a:r>
          </a:p>
        </p:txBody>
      </p:sp>
      <p:sp>
        <p:nvSpPr>
          <p:cNvPr id="63" name="Rectangle 62"/>
          <p:cNvSpPr/>
          <p:nvPr/>
        </p:nvSpPr>
        <p:spPr>
          <a:xfrm>
            <a:off x="3829812" y="2987527"/>
            <a:ext cx="2016252" cy="274320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3912108" y="3019531"/>
            <a:ext cx="18516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生成・検証機能を実装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68096" y="3657965"/>
            <a:ext cx="310896" cy="2468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133856" y="3615171"/>
            <a:ext cx="1837943" cy="2468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現場検証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133856" y="3928993"/>
            <a:ext cx="1837943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複数部門で試行</a:t>
            </a:r>
          </a:p>
        </p:txBody>
      </p:sp>
      <p:sp>
        <p:nvSpPr>
          <p:cNvPr id="68" name="Rectangle 67"/>
          <p:cNvSpPr/>
          <p:nvPr/>
        </p:nvSpPr>
        <p:spPr>
          <a:xfrm>
            <a:off x="5234940" y="3700759"/>
            <a:ext cx="2718816" cy="274320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5317236" y="3732763"/>
            <a:ext cx="255422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パイロット運用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68096" y="4371197"/>
            <a:ext cx="310896" cy="2468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04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133856" y="4328403"/>
            <a:ext cx="1837943" cy="2468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改善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133856" y="4642225"/>
            <a:ext cx="1837943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利用結果を反映</a:t>
            </a:r>
          </a:p>
        </p:txBody>
      </p:sp>
      <p:sp>
        <p:nvSpPr>
          <p:cNvPr id="73" name="Rectangle 72"/>
          <p:cNvSpPr/>
          <p:nvPr/>
        </p:nvSpPr>
        <p:spPr>
          <a:xfrm>
            <a:off x="7342632" y="4413991"/>
            <a:ext cx="2016251" cy="274320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7424928" y="4445995"/>
            <a:ext cx="18516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品質・操作性を改善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68096" y="5084429"/>
            <a:ext cx="310896" cy="2468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05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133856" y="5041635"/>
            <a:ext cx="1837943" cy="2468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標準化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133856" y="5355457"/>
            <a:ext cx="1837943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全社手順へ組込</a:t>
            </a:r>
          </a:p>
        </p:txBody>
      </p:sp>
      <p:sp>
        <p:nvSpPr>
          <p:cNvPr id="78" name="Rectangle 77"/>
          <p:cNvSpPr/>
          <p:nvPr/>
        </p:nvSpPr>
        <p:spPr>
          <a:xfrm>
            <a:off x="9450324" y="5127223"/>
            <a:ext cx="2016251" cy="274320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9532620" y="5159227"/>
            <a:ext cx="18516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標準運用へ移行</a:t>
            </a:r>
          </a:p>
        </p:txBody>
      </p:sp>
      <p:sp>
        <p:nvSpPr>
          <p:cNvPr id="80" name="Diamond 79"/>
          <p:cNvSpPr/>
          <p:nvPr/>
        </p:nvSpPr>
        <p:spPr>
          <a:xfrm>
            <a:off x="4066794" y="2116835"/>
            <a:ext cx="137160" cy="137160"/>
          </a:xfrm>
          <a:prstGeom prst="diamond">
            <a:avLst/>
          </a:prstGeom>
          <a:solidFill>
            <a:srgbClr val="C75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3573322" y="2588117"/>
            <a:ext cx="1124102" cy="164592"/>
          </a:xfrm>
          <a:prstGeom prst="rect">
            <a:avLst/>
          </a:prstGeom>
          <a:solidFill>
            <a:srgbClr val="FFFFFC"/>
          </a:solidFill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型レビュー</a:t>
            </a:r>
          </a:p>
        </p:txBody>
      </p:sp>
      <p:sp>
        <p:nvSpPr>
          <p:cNvPr id="82" name="Diamond 81"/>
          <p:cNvSpPr/>
          <p:nvPr/>
        </p:nvSpPr>
        <p:spPr>
          <a:xfrm>
            <a:off x="7579614" y="3543299"/>
            <a:ext cx="137160" cy="137160"/>
          </a:xfrm>
          <a:prstGeom prst="diamond">
            <a:avLst/>
          </a:prstGeom>
          <a:solidFill>
            <a:srgbClr val="C75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7086142" y="4014581"/>
            <a:ext cx="1124102" cy="164592"/>
          </a:xfrm>
          <a:prstGeom prst="rect">
            <a:avLst/>
          </a:prstGeom>
          <a:solidFill>
            <a:srgbClr val="FFFFFC"/>
          </a:solidFill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展開判断</a:t>
            </a:r>
          </a:p>
        </p:txBody>
      </p:sp>
      <p:sp>
        <p:nvSpPr>
          <p:cNvPr id="84" name="Diamond 83"/>
          <p:cNvSpPr/>
          <p:nvPr/>
        </p:nvSpPr>
        <p:spPr>
          <a:xfrm>
            <a:off x="11092434" y="4969764"/>
            <a:ext cx="137160" cy="137160"/>
          </a:xfrm>
          <a:prstGeom prst="diamond">
            <a:avLst/>
          </a:prstGeom>
          <a:solidFill>
            <a:srgbClr val="C75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10388193" y="5441045"/>
            <a:ext cx="1124102" cy="164592"/>
          </a:xfrm>
          <a:prstGeom prst="rect">
            <a:avLst/>
          </a:prstGeom>
          <a:solidFill>
            <a:srgbClr val="FFFFFC"/>
          </a:solidFill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標準化</a:t>
            </a:r>
          </a:p>
        </p:txBody>
      </p:sp>
      <p:sp>
        <p:nvSpPr>
          <p:cNvPr id="86" name="Rectangle 8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0405872" y="6382512"/>
            <a:ext cx="58521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15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1009376" y="6391656"/>
            <a:ext cx="53035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/ 23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年間プログラム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5つの改善テーマと並行作業を、年間計画として俯瞰する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91056"/>
            <a:ext cx="2542032" cy="40233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59" y="1655064"/>
            <a:ext cx="221284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テーマ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0" y="1591056"/>
            <a:ext cx="8311896" cy="40233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0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4月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93058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5月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85716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6月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78374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7月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71031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8月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63690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9月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56348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10月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9005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11月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41663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12月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34322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126980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2月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19638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3月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8368" y="1993392"/>
            <a:ext cx="10853928" cy="457200"/>
          </a:xfrm>
          <a:prstGeom prst="rect">
            <a:avLst/>
          </a:prstGeom>
          <a:solidFill>
            <a:srgbClr val="FFFF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58368" y="2478024"/>
            <a:ext cx="10853928" cy="768096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58368" y="3273552"/>
            <a:ext cx="10853928" cy="1078992"/>
          </a:xfrm>
          <a:prstGeom prst="rect">
            <a:avLst/>
          </a:prstGeom>
          <a:solidFill>
            <a:srgbClr val="FFFF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58368" y="4379976"/>
            <a:ext cx="10853928" cy="457200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58368" y="4864608"/>
            <a:ext cx="10853928" cy="768096"/>
          </a:xfrm>
          <a:prstGeom prst="rect">
            <a:avLst/>
          </a:prstGeom>
          <a:solidFill>
            <a:srgbClr val="FFFF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5" name="Connector 24"/>
          <p:cNvCxnSpPr/>
          <p:nvPr/>
        </p:nvCxnSpPr>
        <p:spPr>
          <a:xfrm>
            <a:off x="3200400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3893058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4585716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5278374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5971031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6663690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7356348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8049005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8741663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9434322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10126980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0819638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11512296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658368" y="1993392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768096" y="2093976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33856" y="2075688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利用部門の拡大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3405568" y="2098548"/>
            <a:ext cx="1667637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3594735" y="2130552"/>
            <a:ext cx="1289304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対象業務の選定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8427338" y="2098548"/>
            <a:ext cx="3052954" cy="0"/>
          </a:xfrm>
          <a:prstGeom prst="line">
            <a:avLst/>
          </a:prstGeom>
          <a:ln w="17780">
            <a:solidFill>
              <a:srgbClr val="C7583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9309163" y="2130552"/>
            <a:ext cx="1289304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追加部門へ展開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658368" y="2478024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768096" y="2578608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133856" y="2560320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デザイン標準化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3232404" y="2583180"/>
            <a:ext cx="2013966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3594735" y="2615184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利用要件の整理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4617720" y="2894076"/>
            <a:ext cx="2706624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5326379" y="2926079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共通仕様の策定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5310378" y="2583180"/>
            <a:ext cx="2706623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6019038" y="2615184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試行版の検証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658368" y="3273552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Box 54"/>
          <p:cNvSpPr txBox="1"/>
          <p:nvPr/>
        </p:nvSpPr>
        <p:spPr>
          <a:xfrm>
            <a:off x="768096" y="3374136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33856" y="3355848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運用基盤の再設計</a:t>
            </a:r>
          </a:p>
        </p:txBody>
      </p:sp>
      <p:cxnSp>
        <p:nvCxnSpPr>
          <p:cNvPr id="57" name="Connector 56"/>
          <p:cNvCxnSpPr/>
          <p:nvPr/>
        </p:nvCxnSpPr>
        <p:spPr>
          <a:xfrm>
            <a:off x="3232404" y="3378708"/>
            <a:ext cx="1321308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TextBox 57"/>
          <p:cNvSpPr txBox="1"/>
          <p:nvPr/>
        </p:nvSpPr>
        <p:spPr>
          <a:xfrm>
            <a:off x="3248406" y="3410712"/>
            <a:ext cx="1289304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現状調査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4617720" y="3378708"/>
            <a:ext cx="2706624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TextBox 59"/>
          <p:cNvSpPr txBox="1"/>
          <p:nvPr/>
        </p:nvSpPr>
        <p:spPr>
          <a:xfrm>
            <a:off x="5326379" y="3410712"/>
            <a:ext cx="1289304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移行方針の策定</a:t>
            </a:r>
          </a:p>
        </p:txBody>
      </p:sp>
      <p:cxnSp>
        <p:nvCxnSpPr>
          <p:cNvPr id="61" name="Connector 60"/>
          <p:cNvCxnSpPr/>
          <p:nvPr/>
        </p:nvCxnSpPr>
        <p:spPr>
          <a:xfrm>
            <a:off x="5310378" y="3689604"/>
            <a:ext cx="2706623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TextBox 61"/>
          <p:cNvSpPr txBox="1"/>
          <p:nvPr/>
        </p:nvSpPr>
        <p:spPr>
          <a:xfrm>
            <a:off x="6019038" y="3721608"/>
            <a:ext cx="1289304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新環境の構築</a:t>
            </a:r>
          </a:p>
        </p:txBody>
      </p:sp>
      <p:cxnSp>
        <p:nvCxnSpPr>
          <p:cNvPr id="63" name="Connector 62"/>
          <p:cNvCxnSpPr/>
          <p:nvPr/>
        </p:nvCxnSpPr>
        <p:spPr>
          <a:xfrm>
            <a:off x="6003036" y="4000500"/>
            <a:ext cx="628650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TextBox 63"/>
          <p:cNvSpPr txBox="1"/>
          <p:nvPr/>
        </p:nvSpPr>
        <p:spPr>
          <a:xfrm>
            <a:off x="5816155" y="4032504"/>
            <a:ext cx="1002411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運用リハーサル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6695694" y="4000500"/>
            <a:ext cx="1321307" cy="0"/>
          </a:xfrm>
          <a:prstGeom prst="line">
            <a:avLst/>
          </a:prstGeom>
          <a:ln w="17780">
            <a:solidFill>
              <a:srgbClr val="C7583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TextBox 65"/>
          <p:cNvSpPr txBox="1"/>
          <p:nvPr/>
        </p:nvSpPr>
        <p:spPr>
          <a:xfrm>
            <a:off x="6855142" y="4032504"/>
            <a:ext cx="1002410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本番移行</a:t>
            </a:r>
          </a:p>
        </p:txBody>
      </p:sp>
      <p:cxnSp>
        <p:nvCxnSpPr>
          <p:cNvPr id="67" name="Connector 66"/>
          <p:cNvCxnSpPr/>
          <p:nvPr/>
        </p:nvCxnSpPr>
        <p:spPr>
          <a:xfrm>
            <a:off x="8773667" y="3378708"/>
            <a:ext cx="2706625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TextBox 67"/>
          <p:cNvSpPr txBox="1"/>
          <p:nvPr/>
        </p:nvSpPr>
        <p:spPr>
          <a:xfrm>
            <a:off x="9482328" y="3410712"/>
            <a:ext cx="1289304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旧環境の停止</a:t>
            </a:r>
          </a:p>
        </p:txBody>
      </p:sp>
      <p:cxnSp>
        <p:nvCxnSpPr>
          <p:cNvPr id="69" name="Connector 68"/>
          <p:cNvCxnSpPr/>
          <p:nvPr/>
        </p:nvCxnSpPr>
        <p:spPr>
          <a:xfrm>
            <a:off x="658368" y="4379976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TextBox 69"/>
          <p:cNvSpPr txBox="1"/>
          <p:nvPr/>
        </p:nvSpPr>
        <p:spPr>
          <a:xfrm>
            <a:off x="768096" y="4480560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04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133856" y="4462272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外部サービス連携</a:t>
            </a:r>
          </a:p>
        </p:txBody>
      </p:sp>
      <p:cxnSp>
        <p:nvCxnSpPr>
          <p:cNvPr id="72" name="Connector 71"/>
          <p:cNvCxnSpPr/>
          <p:nvPr/>
        </p:nvCxnSpPr>
        <p:spPr>
          <a:xfrm>
            <a:off x="3925062" y="4485132"/>
            <a:ext cx="1321308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TextBox 72"/>
          <p:cNvSpPr txBox="1"/>
          <p:nvPr/>
        </p:nvSpPr>
        <p:spPr>
          <a:xfrm>
            <a:off x="3941064" y="4517136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方式検討</a:t>
            </a:r>
          </a:p>
        </p:txBody>
      </p:sp>
      <p:cxnSp>
        <p:nvCxnSpPr>
          <p:cNvPr id="74" name="Connector 73"/>
          <p:cNvCxnSpPr/>
          <p:nvPr/>
        </p:nvCxnSpPr>
        <p:spPr>
          <a:xfrm>
            <a:off x="5310378" y="4485132"/>
            <a:ext cx="2013966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TextBox 74"/>
          <p:cNvSpPr txBox="1"/>
          <p:nvPr/>
        </p:nvSpPr>
        <p:spPr>
          <a:xfrm>
            <a:off x="5672708" y="4517136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接続開発</a:t>
            </a:r>
          </a:p>
        </p:txBody>
      </p:sp>
      <p:cxnSp>
        <p:nvCxnSpPr>
          <p:cNvPr id="76" name="Connector 75"/>
          <p:cNvCxnSpPr/>
          <p:nvPr/>
        </p:nvCxnSpPr>
        <p:spPr>
          <a:xfrm>
            <a:off x="7388352" y="4485132"/>
            <a:ext cx="628649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TextBox 76"/>
          <p:cNvSpPr txBox="1"/>
          <p:nvPr/>
        </p:nvSpPr>
        <p:spPr>
          <a:xfrm>
            <a:off x="7058024" y="4517136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段階展開</a:t>
            </a:r>
          </a:p>
        </p:txBody>
      </p:sp>
      <p:cxnSp>
        <p:nvCxnSpPr>
          <p:cNvPr id="78" name="Connector 77"/>
          <p:cNvCxnSpPr/>
          <p:nvPr/>
        </p:nvCxnSpPr>
        <p:spPr>
          <a:xfrm>
            <a:off x="658368" y="4864608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TextBox 78"/>
          <p:cNvSpPr txBox="1"/>
          <p:nvPr/>
        </p:nvSpPr>
        <p:spPr>
          <a:xfrm>
            <a:off x="768096" y="4965192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133856" y="4946904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データ活用基盤</a:t>
            </a:r>
          </a:p>
        </p:txBody>
      </p:sp>
      <p:cxnSp>
        <p:nvCxnSpPr>
          <p:cNvPr id="81" name="Connector 80"/>
          <p:cNvCxnSpPr/>
          <p:nvPr/>
        </p:nvCxnSpPr>
        <p:spPr>
          <a:xfrm>
            <a:off x="3925062" y="4969764"/>
            <a:ext cx="1321308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2" name="TextBox 81"/>
          <p:cNvSpPr txBox="1"/>
          <p:nvPr/>
        </p:nvSpPr>
        <p:spPr>
          <a:xfrm>
            <a:off x="3941064" y="5001768"/>
            <a:ext cx="1289304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要件定義</a:t>
            </a:r>
          </a:p>
        </p:txBody>
      </p:sp>
      <p:cxnSp>
        <p:nvCxnSpPr>
          <p:cNvPr id="83" name="Connector 82"/>
          <p:cNvCxnSpPr/>
          <p:nvPr/>
        </p:nvCxnSpPr>
        <p:spPr>
          <a:xfrm>
            <a:off x="4617720" y="5280660"/>
            <a:ext cx="2706624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TextBox 83"/>
          <p:cNvSpPr txBox="1"/>
          <p:nvPr/>
        </p:nvSpPr>
        <p:spPr>
          <a:xfrm>
            <a:off x="5326379" y="5312664"/>
            <a:ext cx="1289304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基盤構築</a:t>
            </a:r>
          </a:p>
        </p:txBody>
      </p:sp>
      <p:cxnSp>
        <p:nvCxnSpPr>
          <p:cNvPr id="85" name="Connector 84"/>
          <p:cNvCxnSpPr/>
          <p:nvPr/>
        </p:nvCxnSpPr>
        <p:spPr>
          <a:xfrm>
            <a:off x="7388352" y="4969764"/>
            <a:ext cx="1321307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6" name="TextBox 85"/>
          <p:cNvSpPr txBox="1"/>
          <p:nvPr/>
        </p:nvSpPr>
        <p:spPr>
          <a:xfrm>
            <a:off x="7404353" y="5001768"/>
            <a:ext cx="1289304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利用検証</a:t>
            </a:r>
          </a:p>
        </p:txBody>
      </p:sp>
      <p:cxnSp>
        <p:nvCxnSpPr>
          <p:cNvPr id="87" name="Connector 86"/>
          <p:cNvCxnSpPr/>
          <p:nvPr/>
        </p:nvCxnSpPr>
        <p:spPr>
          <a:xfrm>
            <a:off x="8773667" y="4969764"/>
            <a:ext cx="2013967" cy="0"/>
          </a:xfrm>
          <a:prstGeom prst="line">
            <a:avLst/>
          </a:prstGeom>
          <a:ln w="17780">
            <a:solidFill>
              <a:srgbClr val="C7583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8" name="TextBox 87"/>
          <p:cNvSpPr txBox="1"/>
          <p:nvPr/>
        </p:nvSpPr>
        <p:spPr>
          <a:xfrm>
            <a:off x="9135999" y="5001768"/>
            <a:ext cx="1289304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全社展開</a:t>
            </a:r>
          </a:p>
        </p:txBody>
      </p:sp>
      <p:cxnSp>
        <p:nvCxnSpPr>
          <p:cNvPr id="89" name="Connector 88"/>
          <p:cNvCxnSpPr/>
          <p:nvPr/>
        </p:nvCxnSpPr>
        <p:spPr>
          <a:xfrm>
            <a:off x="658368" y="5632704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" name="TextBox 89"/>
          <p:cNvSpPr txBox="1"/>
          <p:nvPr/>
        </p:nvSpPr>
        <p:spPr>
          <a:xfrm>
            <a:off x="502920" y="6053328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月途中の開始・終了は1/4月単位で表現する。</a:t>
            </a:r>
          </a:p>
        </p:txBody>
      </p:sp>
      <p:sp>
        <p:nvSpPr>
          <p:cNvPr id="91" name="Rectangle 90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405872" y="6382512"/>
            <a:ext cx="58521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16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1009376" y="6391656"/>
            <a:ext cx="53035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/ 23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優先度整理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提出品質と再利用性から、整備優先度を決める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1536192" y="2029968"/>
            <a:ext cx="9601200" cy="3675887"/>
          </a:xfrm>
          <a:prstGeom prst="rect">
            <a:avLst/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336792" y="2029968"/>
            <a:ext cx="4800600" cy="1837943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700784" y="5321808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個別対応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61120" y="5321808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0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再利用候補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00784" y="219456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品質改善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0" y="219456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0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優先整備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536192" y="5705856"/>
            <a:ext cx="9601200" cy="0"/>
          </a:xfrm>
          <a:prstGeom prst="line">
            <a:avLst/>
          </a:prstGeom>
          <a:ln w="2222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1536192" y="2029968"/>
            <a:ext cx="0" cy="3675888"/>
          </a:xfrm>
          <a:prstGeom prst="line">
            <a:avLst/>
          </a:prstGeom>
          <a:ln w="2222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8851392" y="5852160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50" b="1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再利用性 →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17904" y="1682496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↑ 提出品質</a:t>
            </a:r>
          </a:p>
        </p:txBody>
      </p:sp>
      <p:sp>
        <p:nvSpPr>
          <p:cNvPr id="15" name="Oval 14"/>
          <p:cNvSpPr/>
          <p:nvPr/>
        </p:nvSpPr>
        <p:spPr>
          <a:xfrm>
            <a:off x="3127248" y="3436680"/>
            <a:ext cx="274320" cy="274320"/>
          </a:xfrm>
          <a:prstGeom prst="ellipse">
            <a:avLst/>
          </a:prstGeom>
          <a:solidFill>
            <a:srgbClr val="0D7870"/>
          </a:solidFill>
          <a:ln w="1270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311896" y="2775021"/>
            <a:ext cx="274320" cy="274320"/>
          </a:xfrm>
          <a:prstGeom prst="ellipse">
            <a:avLst/>
          </a:prstGeom>
          <a:solidFill>
            <a:srgbClr val="C7583E"/>
          </a:solidFill>
          <a:ln w="1270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927848" y="3142609"/>
            <a:ext cx="274320" cy="274320"/>
          </a:xfrm>
          <a:prstGeom prst="ellipse">
            <a:avLst/>
          </a:prstGeom>
          <a:solidFill>
            <a:srgbClr val="0D7870"/>
          </a:solidFill>
          <a:ln w="1270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5623559" y="3289645"/>
            <a:ext cx="274320" cy="274320"/>
          </a:xfrm>
          <a:prstGeom prst="ellipse">
            <a:avLst/>
          </a:prstGeom>
          <a:solidFill>
            <a:srgbClr val="0D7870"/>
          </a:solidFill>
          <a:ln w="1270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759451" y="2407432"/>
            <a:ext cx="274320" cy="274320"/>
          </a:xfrm>
          <a:prstGeom prst="ellipse">
            <a:avLst/>
          </a:prstGeom>
          <a:solidFill>
            <a:srgbClr val="0D7870"/>
          </a:solidFill>
          <a:ln w="1270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3319272" y="4392411"/>
            <a:ext cx="274320" cy="274320"/>
          </a:xfrm>
          <a:prstGeom prst="ellipse">
            <a:avLst/>
          </a:prstGeom>
          <a:solidFill>
            <a:srgbClr val="0D7870"/>
          </a:solidFill>
          <a:ln w="1270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350008" y="3125784"/>
            <a:ext cx="1828800" cy="283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タイトル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34656" y="2464125"/>
            <a:ext cx="1828800" cy="283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1" lang="ja-JP">
                <a:solidFill>
                  <a:srgbClr val="C7583E"/>
                </a:solidFill>
                <a:latin typeface="Yu Gothic"/>
                <a:ea typeface="Yu Gothic"/>
                <a:cs typeface="Yu Gothic"/>
              </a:rPr>
              <a:t>要点列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50608" y="3444361"/>
            <a:ext cx="1828800" cy="283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比較表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767327" y="3554821"/>
            <a:ext cx="1828800" cy="283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ロードマップ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982211" y="2096536"/>
            <a:ext cx="1828800" cy="283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高密度構成図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542032" y="4081515"/>
            <a:ext cx="1828800" cy="2834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自由配置図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6053328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位置づけはテンプレート整備の優先度を示すサンプル。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405872" y="6382512"/>
            <a:ext cx="58521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009376" y="6391656"/>
            <a:ext cx="53035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/ 23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集約窓口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インシデント統括窓口へ、5部門の情報と判断を集約する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099048" y="2592324"/>
            <a:ext cx="0" cy="781812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  <a:head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 flipH="1">
            <a:off x="7176017" y="3406003"/>
            <a:ext cx="2580030" cy="316202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  <a:head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 flipH="1" flipV="1">
            <a:off x="6812146" y="4224409"/>
            <a:ext cx="1461842" cy="758932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  <a:head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V="1">
            <a:off x="3924107" y="4224409"/>
            <a:ext cx="1461842" cy="758932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  <a:head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2442048" y="3406003"/>
            <a:ext cx="2580030" cy="316202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  <a:head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5713857" y="3160908"/>
            <a:ext cx="770382" cy="17627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報告 / 判断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74438" y="3501262"/>
            <a:ext cx="770382" cy="17627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状況 / 復旧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74063" y="4455022"/>
            <a:ext cx="904113" cy="17627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影響 / 優先度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6785" y="4455022"/>
            <a:ext cx="770382" cy="17627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判定 / 指示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53275" y="3501262"/>
            <a:ext cx="770382" cy="17627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公表 / 承認</a:t>
            </a:r>
          </a:p>
        </p:txBody>
      </p:sp>
      <p:pic>
        <p:nvPicPr>
          <p:cNvPr id="15" name="Picture 14" descr="briefca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1988820"/>
            <a:ext cx="585216" cy="58521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821870" y="2619756"/>
            <a:ext cx="554355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経営層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06440" y="2875788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重要判断</a:t>
            </a:r>
          </a:p>
        </p:txBody>
      </p:sp>
      <p:pic>
        <p:nvPicPr>
          <p:cNvPr id="18" name="Picture 17" descr="serv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72026" y="3075575"/>
            <a:ext cx="585216" cy="585216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9633151" y="3706511"/>
            <a:ext cx="862965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運用チーム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772026" y="3962543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復旧対応</a:t>
            </a:r>
          </a:p>
        </p:txBody>
      </p:sp>
      <p:pic>
        <p:nvPicPr>
          <p:cNvPr id="21" name="Picture 20" descr="team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57307" y="4833984"/>
            <a:ext cx="585216" cy="585216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8195585" y="4360274"/>
            <a:ext cx="70866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利用部門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57307" y="4625958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影響確認</a:t>
            </a:r>
          </a:p>
        </p:txBody>
      </p:sp>
      <p:pic>
        <p:nvPicPr>
          <p:cNvPr id="24" name="Picture 23" descr="shield_che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55572" y="4833984"/>
            <a:ext cx="585216" cy="585216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3139545" y="4360274"/>
            <a:ext cx="101727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セキュリティ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293850" y="4625958"/>
            <a:ext cx="708660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重大度判定</a:t>
            </a:r>
          </a:p>
        </p:txBody>
      </p:sp>
      <p:pic>
        <p:nvPicPr>
          <p:cNvPr id="27" name="Picture 26" descr="sen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40853" y="3075575"/>
            <a:ext cx="585216" cy="585216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1933436" y="3706511"/>
            <a:ext cx="40005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広報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40853" y="3962543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対外連絡</a:t>
            </a:r>
          </a:p>
        </p:txBody>
      </p:sp>
      <p:sp>
        <p:nvSpPr>
          <p:cNvPr id="30" name="Oval 29"/>
          <p:cNvSpPr/>
          <p:nvPr/>
        </p:nvSpPr>
        <p:spPr>
          <a:xfrm>
            <a:off x="4978908" y="3374136"/>
            <a:ext cx="2240280" cy="960120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978908" y="3570732"/>
            <a:ext cx="22402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3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インシデント</a:t>
            </a:r>
          </a:p>
          <a:p>
            <a:pPr algn="ctr">
              <a:lnSpc>
                <a:spcPct val="130000"/>
              </a:lnSpc>
            </a:pPr>
            <a:r>
              <a:rPr sz="13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統括窓口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405872" y="6382512"/>
            <a:ext cx="58521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18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009376" y="6391656"/>
            <a:ext cx="53035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/ 23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推進体制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責任者から各チームまで、指揮系統を明確にする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3974439" y="2880360"/>
            <a:ext cx="4242816" cy="0"/>
          </a:xfrm>
          <a:prstGeom prst="line">
            <a:avLst/>
          </a:prstGeom>
          <a:ln w="13970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3974439" y="2596896"/>
            <a:ext cx="0" cy="283464"/>
          </a:xfrm>
          <a:prstGeom prst="line">
            <a:avLst/>
          </a:prstGeom>
          <a:ln w="13970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8217255" y="2596896"/>
            <a:ext cx="0" cy="283464"/>
          </a:xfrm>
          <a:prstGeom prst="line">
            <a:avLst/>
          </a:prstGeom>
          <a:ln w="13970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6095847" y="2880360"/>
            <a:ext cx="0" cy="283464"/>
          </a:xfrm>
          <a:prstGeom prst="line">
            <a:avLst/>
          </a:prstGeom>
          <a:ln w="1397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853145" y="4215383"/>
            <a:ext cx="8485404" cy="0"/>
          </a:xfrm>
          <a:prstGeom prst="line">
            <a:avLst/>
          </a:prstGeom>
          <a:ln w="13970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6095847" y="3931920"/>
            <a:ext cx="0" cy="283463"/>
          </a:xfrm>
          <a:prstGeom prst="line">
            <a:avLst/>
          </a:prstGeom>
          <a:ln w="13970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853145" y="4215383"/>
            <a:ext cx="0" cy="283465"/>
          </a:xfrm>
          <a:prstGeom prst="line">
            <a:avLst/>
          </a:prstGeom>
          <a:ln w="1397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681613" y="4215383"/>
            <a:ext cx="0" cy="283465"/>
          </a:xfrm>
          <a:prstGeom prst="line">
            <a:avLst/>
          </a:prstGeom>
          <a:ln w="1397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7510081" y="4215383"/>
            <a:ext cx="0" cy="283465"/>
          </a:xfrm>
          <a:prstGeom prst="line">
            <a:avLst/>
          </a:prstGeom>
          <a:ln w="1397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10338549" y="4215383"/>
            <a:ext cx="0" cy="283465"/>
          </a:xfrm>
          <a:prstGeom prst="line">
            <a:avLst/>
          </a:prstGeom>
          <a:ln w="1397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/>
          <p:cNvSpPr/>
          <p:nvPr/>
        </p:nvSpPr>
        <p:spPr>
          <a:xfrm>
            <a:off x="2008479" y="1828800"/>
            <a:ext cx="3931920" cy="768096"/>
          </a:xfrm>
          <a:prstGeom prst="rect">
            <a:avLst/>
          </a:prstGeom>
          <a:solidFill>
            <a:srgbClr val="182C43"/>
          </a:solidFill>
          <a:ln w="952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136495" y="1892807"/>
            <a:ext cx="367588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プロジェクト責任者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36495" y="2157984"/>
            <a:ext cx="3675887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50" b="0" lang="ja-JP">
                <a:solidFill>
                  <a:srgbClr val="DFEBE8"/>
                </a:solidFill>
                <a:latin typeface="Yu Gothic"/>
                <a:ea typeface="Yu Gothic"/>
                <a:cs typeface="Yu Gothic"/>
              </a:rPr>
              <a:t>方針・予算を決定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51295" y="1828800"/>
            <a:ext cx="3931920" cy="768096"/>
          </a:xfrm>
          <a:prstGeom prst="rect">
            <a:avLst/>
          </a:prstGeom>
          <a:solidFill>
            <a:srgbClr val="182C43"/>
          </a:solidFill>
          <a:ln w="952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79311" y="1892807"/>
            <a:ext cx="367588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システム責任者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79311" y="2157984"/>
            <a:ext cx="3675887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50" b="0" lang="ja-JP">
                <a:solidFill>
                  <a:srgbClr val="DFEBE8"/>
                </a:solidFill>
                <a:latin typeface="Yu Gothic"/>
                <a:ea typeface="Yu Gothic"/>
                <a:cs typeface="Yu Gothic"/>
              </a:rPr>
              <a:t>システム方針を決定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221327" y="3163824"/>
            <a:ext cx="3749039" cy="768096"/>
          </a:xfrm>
          <a:prstGeom prst="rect">
            <a:avLst/>
          </a:prstGeom>
          <a:solidFill>
            <a:srgbClr val="FFFFFC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349343" y="3227832"/>
            <a:ext cx="349300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プロジェクトマネージャー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49343" y="3493008"/>
            <a:ext cx="3493007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計画・課題・品質を統括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4360" y="4498848"/>
            <a:ext cx="2517571" cy="768096"/>
          </a:xfrm>
          <a:prstGeom prst="rect">
            <a:avLst/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22376" y="4562856"/>
            <a:ext cx="226153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業務チーム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2376" y="4828032"/>
            <a:ext cx="2261539" cy="40233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業務要件・受入を担当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422827" y="4498848"/>
            <a:ext cx="2517571" cy="768096"/>
          </a:xfrm>
          <a:prstGeom prst="rect">
            <a:avLst/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550843" y="4562856"/>
            <a:ext cx="226153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開発チーム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50843" y="4828032"/>
            <a:ext cx="2261539" cy="40233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設計・開発・試験を担当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51295" y="4498848"/>
            <a:ext cx="2517571" cy="768096"/>
          </a:xfrm>
          <a:prstGeom prst="rect">
            <a:avLst/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79311" y="4562856"/>
            <a:ext cx="226153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基盤チーム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79311" y="4828032"/>
            <a:ext cx="2261539" cy="40233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基盤・ネットワークを担当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079763" y="4498848"/>
            <a:ext cx="2517571" cy="768096"/>
          </a:xfrm>
          <a:prstGeom prst="rect">
            <a:avLst/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207779" y="4562856"/>
            <a:ext cx="226153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移行・運用チーム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207779" y="4828032"/>
            <a:ext cx="2261539" cy="40233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移行・運用設計を担当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405872" y="6382512"/>
            <a:ext cx="58521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009376" y="6391656"/>
            <a:ext cx="53035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/ 23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構成図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主要コンポーネントとデータの流れを短く示す</a:t>
            </a:r>
          </a:p>
        </p:txBody>
      </p:sp>
      <p:sp>
        <p:nvSpPr>
          <p:cNvPr id="5" name="Rectangle 4"/>
          <p:cNvSpPr/>
          <p:nvPr/>
        </p:nvSpPr>
        <p:spPr>
          <a:xfrm>
            <a:off x="2906191" y="1539849"/>
            <a:ext cx="6390170" cy="4306823"/>
          </a:xfrm>
          <a:prstGeom prst="rect">
            <a:avLst/>
          </a:prstGeom>
          <a:noFill/>
          <a:ln w="15875">
            <a:solidFill>
              <a:srgbClr val="6C73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015919" y="1594713"/>
            <a:ext cx="85496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C7372"/>
                </a:solidFill>
                <a:latin typeface="Yu Gothic"/>
                <a:ea typeface="Yu Gothic"/>
                <a:cs typeface="Yu Gothic"/>
              </a:rPr>
              <a:t>AWS Cloud</a:t>
            </a:r>
          </a:p>
        </p:txBody>
      </p:sp>
      <p:sp>
        <p:nvSpPr>
          <p:cNvPr id="7" name="Rectangle 6"/>
          <p:cNvSpPr/>
          <p:nvPr/>
        </p:nvSpPr>
        <p:spPr>
          <a:xfrm>
            <a:off x="3180511" y="2783433"/>
            <a:ext cx="3713721" cy="1819655"/>
          </a:xfrm>
          <a:prstGeom prst="rect">
            <a:avLst/>
          </a:prstGeom>
          <a:noFill/>
          <a:ln w="15875">
            <a:prstDash val="dash"/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90239" y="2838297"/>
            <a:ext cx="101955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VPC (private)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938528" y="3615537"/>
            <a:ext cx="1571167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4186351" y="3615537"/>
            <a:ext cx="1571168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6434175" y="3377793"/>
            <a:ext cx="785584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7219759" y="2371953"/>
            <a:ext cx="0" cy="100584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7219759" y="2371953"/>
            <a:ext cx="785584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6434175" y="3615537"/>
            <a:ext cx="1571168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6434175" y="3853281"/>
            <a:ext cx="785584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7219759" y="3853281"/>
            <a:ext cx="0" cy="100584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7219759" y="4859121"/>
            <a:ext cx="785584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8681999" y="3615537"/>
            <a:ext cx="1571168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9" name="Picture 18" descr="us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6736" y="3332073"/>
            <a:ext cx="566928" cy="56692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091565" y="3944721"/>
            <a:ext cx="101727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社内ユーザー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07592" y="4200753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ブラウザ</a:t>
            </a:r>
          </a:p>
        </p:txBody>
      </p:sp>
      <p:pic>
        <p:nvPicPr>
          <p:cNvPr id="22" name="Picture 21" descr="al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64559" y="3332073"/>
            <a:ext cx="566928" cy="566928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3647998" y="3944721"/>
            <a:ext cx="40005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ALB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01707" y="4200753"/>
            <a:ext cx="492633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内部LB</a:t>
            </a:r>
          </a:p>
        </p:txBody>
      </p:sp>
      <p:pic>
        <p:nvPicPr>
          <p:cNvPr id="25" name="Picture 24" descr="farga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12383" y="3332073"/>
            <a:ext cx="566928" cy="566928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5571782" y="3944721"/>
            <a:ext cx="1048131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ECS Fargate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12333" y="4200753"/>
            <a:ext cx="136702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生成API (python-pptx)</a:t>
            </a:r>
          </a:p>
        </p:txBody>
      </p:sp>
      <p:pic>
        <p:nvPicPr>
          <p:cNvPr id="28" name="Picture 27" descr="bedro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60207" y="2088489"/>
            <a:ext cx="566928" cy="566928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7665300" y="2701137"/>
            <a:ext cx="1356741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Amazon Bedrock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624152" y="2957169"/>
            <a:ext cx="143903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Claude (構成JSON生成)</a:t>
            </a:r>
          </a:p>
        </p:txBody>
      </p:sp>
      <p:pic>
        <p:nvPicPr>
          <p:cNvPr id="31" name="Picture 30" descr="s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60207" y="3332073"/>
            <a:ext cx="566928" cy="566928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7881327" y="3944721"/>
            <a:ext cx="924687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Amazon S3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11592" y="4200753"/>
            <a:ext cx="126415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テンプレート/成果物</a:t>
            </a:r>
          </a:p>
        </p:txBody>
      </p:sp>
      <p:pic>
        <p:nvPicPr>
          <p:cNvPr id="34" name="Picture 33" descr="cloudwatch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60207" y="4575657"/>
            <a:ext cx="566928" cy="566928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7845323" y="5188305"/>
            <a:ext cx="996696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CloudWatch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865897" y="5444337"/>
            <a:ext cx="95554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ログ・監査証跡</a:t>
            </a:r>
          </a:p>
        </p:txBody>
      </p:sp>
      <p:pic>
        <p:nvPicPr>
          <p:cNvPr id="37" name="Picture 36" descr="user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308031" y="3332073"/>
            <a:ext cx="566928" cy="566928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10237165" y="3944721"/>
            <a:ext cx="70866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利用部門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75443" y="4200753"/>
            <a:ext cx="832104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ダウンロード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467508" y="3378936"/>
            <a:ext cx="51320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HTTPS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927151" y="2793720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構成生成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927151" y="3378936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読み書き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174975" y="3378936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署名URL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02920" y="6053328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AWSアイコンは slidegen/assets/icons/aws/ から読み込む。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405872" y="6382512"/>
            <a:ext cx="58521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1009376" y="6391656"/>
            <a:ext cx="53035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/ 23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高密度構成図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高密度なAWS構成も、グリッド仕様で自動配置する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2656652" y="1342430"/>
            <a:ext cx="8707511" cy="4753051"/>
          </a:xfrm>
          <a:prstGeom prst="rect">
            <a:avLst/>
          </a:prstGeom>
          <a:noFill/>
          <a:ln w="15875">
            <a:solidFill>
              <a:srgbClr val="6C73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66380" y="1397294"/>
            <a:ext cx="85496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C7372"/>
                </a:solidFill>
                <a:latin typeface="Yu Gothic"/>
                <a:ea typeface="Yu Gothic"/>
                <a:cs typeface="Yu Gothic"/>
              </a:rPr>
              <a:t>AWS Cloud</a:t>
            </a:r>
          </a:p>
        </p:txBody>
      </p:sp>
      <p:sp>
        <p:nvSpPr>
          <p:cNvPr id="7" name="Rectangle 6"/>
          <p:cNvSpPr/>
          <p:nvPr/>
        </p:nvSpPr>
        <p:spPr>
          <a:xfrm>
            <a:off x="3957706" y="2384846"/>
            <a:ext cx="6084829" cy="3505809"/>
          </a:xfrm>
          <a:prstGeom prst="rect">
            <a:avLst/>
          </a:prstGeom>
          <a:noFill/>
          <a:ln w="1587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067434" y="2439710"/>
            <a:ext cx="161620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VPC (private subnets)</a:t>
            </a:r>
          </a:p>
        </p:txBody>
      </p:sp>
      <p:sp>
        <p:nvSpPr>
          <p:cNvPr id="9" name="Rectangle 8"/>
          <p:cNvSpPr/>
          <p:nvPr/>
        </p:nvSpPr>
        <p:spPr>
          <a:xfrm>
            <a:off x="4360042" y="3573566"/>
            <a:ext cx="1673352" cy="2295143"/>
          </a:xfrm>
          <a:prstGeom prst="rect">
            <a:avLst/>
          </a:prstGeom>
          <a:noFill/>
          <a:ln w="15875">
            <a:prstDash val="dash"/>
            <a:solidFill>
              <a:srgbClr val="6C73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69770" y="3628430"/>
            <a:ext cx="412623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C7372"/>
                </a:solidFill>
                <a:latin typeface="Yu Gothic"/>
                <a:ea typeface="Yu Gothic"/>
                <a:cs typeface="Yu Gothic"/>
              </a:rPr>
              <a:t>AZ-a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946273" y="3573566"/>
            <a:ext cx="1693925" cy="2295143"/>
          </a:xfrm>
          <a:prstGeom prst="rect">
            <a:avLst/>
          </a:prstGeom>
          <a:noFill/>
          <a:ln w="15875">
            <a:prstDash val="dash"/>
            <a:solidFill>
              <a:srgbClr val="6C73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56001" y="3628430"/>
            <a:ext cx="412623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C7372"/>
                </a:solidFill>
                <a:latin typeface="Yu Gothic"/>
                <a:ea typeface="Yu Gothic"/>
                <a:cs typeface="Yu Gothic"/>
              </a:rPr>
              <a:t>AZ-c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938528" y="2979206"/>
            <a:ext cx="1121603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3398459" y="2311694"/>
            <a:ext cx="0" cy="329184"/>
          </a:xfrm>
          <a:prstGeom prst="line">
            <a:avLst/>
          </a:prstGeom>
          <a:ln w="15875">
            <a:prstDash val="dash"/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3736787" y="2979206"/>
            <a:ext cx="2919862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6994977" y="3317534"/>
            <a:ext cx="0" cy="45720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H="1">
            <a:off x="5196718" y="3774734"/>
            <a:ext cx="1798259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5196718" y="3774734"/>
            <a:ext cx="0" cy="109728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6994977" y="3317534"/>
            <a:ext cx="0" cy="45720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6994977" y="3774734"/>
            <a:ext cx="1798259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8793236" y="3774734"/>
            <a:ext cx="0" cy="109728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H="1">
            <a:off x="4250314" y="4222790"/>
            <a:ext cx="608076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4250314" y="4222790"/>
            <a:ext cx="0" cy="100584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4250314" y="5228630"/>
            <a:ext cx="608076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8793236" y="4561118"/>
            <a:ext cx="0" cy="4572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8793236" y="4606838"/>
            <a:ext cx="956691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9749927" y="4606838"/>
            <a:ext cx="0" cy="621792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H="1">
            <a:off x="9131564" y="5228630"/>
            <a:ext cx="618363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5535046" y="5228630"/>
            <a:ext cx="2919862" cy="0"/>
          </a:xfrm>
          <a:prstGeom prst="line">
            <a:avLst/>
          </a:prstGeom>
          <a:ln w="19050">
            <a:prstDash val="dash"/>
            <a:solidFill>
              <a:srgbClr val="6C7372"/>
            </a:solidFill>
            <a:tailEnd type="triangle" w="med" len="med"/>
            <a:head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9131564" y="4222790"/>
            <a:ext cx="819531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V="1">
            <a:off x="9951095" y="2979206"/>
            <a:ext cx="0" cy="1243584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9951095" y="2979206"/>
            <a:ext cx="302072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10042535" y="5228630"/>
            <a:ext cx="210632" cy="0"/>
          </a:xfrm>
          <a:prstGeom prst="line">
            <a:avLst/>
          </a:prstGeom>
          <a:ln w="15875">
            <a:prstDash val="dash"/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4" name="Picture 33" descr="us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6736" y="2695742"/>
            <a:ext cx="566928" cy="566928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1091565" y="3308390"/>
            <a:ext cx="101727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社内ユーザー</a:t>
            </a:r>
          </a:p>
        </p:txBody>
      </p:sp>
      <p:pic>
        <p:nvPicPr>
          <p:cNvPr id="36" name="Picture 35" descr="route5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14995" y="1689902"/>
            <a:ext cx="566928" cy="566928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3018411" y="2302550"/>
            <a:ext cx="760095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Route 53</a:t>
            </a:r>
          </a:p>
        </p:txBody>
      </p:sp>
      <p:pic>
        <p:nvPicPr>
          <p:cNvPr id="38" name="Picture 37" descr="cloudfro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14995" y="2695742"/>
            <a:ext cx="566928" cy="566928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2930972" y="3308390"/>
            <a:ext cx="934974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CloudFront</a:t>
            </a:r>
          </a:p>
        </p:txBody>
      </p:sp>
      <p:pic>
        <p:nvPicPr>
          <p:cNvPr id="40" name="Picture 39" descr="al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11513" y="2695742"/>
            <a:ext cx="566928" cy="566928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6794952" y="3308390"/>
            <a:ext cx="40005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ALB</a:t>
            </a:r>
          </a:p>
        </p:txBody>
      </p:sp>
      <p:pic>
        <p:nvPicPr>
          <p:cNvPr id="42" name="Picture 41" descr="farga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13254" y="3939326"/>
            <a:ext cx="566928" cy="566928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4852675" y="4551974"/>
            <a:ext cx="688086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Fargate</a:t>
            </a:r>
          </a:p>
        </p:txBody>
      </p:sp>
      <p:pic>
        <p:nvPicPr>
          <p:cNvPr id="44" name="Picture 43" descr="farga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09772" y="3939326"/>
            <a:ext cx="566928" cy="566928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8449193" y="4551974"/>
            <a:ext cx="688086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Fargate</a:t>
            </a:r>
          </a:p>
        </p:txBody>
      </p:sp>
      <p:pic>
        <p:nvPicPr>
          <p:cNvPr id="46" name="Picture 45" descr="rd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13254" y="4945166"/>
            <a:ext cx="566928" cy="566928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4616074" y="5557814"/>
            <a:ext cx="1161288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RDS (primary)</a:t>
            </a:r>
          </a:p>
        </p:txBody>
      </p:sp>
      <p:pic>
        <p:nvPicPr>
          <p:cNvPr id="48" name="Picture 47" descr="rd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509772" y="4945166"/>
            <a:ext cx="566928" cy="566928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8202305" y="5557814"/>
            <a:ext cx="1181862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RDS (standby)</a:t>
            </a:r>
          </a:p>
        </p:txBody>
      </p:sp>
      <p:pic>
        <p:nvPicPr>
          <p:cNvPr id="50" name="Picture 49" descr="s3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308031" y="2695742"/>
            <a:ext cx="566928" cy="566928"/>
          </a:xfrm>
          <a:prstGeom prst="rect">
            <a:avLst/>
          </a:prstGeom>
        </p:spPr>
      </p:pic>
      <p:sp>
        <p:nvSpPr>
          <p:cNvPr id="51" name="TextBox 50"/>
          <p:cNvSpPr txBox="1"/>
          <p:nvPr/>
        </p:nvSpPr>
        <p:spPr>
          <a:xfrm>
            <a:off x="10129151" y="3308390"/>
            <a:ext cx="924687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Amazon S3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082860" y="3564422"/>
            <a:ext cx="1017270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成果物/静的配信</a:t>
            </a:r>
          </a:p>
        </p:txBody>
      </p:sp>
      <p:pic>
        <p:nvPicPr>
          <p:cNvPr id="53" name="Picture 52" descr="cloudwatch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308031" y="4945166"/>
            <a:ext cx="566928" cy="566928"/>
          </a:xfrm>
          <a:prstGeom prst="rect">
            <a:avLst/>
          </a:prstGeom>
        </p:spPr>
      </p:pic>
      <p:sp>
        <p:nvSpPr>
          <p:cNvPr id="54" name="TextBox 53"/>
          <p:cNvSpPr txBox="1"/>
          <p:nvPr/>
        </p:nvSpPr>
        <p:spPr>
          <a:xfrm>
            <a:off x="10093147" y="5557814"/>
            <a:ext cx="996696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CloudWatch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237165" y="5813846"/>
            <a:ext cx="708660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監視・ログ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438339" y="2523149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名前解決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940114" y="2742605"/>
            <a:ext cx="51320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HTTPS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825813" y="4992029"/>
            <a:ext cx="33832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同期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720209" y="3519845"/>
            <a:ext cx="461772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成果物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405872" y="6382512"/>
            <a:ext cx="58521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21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1009376" y="6391656"/>
            <a:ext cx="53035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/ 23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Fluentアイコン構成図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SSO・監査・バックアップを含む業務システム構成を表現する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3660038" y="2652674"/>
            <a:ext cx="7714411" cy="3063239"/>
          </a:xfrm>
          <a:prstGeom prst="rect">
            <a:avLst/>
          </a:prstGeom>
          <a:noFill/>
          <a:ln w="15875">
            <a:solidFill>
              <a:srgbClr val="6C73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769766" y="2707538"/>
            <a:ext cx="108127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C7372"/>
                </a:solidFill>
                <a:latin typeface="Yu Gothic"/>
                <a:ea typeface="Yu Gothic"/>
                <a:cs typeface="Yu Gothic"/>
              </a:rPr>
              <a:t>データセンター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938528" y="3484778"/>
            <a:ext cx="2320442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935626" y="3484778"/>
            <a:ext cx="2320442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7594396" y="2268626"/>
            <a:ext cx="0" cy="877824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7932724" y="3484778"/>
            <a:ext cx="2320443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594396" y="3823106"/>
            <a:ext cx="0" cy="45720"/>
          </a:xfrm>
          <a:prstGeom prst="line">
            <a:avLst/>
          </a:prstGeom>
          <a:ln w="15875">
            <a:prstDash val="dash"/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H="1">
            <a:off x="6095847" y="3868826"/>
            <a:ext cx="1498549" cy="0"/>
          </a:xfrm>
          <a:prstGeom prst="line">
            <a:avLst/>
          </a:prstGeom>
          <a:ln w="15875">
            <a:prstDash val="dash"/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6095847" y="3868826"/>
            <a:ext cx="0" cy="859536"/>
          </a:xfrm>
          <a:prstGeom prst="line">
            <a:avLst/>
          </a:prstGeom>
          <a:ln w="15875">
            <a:prstDash val="dash"/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6095847" y="4728362"/>
            <a:ext cx="1160221" cy="0"/>
          </a:xfrm>
          <a:prstGeom prst="line">
            <a:avLst/>
          </a:prstGeom>
          <a:ln w="15875">
            <a:prstDash val="dash"/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10929823" y="3484778"/>
            <a:ext cx="554355" cy="0"/>
          </a:xfrm>
          <a:prstGeom prst="line">
            <a:avLst/>
          </a:prstGeom>
          <a:ln w="15875">
            <a:prstDash val="dash"/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11484178" y="3484778"/>
            <a:ext cx="0" cy="1243584"/>
          </a:xfrm>
          <a:prstGeom prst="line">
            <a:avLst/>
          </a:prstGeom>
          <a:ln w="15875">
            <a:prstDash val="dash"/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H="1">
            <a:off x="10929823" y="4728362"/>
            <a:ext cx="554355" cy="0"/>
          </a:xfrm>
          <a:prstGeom prst="line">
            <a:avLst/>
          </a:prstGeom>
          <a:ln w="15875">
            <a:prstDash val="dash"/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8" name="Picture 17" descr="desk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6736" y="3201314"/>
            <a:ext cx="566928" cy="566928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168717" y="3813962"/>
            <a:ext cx="862965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利用者端末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07592" y="4069994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社内LAN</a:t>
            </a:r>
          </a:p>
        </p:txBody>
      </p:sp>
      <p:pic>
        <p:nvPicPr>
          <p:cNvPr id="21" name="Picture 20" descr="ke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0932" y="1646834"/>
            <a:ext cx="566928" cy="566928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7306932" y="2259482"/>
            <a:ext cx="574929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ID基盤</a:t>
            </a:r>
          </a:p>
        </p:txBody>
      </p:sp>
      <p:pic>
        <p:nvPicPr>
          <p:cNvPr id="23" name="Picture 22" descr="shie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13834" y="3201314"/>
            <a:ext cx="566928" cy="566928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3934358" y="3813962"/>
            <a:ext cx="132588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ファイアウォール</a:t>
            </a:r>
          </a:p>
        </p:txBody>
      </p:sp>
      <p:pic>
        <p:nvPicPr>
          <p:cNvPr id="25" name="Picture 24" descr="serv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0932" y="3201314"/>
            <a:ext cx="566928" cy="566928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6998322" y="3813962"/>
            <a:ext cx="1192149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業務Webサーバ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40066" y="4069994"/>
            <a:ext cx="708660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アプリ本体</a:t>
            </a:r>
          </a:p>
        </p:txBody>
      </p:sp>
      <p:pic>
        <p:nvPicPr>
          <p:cNvPr id="28" name="Picture 27" descr="databas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308031" y="3201314"/>
            <a:ext cx="566928" cy="566928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10196017" y="3813962"/>
            <a:ext cx="790956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DBサーバ</a:t>
            </a:r>
          </a:p>
        </p:txBody>
      </p:sp>
      <p:pic>
        <p:nvPicPr>
          <p:cNvPr id="30" name="Picture 29" descr="monitor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10932" y="4444898"/>
            <a:ext cx="566928" cy="566928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7240066" y="5057546"/>
            <a:ext cx="70866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ログ収集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63510" y="5313578"/>
            <a:ext cx="461772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監査用</a:t>
            </a:r>
          </a:p>
        </p:txBody>
      </p:sp>
      <p:pic>
        <p:nvPicPr>
          <p:cNvPr id="33" name="Picture 32" descr="stor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308031" y="4444898"/>
            <a:ext cx="566928" cy="566928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10082860" y="5057546"/>
            <a:ext cx="101727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バックアップ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298887" y="5313578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日次保管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842145" y="3248177"/>
            <a:ext cx="51320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HTTPS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425232" y="2754401"/>
            <a:ext cx="33832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認証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923782" y="3248177"/>
            <a:ext cx="33832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SQL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552514" y="3632225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監査ログ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315014" y="4025417"/>
            <a:ext cx="33832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日次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02920" y="6053328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同梱のMicrosoft Fluent UIアイコンを使用。ライセンスはslidegen/assets/CREDITS.mdを参照。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405872" y="6382512"/>
            <a:ext cx="58521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009376" y="6391656"/>
            <a:ext cx="53035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/ 23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イベント駆動構成図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受付と処理を分離し、保存・監視へ非同期分岐する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2906191" y="1589227"/>
            <a:ext cx="8437397" cy="4471416"/>
          </a:xfrm>
          <a:prstGeom prst="rect">
            <a:avLst/>
          </a:prstGeom>
          <a:noFill/>
          <a:ln w="15875">
            <a:solidFill>
              <a:srgbClr val="6C73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015919" y="1644091"/>
            <a:ext cx="85496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C7372"/>
                </a:solidFill>
                <a:latin typeface="Yu Gothic"/>
                <a:ea typeface="Yu Gothic"/>
                <a:cs typeface="Yu Gothic"/>
              </a:rPr>
              <a:t>AWS Cloud</a:t>
            </a:r>
          </a:p>
        </p:txBody>
      </p:sp>
      <p:sp>
        <p:nvSpPr>
          <p:cNvPr id="7" name="Rectangle 6"/>
          <p:cNvSpPr/>
          <p:nvPr/>
        </p:nvSpPr>
        <p:spPr>
          <a:xfrm>
            <a:off x="3180511" y="2832811"/>
            <a:ext cx="6023267" cy="3063239"/>
          </a:xfrm>
          <a:prstGeom prst="rect">
            <a:avLst/>
          </a:prstGeom>
          <a:noFill/>
          <a:ln w="1587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90239" y="2887675"/>
            <a:ext cx="186309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Asynchronous Processing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938528" y="3664915"/>
            <a:ext cx="1571167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4186351" y="3664915"/>
            <a:ext cx="1571168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6434175" y="3664915"/>
            <a:ext cx="1571168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8681999" y="3546043"/>
            <a:ext cx="785584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9467583" y="2421331"/>
            <a:ext cx="0" cy="1124712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9467583" y="2421331"/>
            <a:ext cx="785584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8681999" y="3783787"/>
            <a:ext cx="785584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9467583" y="3783787"/>
            <a:ext cx="0" cy="1124712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9467583" y="4908499"/>
            <a:ext cx="785584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8343671" y="4003243"/>
            <a:ext cx="0" cy="566928"/>
          </a:xfrm>
          <a:prstGeom prst="line">
            <a:avLst/>
          </a:prstGeom>
          <a:ln w="15875">
            <a:prstDash val="dash"/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9" name="Picture 18" descr="us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6736" y="3381451"/>
            <a:ext cx="566928" cy="56692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091565" y="3994099"/>
            <a:ext cx="101727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業務システム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22426" y="4250131"/>
            <a:ext cx="95554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イベント送信元</a:t>
            </a:r>
          </a:p>
        </p:txBody>
      </p:sp>
      <p:pic>
        <p:nvPicPr>
          <p:cNvPr id="22" name="Picture 21" descr="glob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64559" y="3381451"/>
            <a:ext cx="566928" cy="566928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3519411" y="3994099"/>
            <a:ext cx="657225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受付API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93693" y="4250131"/>
            <a:ext cx="708660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検証・受付</a:t>
            </a:r>
          </a:p>
        </p:txBody>
      </p:sp>
      <p:pic>
        <p:nvPicPr>
          <p:cNvPr id="25" name="Picture 24" descr="sq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12383" y="3381451"/>
            <a:ext cx="566928" cy="566928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5571782" y="3994099"/>
            <a:ext cx="1048131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Amazon SQS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18073" y="4250131"/>
            <a:ext cx="95554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処理待ちキュー</a:t>
            </a:r>
          </a:p>
        </p:txBody>
      </p:sp>
      <p:pic>
        <p:nvPicPr>
          <p:cNvPr id="28" name="Picture 27" descr="serv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60207" y="3381451"/>
            <a:ext cx="566928" cy="566928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7757883" y="3994099"/>
            <a:ext cx="1171575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非同期ワーカー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989341" y="4250131"/>
            <a:ext cx="708660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変換・集計</a:t>
            </a:r>
          </a:p>
        </p:txBody>
      </p:sp>
      <p:pic>
        <p:nvPicPr>
          <p:cNvPr id="31" name="Picture 30" descr="dynamod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308031" y="2137867"/>
            <a:ext cx="566928" cy="566928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10113721" y="2750515"/>
            <a:ext cx="955547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DynamoDB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298887" y="3006547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処理状態</a:t>
            </a:r>
          </a:p>
        </p:txBody>
      </p:sp>
      <p:pic>
        <p:nvPicPr>
          <p:cNvPr id="34" name="Picture 33" descr="s3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308031" y="4625035"/>
            <a:ext cx="566928" cy="566928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10129151" y="5237683"/>
            <a:ext cx="924687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Amazon S3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360609" y="5493715"/>
            <a:ext cx="461772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成果物</a:t>
            </a:r>
          </a:p>
        </p:txBody>
      </p:sp>
      <p:pic>
        <p:nvPicPr>
          <p:cNvPr id="37" name="Picture 36" descr="cloudwatch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060207" y="4625035"/>
            <a:ext cx="566928" cy="566928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7845323" y="5237683"/>
            <a:ext cx="996696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CloudWatch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989341" y="5493715"/>
            <a:ext cx="708660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監視・ログ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467508" y="3428314"/>
            <a:ext cx="51320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HTTPS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802771" y="3428314"/>
            <a:ext cx="33832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受付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988873" y="3428314"/>
            <a:ext cx="461772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非同期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174975" y="2902534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状態更新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236697" y="4264990"/>
            <a:ext cx="461772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成果物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405872" y="6382512"/>
            <a:ext cx="58521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23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1009376" y="6391656"/>
            <a:ext cx="53035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/ 23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